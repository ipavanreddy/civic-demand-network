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JanVaani turns multilingual citizen requests into ranked, evidence-backed infrastructure recommendations, with a human making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persona: a parent in a village in Gaya whose children cannot reach school every monsoon.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Timings measured on 2026-09-30 against real Google APIs from the Cloud Run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separation: observed data -&gt; AI interpretation -&gt; recommendation. Every AI record stores model_name, model_version, prompt_version.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JanVaani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9D8EE"/>
                </a:solidFill>
                <a:latin typeface="Calibri"/>
              </a:rPr>
              <a:t>जनवाणी · జనవాణి · the people's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Every citizen's request, in any language, becomes evidence for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where India builds its next bridge, pipeline or bus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8EE"/>
                </a:solidFill>
                <a:latin typeface="Calibri"/>
              </a:rPr>
              <a:t>Build with AI (Google) · Track 1 · Gemini on Vertex AI · Speech · Translation · Maps · BigQuery ·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PROBLEM-SOLUTION FIT ·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Citizens ask. Planners can't hear them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20210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02103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Requests arrive by letter, gram sabha, grievance portal, WhatsApp, and are never added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3703" y="1874520"/>
            <a:ext cx="220210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Multilingual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703" y="2331720"/>
            <a:ext cx="2202103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22 scheduled languages; many citizens speak rather than type. English-only forms exclude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3736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874520"/>
            <a:ext cx="220210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Misaligned spending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331720"/>
            <a:ext cx="2202103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Budgets follow the loudest voice or last year's plan, not measured unmet need.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5191" y="173736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8071" y="1874520"/>
            <a:ext cx="220210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No feedback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071" y="2331720"/>
            <a:ext cx="2202103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Citizens never hear back, so they stop asking; demand stays invisible.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4577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Our answer: one pipeline from a parent's voice note in Gaya to a planning officer's decision, and back to the parent, in her language.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Citizen (voice / text / chat) → Gemini understanding → location → demand cluster → data fusion → Priority Score → evidence brief → human decision → status update.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One continuous journey, live on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Speak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Hindi voice note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Cloud STT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57613.5714285714" y="2880360"/>
            <a:ext cx="18860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66213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7653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653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Gemini JSON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category, urgency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75187.1428571427" y="2880360"/>
            <a:ext cx="18860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83787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5227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5227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LGD code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+ H3 cell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92760.714285715" y="2880360"/>
            <a:ext cx="18860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01360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2800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2800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Gemini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embeddings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10334.285714285" y="2880360"/>
            <a:ext cx="18860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18934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0374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Fuse &amp;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0374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Demographics, gap,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investment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27907.857142856" y="2880360"/>
            <a:ext cx="18860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36507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7947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7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Gemini, every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number checked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45481.428571427" y="2880360"/>
            <a:ext cx="18860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54081" y="2011680"/>
            <a:ext cx="1388973" cy="17373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5521" y="2194560"/>
            <a:ext cx="120609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45521" y="2743200"/>
            <a:ext cx="120609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Officer approves;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citizen notified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148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Voice to confirmation in ~6 s </a:t>
            </a:r>
            <a:r>
              <a:rPr sz="1600">
                <a:solidFill>
                  <a:srgbClr val="5B6370"/>
                </a:solidFill>
                <a:latin typeface="Calibri"/>
              </a:rPr>
              <a:t>(STT + Translation + Gemini + TTS)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Joins a cluster of 147 requests / 133 unique citizens </a:t>
            </a:r>
            <a:r>
              <a:rPr sz="1600">
                <a:solidFill>
                  <a:srgbClr val="5B6370"/>
                </a:solidFill>
                <a:latin typeface="Calibri"/>
              </a:rPr>
              <a:t>(sample data)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Evidence brief in ~5 s </a:t>
            </a:r>
            <a:r>
              <a:rPr sz="1600">
                <a:solidFill>
                  <a:srgbClr val="5B6370"/>
                </a:solidFill>
                <a:latin typeface="Calibri"/>
              </a:rPr>
              <a:t>with an automated number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Citizen app </a:t>
            </a:r>
            <a:r>
              <a:rPr sz="1600">
                <a:solidFill>
                  <a:srgbClr val="5B6370"/>
                </a:solidFill>
                <a:latin typeface="Calibri"/>
              </a:rPr>
              <a:t>EN / हिन्दी / తెలుగు · text, voice, chat bot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Officer dashboard </a:t>
            </a:r>
            <a:r>
              <a:rPr sz="1600">
                <a:solidFill>
                  <a:srgbClr val="5B6370"/>
                </a:solidFill>
                <a:latin typeface="Calibri"/>
              </a:rPr>
              <a:t>map, ranking, policy lens, briefs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Status closes the loop </a:t>
            </a:r>
            <a:r>
              <a:rPr sz="1600">
                <a:solidFill>
                  <a:srgbClr val="5B6370"/>
                </a:solidFill>
                <a:latin typeface="Calibri"/>
              </a:rPr>
              <a:t>अनुशंसित (Recommended) in Hindi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AI / TECHNICAL EXECUTION ·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Google AI does the understanding. Rules keep it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931920" cy="603504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657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Gemini 2.5 Flash (Vertex 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7071055" cy="60350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6705295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Schema-validated extraction: fixed taxonomy, urgency, vulnerable groups, confidence, missing info, one clarification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40864"/>
            <a:ext cx="3931920" cy="603504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40864"/>
            <a:ext cx="3657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Gemini embeddings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40864"/>
            <a:ext cx="7071055" cy="60350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40864"/>
            <a:ext cx="6705295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Semantic match of a new request to nearby demand 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35808"/>
            <a:ext cx="3931920" cy="603504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3657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Speech-to-Text · Translation · 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35808"/>
            <a:ext cx="7071055" cy="60350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035808"/>
            <a:ext cx="6705295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Hindi / Telugu / English voice in, original kept, spoken confirmation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30752"/>
            <a:ext cx="3931920" cy="603504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30752"/>
            <a:ext cx="3657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Gemini evidence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30752"/>
            <a:ext cx="7071055" cy="60350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730752"/>
            <a:ext cx="6705295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Written only from structured data; every number verified against the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3931920" cy="603504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25696"/>
            <a:ext cx="3657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Deterministic Priority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425696"/>
            <a:ext cx="7071055" cy="60350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425696"/>
            <a:ext cx="6705295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Transparent formula; AI never sets the rank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3931920" cy="603504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20640"/>
            <a:ext cx="3657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Maps Geocoding + JS API · BigQuery · Cloud 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120640"/>
            <a:ext cx="7071055" cy="60350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5120640"/>
            <a:ext cx="6705295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Location fallback, hotspot map, analytics sink, voice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0"/>
                </a:solidFill>
                <a:latin typeface="Calibri"/>
              </a:rPr>
              <a:t>Live eval (gemini-2.5-flash, extract_v1): 100% category accuracy on 39 EN/HI/TE requests · 0 invented numbers · 0 invented places.  Template-labelled sample, a sanity check, not a field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Built to be trusted by a district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15258" cy="2011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No invented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14949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Numbers the citizen did not say are removed.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Brief numbers are checked against the input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45920"/>
            <a:ext cx="3515258" cy="2011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178308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Provenance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240280"/>
            <a:ext cx="314949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model_name / model_version / prompt_version on every AI record.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Source + year on every data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645920"/>
            <a:ext cx="3515258" cy="2011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178308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Human in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676" y="2240280"/>
            <a:ext cx="314949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Approve for field verification / defer / reject.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Weight changes are logged for audit.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3515258" cy="2011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Honest about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314949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Synthetic sample data is labelled in files, API and UI.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Badge shows live / demo / fallback per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3886200"/>
            <a:ext cx="3515258" cy="2011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1098" y="402336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Fairness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098" y="4480560"/>
            <a:ext cx="314949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Unique citizens per 10k people: repeat messages and big villages don't dominate.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Vulnerability weight (SC/ST, slum share, literacy).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3886200"/>
            <a:ext cx="3515258" cy="2011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0676" y="402336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Graceful degradation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676" y="4480560"/>
            <a:ext cx="314949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Every Google service has a labelled fallback,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so the journey never breaks during an outage or quota spike.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PROBLEM-SOLUTION FIT · OFFICER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A Priority Score officers can explain in a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45775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Score = 100 × (Demand·30 + Infra gap·30 + Vulnerability·20 + Trend·10 − Investment coverage·10) / 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2072579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7068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706819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recency-weighted unique citizens per 10k people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99" y="2788920"/>
            <a:ext cx="2072579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6979" y="2926080"/>
            <a:ext cx="17068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Infra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6979" y="3383280"/>
            <a:ext cx="1706819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category-specific indicator (e.g. tap-water coverage)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9558" y="2788920"/>
            <a:ext cx="2072579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2438" y="2926080"/>
            <a:ext cx="17068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Vulnerability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3383280"/>
            <a:ext cx="1706819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SC/ST or slum share, literacy, aspirational district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017" y="2788920"/>
            <a:ext cx="2072579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7897" y="2926080"/>
            <a:ext cx="17068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3383280"/>
            <a:ext cx="1706819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last 30 days vs the 30 before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0476" y="2788920"/>
            <a:ext cx="2072579" cy="1600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356" y="2926080"/>
            <a:ext cx="17068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7A1E"/>
                </a:solidFill>
                <a:latin typeface="Calibri"/>
              </a:rPr>
              <a:t>− Investment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356" y="3383280"/>
            <a:ext cx="1706819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population already covered by sanctioned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110944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Policy lens: </a:t>
            </a:r>
            <a:r>
              <a:rPr sz="1600">
                <a:solidFill>
                  <a:srgbClr val="5B6370"/>
                </a:solidFill>
                <a:latin typeface="Calibri"/>
              </a:rPr>
              <a:t>officers move the weights, the ranking updates instantly, the change is logged (and sent to BigQuery).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Example: </a:t>
            </a:r>
            <a:r>
              <a:rPr sz="1600">
                <a:solidFill>
                  <a:srgbClr val="5B6370"/>
                </a:solidFill>
                <a:latin typeface="Calibri"/>
              </a:rPr>
              <a:t>Sonbarsa bridge cluster, Gaya: 85.6 / 100, rank 1 of 7 in Bihar (synthetic sample data).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87A1E"/>
                </a:solidFill>
                <a:latin typeface="Calibri"/>
              </a:rPr>
              <a:t>•  </a:t>
            </a:r>
            <a:r>
              <a:rPr sz="1600" b="1">
                <a:solidFill>
                  <a:srgbClr val="1F232B"/>
                </a:solidFill>
                <a:latin typeface="Calibri"/>
              </a:rPr>
              <a:t>Missing data is visible: </a:t>
            </a:r>
            <a:r>
              <a:rPr sz="1600">
                <a:solidFill>
                  <a:srgbClr val="5B6370"/>
                </a:solidFill>
                <a:latin typeface="Calibri"/>
              </a:rPr>
              <a:t>a missing gap indicator scores a neutral 0.5 and is flagged in the brief.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DEPTH &amp; REACH ACROSS INDIA ·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Depth and reach: languages, channels,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15258" cy="2743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3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149498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English, हिन्दी, తెలుగు in UI, speech, translation and confirmations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Adding a language = BCP-47 code + UI 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45920"/>
            <a:ext cx="3515258" cy="2743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178308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3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240280"/>
            <a:ext cx="3149498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Web text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Web voice notes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Chat bot (Telegram webhook)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Roadmap: WhatsApp, IVR, assisted 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645920"/>
            <a:ext cx="3515258" cy="2743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1783080"/>
            <a:ext cx="314949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3 states, 3 data shapes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676" y="2240280"/>
            <a:ext cx="3149498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Bihar · villages · bridges &amp; roads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Andhra Pradesh · habitations · drinking water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Maharashtra · Pune wards · public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32B"/>
                </a:solidFill>
                <a:latin typeface="Calibri"/>
              </a:rPr>
              <a:t>Rural and urban, three language families, three sectors: one platform, one canonical schema, the same AI services and APIs.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32B"/>
                </a:solidFill>
                <a:latin typeface="Calibri"/>
              </a:rPr>
              <a:t>Reach target: every Gram Panchayat (≈2.5 lakh) and urban ward.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INTEROPERABILITY · STATE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A new state is configuration, not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Bihar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Hindi-transliterated CSV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(yojana suchi)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2304288"/>
            <a:ext cx="73152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79" y="20116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1D4E89"/>
                </a:solidFill>
                <a:latin typeface="Calibri"/>
              </a:rPr>
              <a:t>BR.json adapter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2304288"/>
            <a:ext cx="731520" cy="941832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0632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Andhra Pradesh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Nested JSON,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SC + ST columns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0440" y="3630168"/>
            <a:ext cx="73152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97679" y="333756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1D4E89"/>
                </a:solidFill>
                <a:latin typeface="Calibri"/>
              </a:rPr>
              <a:t>AP.json adapter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172200" y="3246120"/>
            <a:ext cx="731520" cy="384048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38912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Maharashtra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Ward CSV,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B"/>
                </a:solidFill>
                <a:latin typeface="Calibri"/>
              </a:rPr>
              <a:t>slum share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0440" y="4956048"/>
            <a:ext cx="73152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97679" y="466344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1D4E89"/>
                </a:solidFill>
                <a:latin typeface="Calibri"/>
              </a:rPr>
              <a:t>MH.json adapter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172200" y="3246120"/>
            <a:ext cx="731520" cy="1709928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49440" y="2194560"/>
            <a:ext cx="2194560" cy="21031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286000"/>
            <a:ext cx="2011680" cy="1920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Canonical schema</a:t>
            </a: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admin unit · indicator · investment · request · cluster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89720" y="3246120"/>
            <a:ext cx="54864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2194560"/>
            <a:ext cx="1828800" cy="21031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233172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Shared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788920"/>
            <a:ext cx="1463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AI services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Scoring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Briefs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32B"/>
                </a:solidFill>
                <a:latin typeface="Calibri"/>
              </a:rPr>
              <a:t>APIs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0"/>
                </a:solidFill>
                <a:latin typeface="Calibri"/>
              </a:rPr>
              <a:t>Onboarding (PRD §40): register state → languages → LGD codes → data sources → field mapping → validate (tests check every adapter) → enable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DEPLOYABILITY &amp; SCALABILITY ·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Deployable today, scalable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Frontends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8991295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Next.js citizen app + officer dashboard on Vercel (one project per app)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487168"/>
            <a:ext cx="8991295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487168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FastAPI container on Cloud Run, asia-south1 · service account · keys in Secret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28416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28416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328416"/>
            <a:ext cx="8991295" cy="7315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328416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Gemini 2.5 Flash + embeddings on Vertex AI · Speech-to-Text · Translation · Text-to-Speech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9664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9664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4169664"/>
            <a:ext cx="8991295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4169664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BigQuery analytics sink · Cloud Storage voice notes · Maps Geocoding / JS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87A1E"/>
                </a:solidFill>
                <a:latin typeface="Calibri"/>
              </a:rPr>
              <a:t>•  </a:t>
            </a:r>
            <a:r>
              <a:rPr sz="1500" b="1">
                <a:solidFill>
                  <a:srgbClr val="1F232B"/>
                </a:solidFill>
                <a:latin typeface="Calibri"/>
              </a:rPr>
              <a:t>One command </a:t>
            </a:r>
            <a:r>
              <a:rPr sz="1500">
                <a:solidFill>
                  <a:srgbClr val="5B6370"/>
                </a:solidFill>
                <a:latin typeface="Calibri"/>
              </a:rPr>
              <a:t>deploy.sh api · Cloud Build image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7A1E"/>
                </a:solidFill>
                <a:latin typeface="Calibri"/>
              </a:rPr>
              <a:t>•  </a:t>
            </a:r>
            <a:r>
              <a:rPr sz="1500" b="1">
                <a:solidFill>
                  <a:srgbClr val="1F232B"/>
                </a:solidFill>
                <a:latin typeface="Calibri"/>
              </a:rPr>
              <a:t>Config, not forks </a:t>
            </a:r>
            <a:r>
              <a:rPr sz="1500">
                <a:solidFill>
                  <a:srgbClr val="5B6370"/>
                </a:solidFill>
                <a:latin typeface="Calibri"/>
              </a:rPr>
              <a:t>states, models, weights, CORS from 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87A1E"/>
                </a:solidFill>
                <a:latin typeface="Calibri"/>
              </a:rPr>
              <a:t>•  </a:t>
            </a:r>
            <a:r>
              <a:rPr sz="1500" b="1">
                <a:solidFill>
                  <a:srgbClr val="1F232B"/>
                </a:solidFill>
                <a:latin typeface="Calibri"/>
              </a:rPr>
              <a:t>Scale path </a:t>
            </a:r>
            <a:r>
              <a:rPr sz="1500">
                <a:solidFill>
                  <a:srgbClr val="5B6370"/>
                </a:solidFill>
                <a:latin typeface="Calibri"/>
              </a:rPr>
              <a:t>BigQuery for millions of requests, Cloud Run autoscaling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7A1E"/>
                </a:solidFill>
                <a:latin typeface="Calibri"/>
              </a:rPr>
              <a:t>•  </a:t>
            </a:r>
            <a:r>
              <a:rPr sz="1500" b="1">
                <a:solidFill>
                  <a:srgbClr val="1F232B"/>
                </a:solidFill>
                <a:latin typeface="Calibri"/>
              </a:rPr>
              <a:t>Next </a:t>
            </a:r>
            <a:r>
              <a:rPr sz="1500">
                <a:solidFill>
                  <a:srgbClr val="5B6370"/>
                </a:solidFill>
                <a:latin typeface="Calibri"/>
              </a:rPr>
              <a:t>Firestore serving store, Firebase auth, RBAC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IMPACT POTENTIAL ·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Impact: spending follows measured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533573" cy="16459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16781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16781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3 states · 3 languages · 3 channels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2213.75" y="2560320"/>
            <a:ext cx="28004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2253" y="1737360"/>
            <a:ext cx="2533573" cy="16459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5133" y="1874520"/>
            <a:ext cx="216781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District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5133" y="2331720"/>
            <a:ext cx="216781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1 aspirational district · WhatsApp · CSC-assisted capture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55827.5" y="2560320"/>
            <a:ext cx="28004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55867" y="1737360"/>
            <a:ext cx="2533573" cy="16459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1874520"/>
            <a:ext cx="216781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2331720"/>
            <a:ext cx="216781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Grievance-system integration · more languages · IVR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09441.25" y="2560320"/>
            <a:ext cx="280040.0" cy="0"/>
          </a:xfrm>
          <a:prstGeom prst="line">
            <a:avLst/>
          </a:prstGeom>
          <a:ln w="25400">
            <a:solidFill>
              <a:srgbClr val="E87A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09481" y="1737360"/>
            <a:ext cx="2533573" cy="16459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361" y="1874520"/>
            <a:ext cx="2167813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4E89"/>
                </a:solidFill>
                <a:latin typeface="Calibri"/>
              </a:rPr>
              <a:t>National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2331720"/>
            <a:ext cx="216781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2B"/>
                </a:solidFill>
                <a:latin typeface="Calibri"/>
              </a:rPr>
              <a:t>Shared data contracts · de-identified exchange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110944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•  </a:t>
            </a:r>
            <a:r>
              <a:rPr sz="1700" b="1">
                <a:solidFill>
                  <a:srgbClr val="1F232B"/>
                </a:solidFill>
                <a:latin typeface="Calibri"/>
              </a:rPr>
              <a:t>Citizens: </a:t>
            </a:r>
            <a:r>
              <a:rPr sz="1700">
                <a:solidFill>
                  <a:srgbClr val="5B6370"/>
                </a:solidFill>
                <a:latin typeface="Calibri"/>
              </a:rPr>
              <a:t>a voice in their own language, and a status update instead of silence.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•  </a:t>
            </a:r>
            <a:r>
              <a:rPr sz="1700" b="1">
                <a:solidFill>
                  <a:srgbClr val="1F232B"/>
                </a:solidFill>
                <a:latin typeface="Calibri"/>
              </a:rPr>
              <a:t>Officers: </a:t>
            </a:r>
            <a:r>
              <a:rPr sz="1700">
                <a:solidFill>
                  <a:srgbClr val="5B6370"/>
                </a:solidFill>
                <a:latin typeface="Calibri"/>
              </a:rPr>
              <a:t>a defensible, auditable ranking with evidence, in minutes instead of weeks.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•  </a:t>
            </a:r>
            <a:r>
              <a:rPr sz="1700" b="1">
                <a:solidFill>
                  <a:srgbClr val="1F232B"/>
                </a:solidFill>
                <a:latin typeface="Calibri"/>
              </a:rPr>
              <a:t>Governments: </a:t>
            </a:r>
            <a:r>
              <a:rPr sz="1700">
                <a:solidFill>
                  <a:srgbClr val="5B6370"/>
                </a:solidFill>
                <a:latin typeface="Calibri"/>
              </a:rPr>
              <a:t>share of capital spending aligned with measured demand; fewer unaddressed high-priority gaps.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•  </a:t>
            </a:r>
            <a:r>
              <a:rPr sz="1700" b="1">
                <a:solidFill>
                  <a:srgbClr val="1F232B"/>
                </a:solidFill>
                <a:latin typeface="Calibri"/>
              </a:rPr>
              <a:t>Measured by: </a:t>
            </a:r>
            <a:r>
              <a:rPr sz="1700">
                <a:solidFill>
                  <a:srgbClr val="5B6370"/>
                </a:solidFill>
                <a:latin typeface="Calibri"/>
              </a:rPr>
              <a:t>requests captured, citizens receiving updates, recommendations adopted into district plans.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CROSS-BORDER / BRICS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Built for India, portable across borders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19072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Admin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LGD codes → any national registry (e.g. IBGE municipalities, OKTMO, Stats SA wards)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23744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50592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Add a BCP-47 code: Speech, Translation and Gemini already cover Portuguese, Russian, Chinese, isiZulu, Arabic…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55264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A new adapter JSON per ministry or province: no code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33088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059936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Webhook pattern fits WhatsApp, Telegram, WeChat-style bots or IVR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64608"/>
            <a:ext cx="862553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Calibri"/>
              </a:rPr>
              <a:t>Human approval, provenance and number-grounding are built into the pipeline, not bolted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89"/>
                </a:solidFill>
                <a:latin typeface="Calibri"/>
              </a:rPr>
              <a:t>Open schemas and APIs make JanVaani a candidate digital public good for any country's local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7A1E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32B"/>
                </a:solidFill>
                <a:latin typeface="Calibri"/>
              </a:rPr>
              <a:t>What is live today, and what we need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JanVaani · Build with AI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0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4F"/>
                </a:solidFill>
                <a:latin typeface="Calibri"/>
              </a:rPr>
              <a:t>Live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Gemini 2.5 Flash + embeddings on Vertex AI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Cloud Speech-to-Text, Translation, Text-to-Speech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Maps Geocoding + Maps JavaScript API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BigQuery sink · Cloud Storage voice notes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API on Cloud Run · apps on Vercel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3 states · 3 languages · text, voice, chat bot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Public repo · README · tests · live eval 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7A1E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Telegram / WhatsApp delivery (bot token, BSP)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Firebase auth + officer RBAC by geography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Real LGD, Census and JJM / PMGSY data feeds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Firestore serving store for multi-instance scale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Field pilot in one aspirational district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32B"/>
                </a:solidFill>
                <a:latin typeface="Calibri"/>
              </a:rPr>
              <a:t>Photo evidence, impact view, demand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0"/>
                </a:solidFill>
                <a:latin typeface="Calibri"/>
              </a:rPr>
              <a:t>All figures in this deck come from synthetic sample data, labelled as such in the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