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JanVaani turns multilingual citizen requests into ranked, evidence-backed infrastructure recommendations, with a human making every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persona: a parent in a village in Gaya whose children cannot reach school every monsoon.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Timings measured on 2026-09-30 against real Google APIs from the Cloud Run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separation: observed data -&gt; AI interpretation -&gt; recommendation. Every AI record stores model_name, model_version, prompt_version.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JanVaani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C9D8EE"/>
                </a:solidFill>
                <a:latin typeface="Calibri"/>
              </a:rPr>
              <a:t>जनवाणी · జనవాణి · the people's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Every citizen's request, in any language, becomes evidence for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where India builds its next bridge, pipeline or bus route.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9D8EE"/>
                </a:solidFill>
                <a:latin typeface="Calibri"/>
              </a:rPr>
              <a:t>Build with AI (Google) · Track 1 · Gemini on Vertex AI · Speech · Translation · Maps · BigQuery · Cloud 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7A1E"/>
                </a:solidFill>
                <a:latin typeface="Calibri"/>
              </a:rPr>
              <a:t>PROBLEM-SOLUTION FIT · 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32B"/>
                </a:solidFill>
                <a:latin typeface="Calibri"/>
              </a:rPr>
              <a:t>Citizens ask. Planners can't hear them at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JanVaani · Build with AI · Track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567863" cy="237744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220210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Fragmented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202103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Requests arrive by letter, gram sabha, grievance portal, WhatsApp, and are never added 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1737360"/>
            <a:ext cx="2567863" cy="237744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3703" y="1874520"/>
            <a:ext cx="220210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Multilingual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3703" y="2331720"/>
            <a:ext cx="2202103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22 scheduled languages; many citizens speak rather than type. English-only forms exclude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737360"/>
            <a:ext cx="2567863" cy="237744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874520"/>
            <a:ext cx="220210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Misaligned spending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331720"/>
            <a:ext cx="2202103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Budgets follow the loudest voice or last year's plan, not measured unmet need.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5191" y="1737360"/>
            <a:ext cx="2567863" cy="237744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8071" y="1874520"/>
            <a:ext cx="220210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No feedback 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8071" y="2331720"/>
            <a:ext cx="2202103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Citizens never hear back, so they stop asking; demand stays invisible.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80560"/>
            <a:ext cx="11094415" cy="13716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17720"/>
            <a:ext cx="10545775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32B"/>
                </a:solidFill>
                <a:latin typeface="Calibri"/>
              </a:rPr>
              <a:t>Our answer: one pipeline from a parent's voice note in Gaya to a planning officer's decision, and back to the parent, in her language.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32B"/>
                </a:solidFill>
                <a:latin typeface="Calibri"/>
              </a:rPr>
              <a:t>Citizen (voice / text / chat) → Gemini understanding → location → demand cluster → data fusion → Priority Score → evidence brief → human decision → status update.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7A1E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32B"/>
                </a:solidFill>
                <a:latin typeface="Calibri"/>
              </a:rPr>
              <a:t>One continuous journey, live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JanVaani · Build with AI · Track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1388973" cy="173736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20609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Speak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206093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Hindi voice note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Cloud STT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57613.5714285714" y="2880360"/>
            <a:ext cx="188600.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66213" y="2011680"/>
            <a:ext cx="1388973" cy="173736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7653" y="2194560"/>
            <a:ext cx="120609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7653" y="2743200"/>
            <a:ext cx="1206093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Gemini JSON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category, urgency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75187.1428571427" y="2880360"/>
            <a:ext cx="188600.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783787" y="2011680"/>
            <a:ext cx="1388973" cy="173736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5227" y="2194560"/>
            <a:ext cx="120609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5227" y="2743200"/>
            <a:ext cx="1206093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LGD code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+ H3 cell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192760.714285715" y="2880360"/>
            <a:ext cx="188600.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01360" y="2011680"/>
            <a:ext cx="1388973" cy="173736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92800" y="2194560"/>
            <a:ext cx="120609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92800" y="2743200"/>
            <a:ext cx="1206093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Gemini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embeddings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10334.285714285" y="2880360"/>
            <a:ext cx="188600.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018934" y="2011680"/>
            <a:ext cx="1388973" cy="173736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10374" y="2194560"/>
            <a:ext cx="120609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Fuse &amp;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0374" y="2743200"/>
            <a:ext cx="1206093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Demographics, gap,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investment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27907.857142856" y="2880360"/>
            <a:ext cx="188600.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36507" y="2011680"/>
            <a:ext cx="1388973" cy="173736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7947" y="2194560"/>
            <a:ext cx="120609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Brief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7947" y="2743200"/>
            <a:ext cx="1206093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Gemini, every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number checked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45481.428571427" y="2880360"/>
            <a:ext cx="188600.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254081" y="2011680"/>
            <a:ext cx="1388973" cy="173736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45521" y="2194560"/>
            <a:ext cx="120609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Decide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45521" y="2743200"/>
            <a:ext cx="1206093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Officer approves;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citizen notified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11480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E87A1E"/>
                </a:solidFill>
                <a:latin typeface="Calibri"/>
              </a:rPr>
              <a:t>•  </a:t>
            </a:r>
            <a:r>
              <a:rPr sz="1600" b="1">
                <a:solidFill>
                  <a:srgbClr val="1F232B"/>
                </a:solidFill>
                <a:latin typeface="Calibri"/>
              </a:rPr>
              <a:t>Voice to confirmation in ~6 s </a:t>
            </a:r>
            <a:r>
              <a:rPr sz="1600">
                <a:solidFill>
                  <a:srgbClr val="5B6370"/>
                </a:solidFill>
                <a:latin typeface="Calibri"/>
              </a:rPr>
              <a:t>(STT + Translation + Gemini + TTS)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E87A1E"/>
                </a:solidFill>
                <a:latin typeface="Calibri"/>
              </a:rPr>
              <a:t>•  </a:t>
            </a:r>
            <a:r>
              <a:rPr sz="1600" b="1">
                <a:solidFill>
                  <a:srgbClr val="1F232B"/>
                </a:solidFill>
                <a:latin typeface="Calibri"/>
              </a:rPr>
              <a:t>Joins a cluster of 147 requests / 133 unique citizens </a:t>
            </a:r>
            <a:r>
              <a:rPr sz="1600">
                <a:solidFill>
                  <a:srgbClr val="5B6370"/>
                </a:solidFill>
                <a:latin typeface="Calibri"/>
              </a:rPr>
              <a:t>(sample data)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E87A1E"/>
                </a:solidFill>
                <a:latin typeface="Calibri"/>
              </a:rPr>
              <a:t>•  </a:t>
            </a:r>
            <a:r>
              <a:rPr sz="1600" b="1">
                <a:solidFill>
                  <a:srgbClr val="1F232B"/>
                </a:solidFill>
                <a:latin typeface="Calibri"/>
              </a:rPr>
              <a:t>Evidence brief in ~5 s </a:t>
            </a:r>
            <a:r>
              <a:rPr sz="1600">
                <a:solidFill>
                  <a:srgbClr val="5B6370"/>
                </a:solidFill>
                <a:latin typeface="Calibri"/>
              </a:rPr>
              <a:t>with an automated number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11480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E87A1E"/>
                </a:solidFill>
                <a:latin typeface="Calibri"/>
              </a:rPr>
              <a:t>•  </a:t>
            </a:r>
            <a:r>
              <a:rPr sz="1600" b="1">
                <a:solidFill>
                  <a:srgbClr val="1F232B"/>
                </a:solidFill>
                <a:latin typeface="Calibri"/>
              </a:rPr>
              <a:t>Citizen app </a:t>
            </a:r>
            <a:r>
              <a:rPr sz="1600">
                <a:solidFill>
                  <a:srgbClr val="5B6370"/>
                </a:solidFill>
                <a:latin typeface="Calibri"/>
              </a:rPr>
              <a:t>EN / हिन्दी / తెలుగు · text, voice, chat bot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E87A1E"/>
                </a:solidFill>
                <a:latin typeface="Calibri"/>
              </a:rPr>
              <a:t>•  </a:t>
            </a:r>
            <a:r>
              <a:rPr sz="1600" b="1">
                <a:solidFill>
                  <a:srgbClr val="1F232B"/>
                </a:solidFill>
                <a:latin typeface="Calibri"/>
              </a:rPr>
              <a:t>Officer dashboard </a:t>
            </a:r>
            <a:r>
              <a:rPr sz="1600">
                <a:solidFill>
                  <a:srgbClr val="5B6370"/>
                </a:solidFill>
                <a:latin typeface="Calibri"/>
              </a:rPr>
              <a:t>map, ranking, policy lens, briefs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E87A1E"/>
                </a:solidFill>
                <a:latin typeface="Calibri"/>
              </a:rPr>
              <a:t>•  </a:t>
            </a:r>
            <a:r>
              <a:rPr sz="1600" b="1">
                <a:solidFill>
                  <a:srgbClr val="1F232B"/>
                </a:solidFill>
                <a:latin typeface="Calibri"/>
              </a:rPr>
              <a:t>Status closes the loop </a:t>
            </a:r>
            <a:r>
              <a:rPr sz="1600">
                <a:solidFill>
                  <a:srgbClr val="5B6370"/>
                </a:solidFill>
                <a:latin typeface="Calibri"/>
              </a:rPr>
              <a:t>अनुशंसित (Recommended) in Hindi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7A1E"/>
                </a:solidFill>
                <a:latin typeface="Calibri"/>
              </a:rPr>
              <a:t>AI / TECHNICAL EXECUTION ·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32B"/>
                </a:solidFill>
                <a:latin typeface="Calibri"/>
              </a:rPr>
              <a:t>Google AI does the understanding. Rules keep it honest.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JanVaani · Build with AI · Track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931920" cy="603504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365760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Gemini 2.5 Flash (Vertex AI)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645920"/>
            <a:ext cx="7071055" cy="603504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6705295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Schema-validated extraction: fixed taxonomy, urgency, vulnerable groups, confidence, missing info, one clarification question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40864"/>
            <a:ext cx="3931920" cy="603504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40864"/>
            <a:ext cx="365760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Gemini embeddings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340864"/>
            <a:ext cx="7071055" cy="603504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340864"/>
            <a:ext cx="6705295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Semantic match of a new request to nearby demand clusters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35808"/>
            <a:ext cx="3931920" cy="603504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035808"/>
            <a:ext cx="365760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Speech-to-Text · Translation · TTS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035808"/>
            <a:ext cx="7071055" cy="603504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3035808"/>
            <a:ext cx="6705295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Hindi / Telugu / English voice in, original kept, spoken confirmation 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30752"/>
            <a:ext cx="3931920" cy="603504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30752"/>
            <a:ext cx="365760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Gemini evidence brief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730752"/>
            <a:ext cx="7071055" cy="603504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3730752"/>
            <a:ext cx="6705295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Written only from structured data; every number verified against the input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25696"/>
            <a:ext cx="3931920" cy="603504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425696"/>
            <a:ext cx="365760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Deterministic Priority Score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4425696"/>
            <a:ext cx="7071055" cy="603504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4425696"/>
            <a:ext cx="6705295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Transparent formula; AI never sets the rank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120640"/>
            <a:ext cx="3931920" cy="603504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120640"/>
            <a:ext cx="365760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Maps Geocoding + JS API · BigQuery · Cloud Storage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120640"/>
            <a:ext cx="7071055" cy="603504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5120640"/>
            <a:ext cx="6705295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Location fallback, hotspot map, analytics sink, voice notes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370"/>
                </a:solidFill>
                <a:latin typeface="Calibri"/>
              </a:rPr>
              <a:t>Live eval (gemini-2.5-flash, extract_v1): 100% category accuracy on 34 EN/HI/TE requests · 0 invented numbers · 0 invented places.  Template-labelled sample, a sanity check, not a field result.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7A1E"/>
                </a:solidFill>
                <a:latin typeface="Calibri"/>
              </a:rPr>
              <a:t>RESPONSIBLE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32B"/>
                </a:solidFill>
                <a:latin typeface="Calibri"/>
              </a:rPr>
              <a:t>Built to be trusted by a district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JanVaani · Build with AI · Track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15258" cy="20116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314949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No invented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314949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Numbers the citizen did not say are removed.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Brief numbers are checked against the input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45920"/>
            <a:ext cx="3515258" cy="20116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1098" y="1783080"/>
            <a:ext cx="314949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Provenance everywhere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098" y="2240280"/>
            <a:ext cx="314949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model_name / model_version / prompt_version on every AI record.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Source + year on every data value.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645920"/>
            <a:ext cx="3515258" cy="20116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0676" y="1783080"/>
            <a:ext cx="314949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Human in the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0676" y="2240280"/>
            <a:ext cx="314949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Approve for field verification / defer / reject.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Weight changes are logged for audit.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86200"/>
            <a:ext cx="3515258" cy="20116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023360"/>
            <a:ext cx="314949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Honest about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314949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Synthetic sample data is labelled in files, API and UI.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Badge shows live / demo / fallback per integration.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8218" y="3886200"/>
            <a:ext cx="3515258" cy="20116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1098" y="4023360"/>
            <a:ext cx="314949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Fairness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1098" y="4480560"/>
            <a:ext cx="314949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Unique citizens per 10k people: repeat messages and big villages don't dominate.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Vulnerability weight (SC/ST, slum share, literacy).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7796" y="3886200"/>
            <a:ext cx="3515258" cy="201168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0676" y="4023360"/>
            <a:ext cx="314949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Graceful degradation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0676" y="4480560"/>
            <a:ext cx="3149498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Every Google service has a labelled fallback,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so the journey never breaks during an outage or quota spike.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7A1E"/>
                </a:solidFill>
                <a:latin typeface="Calibri"/>
              </a:rPr>
              <a:t>PROBLEM-SOLUTION FIT · 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32B"/>
                </a:solidFill>
                <a:latin typeface="Calibri"/>
              </a:rPr>
              <a:t>A Priority Score officers can explain in a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JanVaani · Build with AI · Track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45775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Score = 100 × (Demand·30 + Infra gap·30 + Vulnerability·20 + Trend·10 − Investment coverage·10) / 90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2072579" cy="16002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170681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1706819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32B"/>
                </a:solidFill>
                <a:latin typeface="Calibri"/>
              </a:rPr>
              <a:t>recency-weighted unique citizens per 10k people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4099" y="2788920"/>
            <a:ext cx="2072579" cy="16002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6979" y="2926080"/>
            <a:ext cx="170681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Infra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6979" y="3383280"/>
            <a:ext cx="1706819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32B"/>
                </a:solidFill>
                <a:latin typeface="Calibri"/>
              </a:rPr>
              <a:t>category-specific indicator (e.g. tap-water coverage)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59558" y="2788920"/>
            <a:ext cx="2072579" cy="16002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2438" y="2926080"/>
            <a:ext cx="170681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Vulnerability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2438" y="3383280"/>
            <a:ext cx="1706819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32B"/>
                </a:solidFill>
                <a:latin typeface="Calibri"/>
              </a:rPr>
              <a:t>SC/ST or slum share, literacy, aspirational district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017" y="2788920"/>
            <a:ext cx="2072579" cy="16002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7897" y="2926080"/>
            <a:ext cx="170681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Trend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3383280"/>
            <a:ext cx="1706819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32B"/>
                </a:solidFill>
                <a:latin typeface="Calibri"/>
              </a:rPr>
              <a:t>last 30 days vs the 30 before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70476" y="2788920"/>
            <a:ext cx="2072579" cy="16002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2926080"/>
            <a:ext cx="170681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E87A1E"/>
                </a:solidFill>
                <a:latin typeface="Calibri"/>
              </a:rPr>
              <a:t>− Investment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356" y="3383280"/>
            <a:ext cx="1706819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32B"/>
                </a:solidFill>
                <a:latin typeface="Calibri"/>
              </a:rPr>
              <a:t>population already covered by sanctioned works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17720"/>
            <a:ext cx="1109441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E87A1E"/>
                </a:solidFill>
                <a:latin typeface="Calibri"/>
              </a:rPr>
              <a:t>•  </a:t>
            </a:r>
            <a:r>
              <a:rPr sz="1600" b="1">
                <a:solidFill>
                  <a:srgbClr val="1F232B"/>
                </a:solidFill>
                <a:latin typeface="Calibri"/>
              </a:rPr>
              <a:t>Policy lens: </a:t>
            </a:r>
            <a:r>
              <a:rPr sz="1600">
                <a:solidFill>
                  <a:srgbClr val="5B6370"/>
                </a:solidFill>
                <a:latin typeface="Calibri"/>
              </a:rPr>
              <a:t>officers move the weights, the ranking updates instantly, the change is logged (and sent to BigQuery).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E87A1E"/>
                </a:solidFill>
                <a:latin typeface="Calibri"/>
              </a:rPr>
              <a:t>•  </a:t>
            </a:r>
            <a:r>
              <a:rPr sz="1600" b="1">
                <a:solidFill>
                  <a:srgbClr val="1F232B"/>
                </a:solidFill>
                <a:latin typeface="Calibri"/>
              </a:rPr>
              <a:t>Example: </a:t>
            </a:r>
            <a:r>
              <a:rPr sz="1600">
                <a:solidFill>
                  <a:srgbClr val="5B6370"/>
                </a:solidFill>
                <a:latin typeface="Calibri"/>
              </a:rPr>
              <a:t>Sonbarsa bridge cluster, Gaya: 85.6 / 100, rank 1 of 7 in Bihar (synthetic sample data).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E87A1E"/>
                </a:solidFill>
                <a:latin typeface="Calibri"/>
              </a:rPr>
              <a:t>•  </a:t>
            </a:r>
            <a:r>
              <a:rPr sz="1600" b="1">
                <a:solidFill>
                  <a:srgbClr val="1F232B"/>
                </a:solidFill>
                <a:latin typeface="Calibri"/>
              </a:rPr>
              <a:t>Missing data is visible: </a:t>
            </a:r>
            <a:r>
              <a:rPr sz="1600">
                <a:solidFill>
                  <a:srgbClr val="5B6370"/>
                </a:solidFill>
                <a:latin typeface="Calibri"/>
              </a:rPr>
              <a:t>a missing gap indicator scores a neutral 0.5 and is flagged in the brief.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7A1E"/>
                </a:solidFill>
                <a:latin typeface="Calibri"/>
              </a:rPr>
              <a:t>DEPTH &amp; REACH ACROSS INDIA · 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32B"/>
                </a:solidFill>
                <a:latin typeface="Calibri"/>
              </a:rPr>
              <a:t>Depth and reach: languages, channels,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JanVaani · Build with AI · Track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15258" cy="27432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314949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3 languages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3149498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English, हिन्दी, తెలుగు in UI, speech, translation and confirmations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Adding a language = BCP-47 code + UI strings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45920"/>
            <a:ext cx="3515258" cy="27432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1098" y="1783080"/>
            <a:ext cx="314949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3 channels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098" y="2240280"/>
            <a:ext cx="3149498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Web text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Web voice notes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Chat bot (Telegram webhook)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Roadmap: WhatsApp, IVR, assisted capture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645920"/>
            <a:ext cx="3515258" cy="27432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0676" y="1783080"/>
            <a:ext cx="3149498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3 states, 3 data shapes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0676" y="2240280"/>
            <a:ext cx="3149498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Bihar · villages · bridges &amp; roads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Andhra Pradesh · habitations · drinking water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Maharashtra · Pune wards · public transport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94415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32B"/>
                </a:solidFill>
                <a:latin typeface="Calibri"/>
              </a:rPr>
              <a:t>Rural and urban, three language families, three sectors: one platform, one canonical schema, the same AI services and APIs.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32B"/>
                </a:solidFill>
                <a:latin typeface="Calibri"/>
              </a:rPr>
              <a:t>Reach target: every Gram Panchayat (≈2.5 lakh) and urban ward.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7A1E"/>
                </a:solidFill>
                <a:latin typeface="Calibri"/>
              </a:rPr>
              <a:t>INTEROPERABILITY · STATE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32B"/>
                </a:solidFill>
                <a:latin typeface="Calibri"/>
              </a:rPr>
              <a:t>A new state is configuration, not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JanVaani · Build with AI · Track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2560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Bihar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560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Hindi-transliterated CSV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(yojana suchi)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20440" y="2304288"/>
            <a:ext cx="73152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297679" y="2011680"/>
            <a:ext cx="1828800" cy="594360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400" b="1">
                <a:solidFill>
                  <a:srgbClr val="1D4E89"/>
                </a:solidFill>
                <a:latin typeface="Calibri"/>
              </a:rPr>
              <a:t>BR.json adapter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72200" y="2304288"/>
            <a:ext cx="731520" cy="941832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8640" y="306324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2560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Andhra Pradesh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2560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Nested JSON,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SC + ST columns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0440" y="3630168"/>
            <a:ext cx="73152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97679" y="3337560"/>
            <a:ext cx="1828800" cy="594360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400" b="1">
                <a:solidFill>
                  <a:srgbClr val="1D4E89"/>
                </a:solidFill>
                <a:latin typeface="Calibri"/>
              </a:rPr>
              <a:t>AP.json adapter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172200" y="3246120"/>
            <a:ext cx="731520" cy="384048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438912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26280"/>
            <a:ext cx="2560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Maharashtra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83480"/>
            <a:ext cx="25603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Ward CSV,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32B"/>
                </a:solidFill>
                <a:latin typeface="Calibri"/>
              </a:rPr>
              <a:t>slum share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520440" y="4956048"/>
            <a:ext cx="73152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297679" y="4663440"/>
            <a:ext cx="1828800" cy="594360"/>
          </a:xfrm>
          <a:prstGeom prst="roundRect">
            <a:avLst>
              <a:gd name="adj" fmla="val 5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400" b="1">
                <a:solidFill>
                  <a:srgbClr val="1D4E89"/>
                </a:solidFill>
                <a:latin typeface="Calibri"/>
              </a:rPr>
              <a:t>MH.json adapter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172200" y="3246120"/>
            <a:ext cx="731520" cy="1709928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949440" y="2194560"/>
            <a:ext cx="2194560" cy="210312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2286000"/>
            <a:ext cx="2011680" cy="1920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Canonical schema</a:t>
            </a:r>
          </a:p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admin unit · indicator · investment · request · cluster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89720" y="3246120"/>
            <a:ext cx="54864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784080" y="2194560"/>
            <a:ext cx="1828800" cy="210312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23317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Shared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2788920"/>
            <a:ext cx="14630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32B"/>
                </a:solidFill>
                <a:latin typeface="Calibri"/>
              </a:rPr>
              <a:t>AI services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32B"/>
                </a:solidFill>
                <a:latin typeface="Calibri"/>
              </a:rPr>
              <a:t>Scoring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32B"/>
                </a:solidFill>
                <a:latin typeface="Calibri"/>
              </a:rPr>
              <a:t>Briefs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32B"/>
                </a:solidFill>
                <a:latin typeface="Calibri"/>
              </a:rPr>
              <a:t>APIs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0"/>
                </a:solidFill>
                <a:latin typeface="Calibri"/>
              </a:rPr>
              <a:t>Onboarding (PRD §40): register state → languages → LGD codes → data sources → field mapping → validate (tests check every adapter) → enable channels.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7A1E"/>
                </a:solidFill>
                <a:latin typeface="Calibri"/>
              </a:rPr>
              <a:t>DEPLOYABILITY &amp; SCALABILITY · 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32B"/>
                </a:solidFill>
                <a:latin typeface="Calibri"/>
              </a:rPr>
              <a:t>Deployable today, scalable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JanVaani · Build with AI · Track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011680" cy="73152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201168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Frontends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645920"/>
            <a:ext cx="8991295" cy="73152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645920"/>
            <a:ext cx="862553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Next.js citizen app + officer dashboard on Vercel (one project per app)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87168"/>
            <a:ext cx="2011680" cy="73152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487168"/>
            <a:ext cx="201168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2487168"/>
            <a:ext cx="8991295" cy="73152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0" y="2487168"/>
            <a:ext cx="862553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FastAPI container on Cloud Run, asia-south1 · service account · keys in Secret 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28416"/>
            <a:ext cx="2011680" cy="73152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328416"/>
            <a:ext cx="201168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3328416"/>
            <a:ext cx="8991295" cy="731520"/>
          </a:xfrm>
          <a:prstGeom prst="roundRect">
            <a:avLst>
              <a:gd name="adj" fmla="val 8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3328416"/>
            <a:ext cx="862553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Gemini 2.5 Flash + embeddings on Vertex AI · Speech-to-Text · Translation · Text-to-Speech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69664"/>
            <a:ext cx="2011680" cy="731520"/>
          </a:xfrm>
          <a:prstGeom prst="roundRect">
            <a:avLst>
              <a:gd name="adj" fmla="val 8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69664"/>
            <a:ext cx="201168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51760" y="4169664"/>
            <a:ext cx="8991295" cy="73152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4169664"/>
            <a:ext cx="862553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BigQuery analytics sink · Cloud Storage voice notes · Maps Geocoding / JS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12064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>
                <a:solidFill>
                  <a:srgbClr val="1F232B"/>
                </a:solidFill>
                <a:latin typeface="Calibri"/>
              </a:rPr>
              <a:t>One command </a:t>
            </a:r>
            <a:r>
              <a:rPr sz="1500">
                <a:solidFill>
                  <a:srgbClr val="5B6370"/>
                </a:solidFill>
                <a:latin typeface="Calibri"/>
              </a:rPr>
              <a:t>deploy.sh api · Cloud Build image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>
                <a:solidFill>
                  <a:srgbClr val="1F232B"/>
                </a:solidFill>
                <a:latin typeface="Calibri"/>
              </a:rPr>
              <a:t>Config, not forks </a:t>
            </a:r>
            <a:r>
              <a:rPr sz="1500">
                <a:solidFill>
                  <a:srgbClr val="5B6370"/>
                </a:solidFill>
                <a:latin typeface="Calibri"/>
              </a:rPr>
              <a:t>states, models, weights, CORS from env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12064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>
                <a:solidFill>
                  <a:srgbClr val="1F232B"/>
                </a:solidFill>
                <a:latin typeface="Calibri"/>
              </a:rPr>
              <a:t>Scale path </a:t>
            </a:r>
            <a:r>
              <a:rPr sz="1500">
                <a:solidFill>
                  <a:srgbClr val="5B6370"/>
                </a:solidFill>
                <a:latin typeface="Calibri"/>
              </a:rPr>
              <a:t>BigQuery for millions of requests, Cloud Run autoscaling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E87A1E"/>
                </a:solidFill>
                <a:latin typeface="Calibri"/>
              </a:rPr>
              <a:t>•  </a:t>
            </a:r>
            <a:r>
              <a:rPr sz="1500" b="1">
                <a:solidFill>
                  <a:srgbClr val="1F232B"/>
                </a:solidFill>
                <a:latin typeface="Calibri"/>
              </a:rPr>
              <a:t>Next </a:t>
            </a:r>
            <a:r>
              <a:rPr sz="1500">
                <a:solidFill>
                  <a:srgbClr val="5B6370"/>
                </a:solidFill>
                <a:latin typeface="Calibri"/>
              </a:rPr>
              <a:t>Firestore serving store, Firebase auth, RBAC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7A1E"/>
                </a:solidFill>
                <a:latin typeface="Calibri"/>
              </a:rPr>
              <a:t>IMPACT POTENTIAL · 15%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32B"/>
                </a:solidFill>
                <a:latin typeface="Calibri"/>
              </a:rPr>
              <a:t>Impact: spending follows measured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JanVaani · Build with AI · Track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533573" cy="1645920"/>
          </a:xfrm>
          <a:prstGeom prst="roundRect">
            <a:avLst>
              <a:gd name="adj" fmla="val 8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216781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167813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3 states · 3 languages · 3 channels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2213.75" y="2560320"/>
            <a:ext cx="280040.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02253" y="1737360"/>
            <a:ext cx="2533573" cy="164592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5133" y="1874520"/>
            <a:ext cx="216781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District 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133" y="2331720"/>
            <a:ext cx="2167813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1 aspirational district · WhatsApp · CSC-assisted capture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55827.5" y="2560320"/>
            <a:ext cx="280040.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55867" y="1737360"/>
            <a:ext cx="2533573" cy="164592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1874520"/>
            <a:ext cx="216781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8747" y="2331720"/>
            <a:ext cx="2167813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Grievance-system integration · more languages · IVR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09441.25" y="2560320"/>
            <a:ext cx="280040.0" cy="0"/>
          </a:xfrm>
          <a:prstGeom prst="line">
            <a:avLst/>
          </a:prstGeom>
          <a:ln w="25400">
            <a:solidFill>
              <a:srgbClr val="E87A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09481" y="1737360"/>
            <a:ext cx="2533573" cy="164592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361" y="1874520"/>
            <a:ext cx="2167813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4E89"/>
                </a:solidFill>
                <a:latin typeface="Calibri"/>
              </a:rPr>
              <a:t>National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2361" y="2331720"/>
            <a:ext cx="2167813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32B"/>
                </a:solidFill>
                <a:latin typeface="Calibri"/>
              </a:rPr>
              <a:t>Shared data contracts · de-identified exchange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49039"/>
            <a:ext cx="110944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E87A1E"/>
                </a:solidFill>
                <a:latin typeface="Calibri"/>
              </a:rPr>
              <a:t>•  </a:t>
            </a:r>
            <a:r>
              <a:rPr sz="1700" b="1">
                <a:solidFill>
                  <a:srgbClr val="1F232B"/>
                </a:solidFill>
                <a:latin typeface="Calibri"/>
              </a:rPr>
              <a:t>Citizens: </a:t>
            </a:r>
            <a:r>
              <a:rPr sz="1700">
                <a:solidFill>
                  <a:srgbClr val="5B6370"/>
                </a:solidFill>
                <a:latin typeface="Calibri"/>
              </a:rPr>
              <a:t>a voice in their own language, and a status update instead of silence.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E87A1E"/>
                </a:solidFill>
                <a:latin typeface="Calibri"/>
              </a:rPr>
              <a:t>•  </a:t>
            </a:r>
            <a:r>
              <a:rPr sz="1700" b="1">
                <a:solidFill>
                  <a:srgbClr val="1F232B"/>
                </a:solidFill>
                <a:latin typeface="Calibri"/>
              </a:rPr>
              <a:t>Officers: </a:t>
            </a:r>
            <a:r>
              <a:rPr sz="1700">
                <a:solidFill>
                  <a:srgbClr val="5B6370"/>
                </a:solidFill>
                <a:latin typeface="Calibri"/>
              </a:rPr>
              <a:t>a defensible, auditable ranking with evidence, in minutes instead of weeks.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E87A1E"/>
                </a:solidFill>
                <a:latin typeface="Calibri"/>
              </a:rPr>
              <a:t>•  </a:t>
            </a:r>
            <a:r>
              <a:rPr sz="1700" b="1">
                <a:solidFill>
                  <a:srgbClr val="1F232B"/>
                </a:solidFill>
                <a:latin typeface="Calibri"/>
              </a:rPr>
              <a:t>Governments: </a:t>
            </a:r>
            <a:r>
              <a:rPr sz="1700">
                <a:solidFill>
                  <a:srgbClr val="5B6370"/>
                </a:solidFill>
                <a:latin typeface="Calibri"/>
              </a:rPr>
              <a:t>share of capital spending aligned with measured demand; fewer unaddressed high-priority gaps.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E87A1E"/>
                </a:solidFill>
                <a:latin typeface="Calibri"/>
              </a:rPr>
              <a:t>•  </a:t>
            </a:r>
            <a:r>
              <a:rPr sz="1700" b="1">
                <a:solidFill>
                  <a:srgbClr val="1F232B"/>
                </a:solidFill>
                <a:latin typeface="Calibri"/>
              </a:rPr>
              <a:t>Measured by: </a:t>
            </a:r>
            <a:r>
              <a:rPr sz="1700">
                <a:solidFill>
                  <a:srgbClr val="5B6370"/>
                </a:solidFill>
                <a:latin typeface="Calibri"/>
              </a:rPr>
              <a:t>requests captured, citizens receiving updates, recommendations adopted into district plans.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7A1E"/>
                </a:solidFill>
                <a:latin typeface="Calibri"/>
              </a:rPr>
              <a:t>CROSS-BORDER / BRICS PORTABILITY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32B"/>
                </a:solidFill>
                <a:latin typeface="Calibri"/>
              </a:rPr>
              <a:t>Built for India, portable across borders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JanVaani · Build with AI · Track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19072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Admin units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45920"/>
            <a:ext cx="862553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32B"/>
                </a:solidFill>
                <a:latin typeface="Calibri"/>
              </a:rPr>
              <a:t>LGD codes → any national registry (e.g. IBGE municipalities, OKTMO, Stats SA wards)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23744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Languages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450592"/>
            <a:ext cx="862553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32B"/>
                </a:solidFill>
                <a:latin typeface="Calibri"/>
              </a:rPr>
              <a:t>Add a BCP-47 code: Speech, Translation and Gemini already cover Portuguese, Russian, Chinese, isiZulu, Arabic…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28416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255264"/>
            <a:ext cx="862553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32B"/>
                </a:solidFill>
                <a:latin typeface="Calibri"/>
              </a:rPr>
              <a:t>A new adapter JSON per ministry or province: no code changes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33088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059936"/>
            <a:ext cx="862553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32B"/>
                </a:solidFill>
                <a:latin typeface="Calibri"/>
              </a:rPr>
              <a:t>Webhook pattern fits WhatsApp, Telegram, WeChat-style bots or IVR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3776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864608"/>
            <a:ext cx="862553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32B"/>
                </a:solidFill>
                <a:latin typeface="Calibri"/>
              </a:rPr>
              <a:t>Human approval, provenance and number-grounding are built into the pipeline, not bolted 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D4E89"/>
                </a:solidFill>
                <a:latin typeface="Calibri"/>
              </a:rPr>
              <a:t>Open schemas and APIs make JanVaani a candidate digital public good for any country's local planning.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87A1E"/>
                </a:solidFill>
                <a:latin typeface="Calibri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94415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232B"/>
                </a:solidFill>
                <a:latin typeface="Calibri"/>
              </a:rPr>
              <a:t>What is live today, and what we need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JanVaani · Build with AI · Track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5B6370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394960" cy="420624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E7D4F"/>
                </a:solidFill>
                <a:latin typeface="Calibri"/>
              </a:rPr>
              <a:t>Live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502920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Gemini 2.5 Flash + embeddings on Vertex AI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Cloud Speech-to-Text, Translation, Text-to-Speech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Maps Geocoding + Maps JavaScript API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BigQuery sink · Cloud Storage voice notes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API on Cloud Run · apps on Vercel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3 states · 3 languages · text, voice, chat bot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Public repo · README · tests · live eval 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303520" cy="420624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E87A1E"/>
                </a:solidFill>
                <a:latin typeface="Calibri"/>
              </a:rPr>
              <a:t>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40280"/>
            <a:ext cx="493776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Telegram / WhatsApp delivery (bot token, BSP)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Firebase auth + officer RBAC by geography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Real LGD, Census and JJM / PMGSY data feeds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Firestore serving store for multi-instance scale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Field pilot in one aspirational district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32B"/>
                </a:solidFill>
                <a:latin typeface="Calibri"/>
              </a:rPr>
              <a:t>Photo evidence, impact view, demand forecasting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B6370"/>
                </a:solidFill>
                <a:latin typeface="Calibri"/>
              </a:rPr>
              <a:t>All figures in this deck come from synthetic sample data, labelled as such in the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