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JanVaani means ‘the people’s voice’. It lets any citizen say what their village or ward needs, in Hindi, Telugu or English, by voice, text or chat. Gemini on Vertex AI structures each request, and planning officers get a transparent ranking with a number-checked evidence brief. A human makes every decision, and the citizen hears back in their own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not that citizens stay silent. They ask through grievance portals, helplines, Gram Sabhas and messaging apps, in many languages. Those requests are rarely deduplicated, located to an administrative code, or compared with infrastructure-gap and investment data. In our sample, one bridge need near Sonbarsa in Gaya has 146 requests from 132 citizens and no project on record. These are synthetic numbers, but the pattern is the one the Track 1 brief describes.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right panel is a real evidence brief the prototype generated with Gemini 2.5 Flash, shortened to fit. Gemini only sees structured data: the score breakdown, citizen quotes, indicators with sources, and investments. An automatic check then confirmed that all 49 numbers in the brief exist in that input. The officer decides; nothing is sanctioned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journey. The citizen speaks; Cloud Speech-to-Text and Translation keep the original and add English. Gemini returns schema-validated JSON, the place resolves to an LGD-style code and an H3 cell, and Gemini embeddings join it to a demand cluster. Fusion and scoring are deterministic, not AI. Gemini writes the brief, the officer decides, and the status flows back to the citizen.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user is the citizen: rural or urban, mobile-first, often more comfortable speaking than typing. So JanVaani accepts voice notes and replies with spoken confirmation from Cloud Text-to-Speech. The planning officer needs the opposite: a short, sourced and auditable ranking. Block engineers and assisted-capture workers are part of the pilot workflow, not extra app roles.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Scenario A from the PRD, which we ran live. The Hindi request was understood in about three seconds: roads and bridges, high urgency, children affected. On confirmation it joined the Sonbarsa cluster, now 147 requests from 133 unique citizens, ranked first in Bihar at 85.6. When the officer raised the vulnerability weight to 40 percent, a drinking-water cluster moved from third to second, and the change was logged. The officer approved it for field verification, and the parent’s status now reads ‘Recommended’ in Hindi.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not replacing any of these. CPGRAMS and state portals resolve individual grievances; Gram Sabhas and GPDP are the statutory planning process; Mission Antyodaya measures village gaps. What is missing is a layer that turns voiced demand into located, deduplicated evidence and sets it against those official gaps. That is JanVaani’s contribution, and we are explicit that it is not yet field-validated.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Gemini has two bounded jobs: structured extraction and grounded briefs, both schema-validated with versioned prompts. Embeddings drive clustering. Speech-to-Text, Translation and Text-to-Speech make it multilingual. Maps handles geocoding and the hotspot map, and BigQuery, Cloud Storage and Cloud Run carry the data and hosting. Every integration has a labelled fallback, and the header badge tells the viewer exactly what is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rules matter most. Gemini cannot add numbers: anything the citizen did not say is stripped, and every number in a brief is verified against the input. The rank comes from a deterministic formula that AI cannot change. And a human decides. Demand counts unique citizens per ten thousand people, so repeat messages or big villages do not dominate. Consent capture under the DPDP Act is a pilot requirement we still have to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earn the right to scale. Phase two is one aspirational district with WhatsApp and CSC-assisted capture, and a weekly review with the district planning officer. We measure accuracy on field-labelled requests against the PRD’s 85 percent target, LGD match rates, officer time and whether citizens get status updates. Works would be funded through existing GPDP and scheme budgets; the platform pilot’s funding line still has to be confirmed with the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you have seen runs today. The citizen app on the left handles text, voice and a chat-bot tab in three languages; the officer dashboard on the right shows the hotspot map, the ranking and the full score breakdown. Bihar, Andhra Pradesh and Maharashtra each come in with different data shapes and map to one canonical schema through adapter configs. The links are live, and the source is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sources behind the problem framing and the comparison slide. Reference one is our own PRD and the recorded evaluation run. References two to four are the government systems JanVaani is designed to complement rather than replace.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sample data is modelled on LGD, Census 2011, the Aspirational Districts list and scheme MIS structures, but it contains no copied values. Every figure in this deck from the product is synthetic and labelled as such, as it is in the app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4" Type="http://schemas.openxmlformats.org/officeDocument/2006/relationships/hyperlink" Target="https://civic-demand-network-citizen-web-847963771142.asia-south1.run.app" TargetMode="External"/><Relationship Id="rId5" Type="http://schemas.openxmlformats.org/officeDocument/2006/relationships/hyperlink" Target="https://civic-demand-network-officer-dashboard-847963771142.asia-south1.run.app" TargetMode="External"/><Relationship Id="rId6" Type="http://schemas.openxmlformats.org/officeDocument/2006/relationships/hyperlink" Target="https://civic-demand-network-api-847963771142.asia-south1.run.app/docs" TargetMode="External"/><Relationship Id="rId7" Type="http://schemas.openxmlformats.org/officeDocument/2006/relationships/hyperlink" Target="https://github.com/ipavanreddy/civic-demand-network" TargetMode="External"/><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pgportal.gov.in" TargetMode="External"/><Relationship Id="rId3" Type="http://schemas.openxmlformats.org/officeDocument/2006/relationships/hyperlink" Target="https://missionantyodaya.nic.in" TargetMode="External"/><Relationship Id="rId4" Type="http://schemas.openxmlformats.org/officeDocument/2006/relationships/hyperlink" Target="https://egramswaraj.gov.in" TargetMode="External"/><Relationship Id="rId1" Type="http://schemas.openxmlformats.org/officeDocument/2006/relationships/image" Target="../media/image-12-1.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2" Type="http://schemas.openxmlformats.org/officeDocument/2006/relationships/hyperlink" Target="https://lgdirectory.gov.in" TargetMode="External"/><Relationship Id="rId3" Type="http://schemas.openxmlformats.org/officeDocument/2006/relationships/hyperlink" Target="https://www.niti.gov.in/aspirational-districts-programme" TargetMode="External"/><Relationship Id="rId4" Type="http://schemas.openxmlformats.org/officeDocument/2006/relationships/hyperlink" Target="https://cloud.google.com/vertex-ai/generative-ai/docs/models/gemini/2-5-flash" TargetMode="External"/><Relationship Id="rId5" Type="http://schemas.openxmlformats.org/officeDocument/2006/relationships/hyperlink" Target="https://www.meity.gov.in/data-protection-framework" TargetMode="External"/><Relationship Id="rId1" Type="http://schemas.openxmlformats.org/officeDocument/2006/relationships/image" Target="../media/image-13-1.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149"/>
        </a:solidFill>
      </p:bgPr>
    </p:bg>
    <p:spTree>
      <p:nvGrpSpPr>
        <p:cNvPr id="1" name=""/>
        <p:cNvGrpSpPr/>
        <p:nvPr/>
      </p:nvGrpSpPr>
      <p:grpSpPr>
        <a:xfrm>
          <a:off x="0" y="0"/>
          <a:ext cx="0" cy="0"/>
          <a:chOff x="0" y="0"/>
          <a:chExt cx="0" cy="0"/>
        </a:xfrm>
      </p:grpSpPr>
      <p:pic>
        <p:nvPicPr>
          <p:cNvPr id="2" name="Image 0" descr="/Users/pavan/Documents/Code/Build_with_AI/civic-demand-network/docs/pitch/assets/cover-gaya-river.jpg">    </p:cNvPr>
          <p:cNvPicPr>
            <a:picLocks noChangeAspect="1"/>
          </p:cNvPicPr>
          <p:nvPr/>
        </p:nvPicPr>
        <p:blipFill>
          <a:blip r:embed="rId1"/>
          <a:srcRect l="0" r="0" t="0" b="0"/>
          <a:stretch/>
        </p:blipFill>
        <p:spPr>
          <a:xfrm>
            <a:off x="5669280" y="0"/>
            <a:ext cx="6522415" cy="6858000"/>
          </a:xfrm>
          <a:prstGeom prst="rect">
            <a:avLst/>
          </a:prstGeom>
        </p:spPr>
      </p:pic>
      <p:sp>
        <p:nvSpPr>
          <p:cNvPr id="3" name="Shape 0"/>
          <p:cNvSpPr/>
          <p:nvPr/>
        </p:nvSpPr>
        <p:spPr>
          <a:xfrm>
            <a:off x="649224" y="429768"/>
            <a:ext cx="768096" cy="713232"/>
          </a:xfrm>
          <a:prstGeom prst="roundRect">
            <a:avLst>
              <a:gd name="adj" fmla="val 10256"/>
            </a:avLst>
          </a:prstGeom>
          <a:solidFill>
            <a:srgbClr val="2E7D3A"/>
          </a:solidFill>
          <a:ln/>
        </p:spPr>
      </p:sp>
      <p:pic>
        <p:nvPicPr>
          <p:cNvPr id="4" name="Image 1" descr="/Users/pavan/Documents/Code/Build_with_AI/civic-demand-network/docs/pitch/assets/spontom-mark.png">    </p:cNvPr>
          <p:cNvPicPr>
            <a:picLocks noChangeAspect="1"/>
          </p:cNvPicPr>
          <p:nvPr/>
        </p:nvPicPr>
        <p:blipFill>
          <a:blip r:embed="rId2"/>
          <a:stretch>
            <a:fillRect/>
          </a:stretch>
        </p:blipFill>
        <p:spPr>
          <a:xfrm>
            <a:off x="758952" y="530352"/>
            <a:ext cx="548640" cy="512064"/>
          </a:xfrm>
          <a:prstGeom prst="rect">
            <a:avLst/>
          </a:prstGeom>
        </p:spPr>
      </p:pic>
      <p:sp>
        <p:nvSpPr>
          <p:cNvPr id="5" name="Text 1"/>
          <p:cNvSpPr txBox="1"/>
          <p:nvPr/>
        </p:nvSpPr>
        <p:spPr>
          <a:xfrm>
            <a:off x="1600200" y="576072"/>
            <a:ext cx="3931920" cy="182880"/>
          </a:xfrm>
          <a:prstGeom prst="rect">
            <a:avLst/>
          </a:prstGeom>
          <a:noFill/>
          <a:ln/>
        </p:spPr>
        <p:txBody>
          <a:bodyPr wrap="square" lIns="0" tIns="0" rIns="0" bIns="0" rtlCol="0" anchor="t"/>
          <a:lstStyle/>
          <a:p>
            <a:pPr indent="0" marL="0">
              <a:buNone/>
            </a:pPr>
            <a:r>
              <a:rPr lang="en-US" sz="900" b="1" spc="150" kern="0" dirty="0">
                <a:solidFill>
                  <a:srgbClr val="FFFFFF"/>
                </a:solidFill>
                <a:latin typeface="Arial" pitchFamily="34" charset="0"/>
                <a:ea typeface="Arial" pitchFamily="34" charset="-122"/>
                <a:cs typeface="Arial" pitchFamily="34" charset="-120"/>
              </a:rPr>
              <a:t>SPONTOM ENTERPRISE PRIVATE LIMITED</a:t>
            </a:r>
            <a:endParaRPr lang="en-US" sz="900" dirty="0"/>
          </a:p>
        </p:txBody>
      </p:sp>
      <p:sp>
        <p:nvSpPr>
          <p:cNvPr id="6" name="Text 2"/>
          <p:cNvSpPr txBox="1"/>
          <p:nvPr/>
        </p:nvSpPr>
        <p:spPr>
          <a:xfrm>
            <a:off x="1600200" y="822960"/>
            <a:ext cx="3931920" cy="146304"/>
          </a:xfrm>
          <a:prstGeom prst="rect">
            <a:avLst/>
          </a:prstGeom>
          <a:noFill/>
          <a:ln/>
        </p:spPr>
        <p:txBody>
          <a:bodyPr wrap="square" lIns="0" tIns="0" rIns="0" bIns="0" rtlCol="0" anchor="t"/>
          <a:lstStyle/>
          <a:p>
            <a:pPr indent="0" marL="0">
              <a:buNone/>
            </a:pPr>
            <a:r>
              <a:rPr lang="en-US" sz="700" dirty="0">
                <a:solidFill>
                  <a:srgbClr val="B9C4CF"/>
                </a:solidFill>
                <a:latin typeface="Arial" pitchFamily="34" charset="0"/>
                <a:ea typeface="Arial" pitchFamily="34" charset="-122"/>
                <a:cs typeface="Arial" pitchFamily="34" charset="-120"/>
              </a:rPr>
              <a:t>Build with AI (Google)  •  Track 1</a:t>
            </a:r>
            <a:endParaRPr lang="en-US" sz="700" dirty="0"/>
          </a:p>
        </p:txBody>
      </p:sp>
      <p:sp>
        <p:nvSpPr>
          <p:cNvPr id="7" name="Text 3"/>
          <p:cNvSpPr txBox="1"/>
          <p:nvPr/>
        </p:nvSpPr>
        <p:spPr>
          <a:xfrm>
            <a:off x="649224" y="1417320"/>
            <a:ext cx="4846320" cy="1600200"/>
          </a:xfrm>
          <a:prstGeom prst="rect">
            <a:avLst/>
          </a:prstGeom>
          <a:noFill/>
          <a:ln/>
        </p:spPr>
        <p:txBody>
          <a:bodyPr wrap="square" lIns="0" tIns="0" rIns="0" bIns="0" rtlCol="0" anchor="t">
            <a:normAutofit/>
          </a:bodyPr>
          <a:lstStyle/>
          <a:p>
            <a:pPr indent="0" marL="0">
              <a:buNone/>
            </a:pPr>
            <a:r>
              <a:rPr lang="en-US" sz="4000" b="1" dirty="0">
                <a:solidFill>
                  <a:srgbClr val="FFFFFF"/>
                </a:solidFill>
                <a:latin typeface="Arial" pitchFamily="34" charset="0"/>
                <a:ea typeface="Arial" pitchFamily="34" charset="-122"/>
                <a:cs typeface="Arial" pitchFamily="34" charset="-120"/>
              </a:rPr>
              <a:t>JanVaani</a:t>
            </a:r>
            <a:endParaRPr lang="en-US" sz="4000" dirty="0"/>
          </a:p>
        </p:txBody>
      </p:sp>
      <p:sp>
        <p:nvSpPr>
          <p:cNvPr id="8" name="Text 4"/>
          <p:cNvSpPr txBox="1"/>
          <p:nvPr/>
        </p:nvSpPr>
        <p:spPr>
          <a:xfrm>
            <a:off x="649224" y="3063240"/>
            <a:ext cx="4754880" cy="868680"/>
          </a:xfrm>
          <a:prstGeom prst="rect">
            <a:avLst/>
          </a:prstGeom>
          <a:noFill/>
          <a:ln/>
        </p:spPr>
        <p:txBody>
          <a:bodyPr wrap="square" lIns="0" tIns="0" rIns="0" bIns="0" rtlCol="0" anchor="t">
            <a:normAutofit/>
          </a:bodyPr>
          <a:lstStyle/>
          <a:p>
            <a:pPr indent="0" marL="0">
              <a:buNone/>
            </a:pPr>
            <a:r>
              <a:rPr lang="en-US" sz="2000" b="1" dirty="0">
                <a:solidFill>
                  <a:srgbClr val="F3CB7A"/>
                </a:solidFill>
                <a:latin typeface="Arial" pitchFamily="34" charset="0"/>
                <a:ea typeface="Arial" pitchFamily="34" charset="-122"/>
                <a:cs typeface="Arial" pitchFamily="34" charset="-120"/>
              </a:rPr>
              <a:t>From a citizen’s voice</a:t>
            </a:r>
            <a:endParaRPr lang="en-US" sz="2000" dirty="0"/>
          </a:p>
          <a:p>
            <a:pPr indent="0" marL="0">
              <a:buNone/>
            </a:pPr>
            <a:r>
              <a:rPr lang="en-US" sz="2000" b="1" dirty="0">
                <a:solidFill>
                  <a:srgbClr val="F3CB7A"/>
                </a:solidFill>
                <a:latin typeface="Arial" pitchFamily="34" charset="0"/>
                <a:ea typeface="Arial" pitchFamily="34" charset="-122"/>
                <a:cs typeface="Arial" pitchFamily="34" charset="-120"/>
              </a:rPr>
              <a:t>to an evidenced priority.</a:t>
            </a:r>
            <a:endParaRPr lang="en-US" sz="2000" dirty="0"/>
          </a:p>
        </p:txBody>
      </p:sp>
      <p:sp>
        <p:nvSpPr>
          <p:cNvPr id="9" name="Text 5"/>
          <p:cNvSpPr txBox="1"/>
          <p:nvPr/>
        </p:nvSpPr>
        <p:spPr>
          <a:xfrm>
            <a:off x="649224" y="4069080"/>
            <a:ext cx="4754880" cy="566928"/>
          </a:xfrm>
          <a:prstGeom prst="rect">
            <a:avLst/>
          </a:prstGeom>
          <a:noFill/>
          <a:ln/>
        </p:spPr>
        <p:txBody>
          <a:bodyPr wrap="square" lIns="0" tIns="0" rIns="0" bIns="0" rtlCol="0" anchor="t">
            <a:normAutofit/>
          </a:bodyPr>
          <a:lstStyle/>
          <a:p>
            <a:pPr indent="0" marL="0">
              <a:buNone/>
            </a:pPr>
            <a:r>
              <a:rPr lang="en-US" sz="1250" dirty="0">
                <a:solidFill>
                  <a:srgbClr val="E4E9EE"/>
                </a:solidFill>
                <a:latin typeface="Arial" pitchFamily="34" charset="0"/>
                <a:ea typeface="Arial" pitchFamily="34" charset="-122"/>
                <a:cs typeface="Arial" pitchFamily="34" charset="-120"/>
              </a:rPr>
              <a:t>Multilingual citizen requests become explainable, human-decided infrastructure recommendations.</a:t>
            </a:r>
            <a:endParaRPr lang="en-US" sz="1250" dirty="0"/>
          </a:p>
        </p:txBody>
      </p:sp>
      <p:sp>
        <p:nvSpPr>
          <p:cNvPr id="10" name="Shape 6"/>
          <p:cNvSpPr/>
          <p:nvPr/>
        </p:nvSpPr>
        <p:spPr>
          <a:xfrm>
            <a:off x="649224" y="4937760"/>
            <a:ext cx="1243584" cy="310896"/>
          </a:xfrm>
          <a:prstGeom prst="roundRect">
            <a:avLst>
              <a:gd name="adj" fmla="val 23529"/>
            </a:avLst>
          </a:prstGeom>
          <a:solidFill>
            <a:srgbClr val="2A4A63"/>
          </a:solidFill>
          <a:ln/>
        </p:spPr>
      </p:sp>
      <p:sp>
        <p:nvSpPr>
          <p:cNvPr id="11" name="Text 7"/>
          <p:cNvSpPr txBox="1"/>
          <p:nvPr/>
        </p:nvSpPr>
        <p:spPr>
          <a:xfrm>
            <a:off x="649224" y="4937760"/>
            <a:ext cx="1243584" cy="310896"/>
          </a:xfrm>
          <a:prstGeom prst="rect">
            <a:avLst/>
          </a:prstGeom>
          <a:noFill/>
          <a:ln/>
        </p:spPr>
        <p:txBody>
          <a:bodyPr wrap="square" lIns="0" tIns="0" rIns="0" bIns="0" rtlCol="0" anchor="ctr"/>
          <a:lstStyle/>
          <a:p>
            <a:pPr algn="ctr" indent="0" marL="0">
              <a:buNone/>
            </a:pPr>
            <a:r>
              <a:rPr lang="en-US" sz="750" b="1" spc="50" kern="0" dirty="0">
                <a:solidFill>
                  <a:srgbClr val="DDE6EC"/>
                </a:solidFill>
                <a:latin typeface="Arial" pitchFamily="34" charset="0"/>
                <a:ea typeface="Arial" pitchFamily="34" charset="-122"/>
                <a:cs typeface="Arial" pitchFamily="34" charset="-120"/>
              </a:rPr>
              <a:t>GEMINI ON VERTEX AI</a:t>
            </a:r>
            <a:endParaRPr lang="en-US" sz="750" dirty="0"/>
          </a:p>
        </p:txBody>
      </p:sp>
      <p:sp>
        <p:nvSpPr>
          <p:cNvPr id="12" name="Shape 8"/>
          <p:cNvSpPr/>
          <p:nvPr/>
        </p:nvSpPr>
        <p:spPr>
          <a:xfrm>
            <a:off x="2020824" y="4937760"/>
            <a:ext cx="1243584" cy="310896"/>
          </a:xfrm>
          <a:prstGeom prst="roundRect">
            <a:avLst>
              <a:gd name="adj" fmla="val 23529"/>
            </a:avLst>
          </a:prstGeom>
          <a:solidFill>
            <a:srgbClr val="2A4A63"/>
          </a:solidFill>
          <a:ln/>
        </p:spPr>
      </p:sp>
      <p:sp>
        <p:nvSpPr>
          <p:cNvPr id="13" name="Text 9"/>
          <p:cNvSpPr txBox="1"/>
          <p:nvPr/>
        </p:nvSpPr>
        <p:spPr>
          <a:xfrm>
            <a:off x="2020824" y="4937760"/>
            <a:ext cx="1243584" cy="310896"/>
          </a:xfrm>
          <a:prstGeom prst="rect">
            <a:avLst/>
          </a:prstGeom>
          <a:noFill/>
          <a:ln/>
        </p:spPr>
        <p:txBody>
          <a:bodyPr wrap="square" lIns="0" tIns="0" rIns="0" bIns="0" rtlCol="0" anchor="ctr"/>
          <a:lstStyle/>
          <a:p>
            <a:pPr algn="ctr" indent="0" marL="0">
              <a:buNone/>
            </a:pPr>
            <a:r>
              <a:rPr lang="en-US" sz="750" b="1" spc="50" kern="0" dirty="0">
                <a:solidFill>
                  <a:srgbClr val="DDE6EC"/>
                </a:solidFill>
                <a:latin typeface="Arial" pitchFamily="34" charset="0"/>
                <a:ea typeface="Arial" pitchFamily="34" charset="-122"/>
                <a:cs typeface="Arial" pitchFamily="34" charset="-120"/>
              </a:rPr>
              <a:t>HUMAN-DECIDED</a:t>
            </a:r>
            <a:endParaRPr lang="en-US" sz="750" dirty="0"/>
          </a:p>
        </p:txBody>
      </p:sp>
      <p:sp>
        <p:nvSpPr>
          <p:cNvPr id="14" name="Text 10"/>
          <p:cNvSpPr txBox="1"/>
          <p:nvPr/>
        </p:nvSpPr>
        <p:spPr>
          <a:xfrm>
            <a:off x="649224" y="5989320"/>
            <a:ext cx="4846320" cy="146304"/>
          </a:xfrm>
          <a:prstGeom prst="rect">
            <a:avLst/>
          </a:prstGeom>
          <a:noFill/>
          <a:ln/>
        </p:spPr>
        <p:txBody>
          <a:bodyPr wrap="square" lIns="0" tIns="0" rIns="0" bIns="0" rtlCol="0" anchor="t"/>
          <a:lstStyle/>
          <a:p>
            <a:pPr indent="0" marL="0">
              <a:buNone/>
            </a:pPr>
            <a:r>
              <a:rPr lang="en-US" sz="750" dirty="0">
                <a:solidFill>
                  <a:srgbClr val="C9D2DA"/>
                </a:solidFill>
                <a:latin typeface="Arial" pitchFamily="34" charset="0"/>
                <a:ea typeface="Arial" pitchFamily="34" charset="-122"/>
                <a:cs typeface="Arial" pitchFamily="34" charset="-120"/>
              </a:rPr>
              <a:t>A prototype by Spontom Enterprise Private Limited</a:t>
            </a:r>
            <a:endParaRPr lang="en-US" sz="750" dirty="0"/>
          </a:p>
        </p:txBody>
      </p:sp>
      <p:sp>
        <p:nvSpPr>
          <p:cNvPr id="15" name="Text 11"/>
          <p:cNvSpPr txBox="1"/>
          <p:nvPr/>
        </p:nvSpPr>
        <p:spPr>
          <a:xfrm>
            <a:off x="649224" y="6217920"/>
            <a:ext cx="4846320" cy="128016"/>
          </a:xfrm>
          <a:prstGeom prst="rect">
            <a:avLst/>
          </a:prstGeom>
          <a:noFill/>
          <a:ln/>
        </p:spPr>
        <p:txBody>
          <a:bodyPr wrap="square" lIns="0" tIns="0" rIns="0" bIns="0" rtlCol="0" anchor="t"/>
          <a:lstStyle/>
          <a:p>
            <a:pPr indent="0" marL="0">
              <a:buNone/>
            </a:pPr>
            <a:r>
              <a:rPr lang="en-US" sz="650" dirty="0">
                <a:solidFill>
                  <a:srgbClr val="8FA0B0"/>
                </a:solidFill>
                <a:latin typeface="Arial" pitchFamily="34" charset="0"/>
                <a:ea typeface="Arial" pitchFamily="34" charset="-122"/>
                <a:cs typeface="Arial" pitchFamily="34" charset="-120"/>
              </a:rPr>
              <a:t>DPIIT Recognised  •  Visakhapatnam  •  September 2026</a:t>
            </a:r>
            <a:endParaRPr lang="en-US" sz="650" dirty="0"/>
          </a:p>
        </p:txBody>
      </p:sp>
      <p:sp>
        <p:nvSpPr>
          <p:cNvPr id="16" name="Shape 12"/>
          <p:cNvSpPr/>
          <p:nvPr/>
        </p:nvSpPr>
        <p:spPr>
          <a:xfrm>
            <a:off x="5897880" y="6291072"/>
            <a:ext cx="6065215" cy="329184"/>
          </a:xfrm>
          <a:prstGeom prst="roundRect">
            <a:avLst>
              <a:gd name="adj" fmla="val 16667"/>
            </a:avLst>
          </a:prstGeom>
          <a:solidFill>
            <a:srgbClr val="1B3149"/>
          </a:solidFill>
          <a:ln/>
        </p:spPr>
      </p:sp>
      <p:sp>
        <p:nvSpPr>
          <p:cNvPr id="17" name="Text 13"/>
          <p:cNvSpPr txBox="1"/>
          <p:nvPr/>
        </p:nvSpPr>
        <p:spPr>
          <a:xfrm>
            <a:off x="6035040" y="6291072"/>
            <a:ext cx="5790895" cy="329184"/>
          </a:xfrm>
          <a:prstGeom prst="rect">
            <a:avLst/>
          </a:prstGeom>
          <a:noFill/>
          <a:ln/>
        </p:spPr>
        <p:txBody>
          <a:bodyPr wrap="square" lIns="0" tIns="0" rIns="0" bIns="0" rtlCol="0" anchor="ctr"/>
          <a:lstStyle/>
          <a:p>
            <a:pPr indent="0" marL="0">
              <a:buNone/>
            </a:pPr>
            <a:r>
              <a:rPr lang="en-US" sz="850" dirty="0">
                <a:solidFill>
                  <a:srgbClr val="FFFFFF"/>
                </a:solidFill>
                <a:latin typeface="Arial" pitchFamily="34" charset="0"/>
                <a:ea typeface="Arial" pitchFamily="34" charset="-122"/>
                <a:cs typeface="Arial" pitchFamily="34" charset="-120"/>
              </a:rPr>
              <a:t>Illustrative image generated with Gemini 2.5 Flash Image (Google)</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01 — PROBLEM UNDERSTANDING</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civic-demand-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Citizens ask. Nobody adds the requests up.</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Development needs arrive through many channels and languages and rarely reach the planning table as evidence.</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Numbers: Sonbarsa cluster in JanVaani’s synthetic sample data, not official statistics.  [1] Track 1 brief and PRD §2.  [2] CPGRAMS.</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JANVAANI</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2</a:t>
            </a:r>
            <a:endParaRPr lang="en-US" sz="650" dirty="0"/>
          </a:p>
        </p:txBody>
      </p:sp>
      <p:sp>
        <p:nvSpPr>
          <p:cNvPr id="15" name="Shape 11"/>
          <p:cNvSpPr/>
          <p:nvPr/>
        </p:nvSpPr>
        <p:spPr>
          <a:xfrm>
            <a:off x="612648" y="1709928"/>
            <a:ext cx="3986784" cy="4233672"/>
          </a:xfrm>
          <a:prstGeom prst="roundRect">
            <a:avLst>
              <a:gd name="adj" fmla="val 2294"/>
            </a:avLst>
          </a:prstGeom>
          <a:solidFill>
            <a:srgbClr val="1B3149"/>
          </a:solidFill>
          <a:ln/>
        </p:spPr>
      </p:sp>
      <p:sp>
        <p:nvSpPr>
          <p:cNvPr id="16" name="Text 12"/>
          <p:cNvSpPr txBox="1"/>
          <p:nvPr/>
        </p:nvSpPr>
        <p:spPr>
          <a:xfrm>
            <a:off x="914400" y="2057400"/>
            <a:ext cx="3474720" cy="868680"/>
          </a:xfrm>
          <a:prstGeom prst="rect">
            <a:avLst/>
          </a:prstGeom>
          <a:noFill/>
          <a:ln/>
        </p:spPr>
        <p:txBody>
          <a:bodyPr wrap="square" lIns="0" tIns="0" rIns="0" bIns="0" rtlCol="0" anchor="t">
            <a:normAutofit/>
          </a:bodyPr>
          <a:lstStyle/>
          <a:p>
            <a:pPr indent="0" marL="0">
              <a:buNone/>
            </a:pPr>
            <a:r>
              <a:rPr lang="en-US" sz="2100" b="1" dirty="0">
                <a:solidFill>
                  <a:srgbClr val="FFFFFF"/>
                </a:solidFill>
                <a:latin typeface="Arial" pitchFamily="34" charset="0"/>
                <a:ea typeface="Arial" pitchFamily="34" charset="-122"/>
                <a:cs typeface="Arial" pitchFamily="34" charset="-120"/>
              </a:rPr>
              <a:t>One unbridged river, many voices, no project.</a:t>
            </a:r>
            <a:endParaRPr lang="en-US" sz="2100" dirty="0"/>
          </a:p>
        </p:txBody>
      </p:sp>
      <p:sp>
        <p:nvSpPr>
          <p:cNvPr id="17" name="Shape 13"/>
          <p:cNvSpPr/>
          <p:nvPr/>
        </p:nvSpPr>
        <p:spPr>
          <a:xfrm>
            <a:off x="914400" y="3063240"/>
            <a:ext cx="1005840" cy="45720"/>
          </a:xfrm>
          <a:prstGeom prst="rect">
            <a:avLst/>
          </a:prstGeom>
          <a:solidFill>
            <a:srgbClr val="E8694A"/>
          </a:solidFill>
          <a:ln/>
        </p:spPr>
      </p:sp>
      <p:sp>
        <p:nvSpPr>
          <p:cNvPr id="18" name="Text 14"/>
          <p:cNvSpPr txBox="1"/>
          <p:nvPr/>
        </p:nvSpPr>
        <p:spPr>
          <a:xfrm>
            <a:off x="914400" y="3383280"/>
            <a:ext cx="1097280" cy="457200"/>
          </a:xfrm>
          <a:prstGeom prst="rect">
            <a:avLst/>
          </a:prstGeom>
          <a:noFill/>
          <a:ln/>
        </p:spPr>
        <p:txBody>
          <a:bodyPr wrap="square" lIns="0" tIns="0" rIns="0" bIns="0" rtlCol="0" anchor="t">
            <a:normAutofit/>
          </a:bodyPr>
          <a:lstStyle/>
          <a:p>
            <a:pPr algn="ctr" indent="0" marL="0">
              <a:buNone/>
            </a:pPr>
            <a:r>
              <a:rPr lang="en-US" sz="2800" b="1" dirty="0">
                <a:solidFill>
                  <a:srgbClr val="9ED8CC"/>
                </a:solidFill>
                <a:latin typeface="Arial" pitchFamily="34" charset="0"/>
                <a:ea typeface="Arial" pitchFamily="34" charset="-122"/>
                <a:cs typeface="Arial" pitchFamily="34" charset="-120"/>
              </a:rPr>
              <a:t>146</a:t>
            </a:r>
            <a:endParaRPr lang="en-US" sz="2800" dirty="0"/>
          </a:p>
        </p:txBody>
      </p:sp>
      <p:sp>
        <p:nvSpPr>
          <p:cNvPr id="19" name="Text 15"/>
          <p:cNvSpPr txBox="1"/>
          <p:nvPr/>
        </p:nvSpPr>
        <p:spPr>
          <a:xfrm>
            <a:off x="914400" y="3886200"/>
            <a:ext cx="1097280" cy="274320"/>
          </a:xfrm>
          <a:prstGeom prst="rect">
            <a:avLst/>
          </a:prstGeom>
          <a:noFill/>
          <a:ln/>
        </p:spPr>
        <p:txBody>
          <a:bodyPr wrap="square" lIns="0" tIns="0" rIns="0" bIns="0" rtlCol="0" anchor="t">
            <a:norm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requests</a:t>
            </a:r>
            <a:endParaRPr lang="en-US" sz="900" dirty="0"/>
          </a:p>
        </p:txBody>
      </p:sp>
      <p:sp>
        <p:nvSpPr>
          <p:cNvPr id="20" name="Text 16"/>
          <p:cNvSpPr txBox="1"/>
          <p:nvPr/>
        </p:nvSpPr>
        <p:spPr>
          <a:xfrm>
            <a:off x="2084832" y="3383280"/>
            <a:ext cx="1097280" cy="457200"/>
          </a:xfrm>
          <a:prstGeom prst="rect">
            <a:avLst/>
          </a:prstGeom>
          <a:noFill/>
          <a:ln/>
        </p:spPr>
        <p:txBody>
          <a:bodyPr wrap="square" lIns="0" tIns="0" rIns="0" bIns="0" rtlCol="0" anchor="t">
            <a:normAutofit/>
          </a:bodyPr>
          <a:lstStyle/>
          <a:p>
            <a:pPr algn="ctr" indent="0" marL="0">
              <a:buNone/>
            </a:pPr>
            <a:r>
              <a:rPr lang="en-US" sz="2800" b="1" dirty="0">
                <a:solidFill>
                  <a:srgbClr val="9ED8CC"/>
                </a:solidFill>
                <a:latin typeface="Arial" pitchFamily="34" charset="0"/>
                <a:ea typeface="Arial" pitchFamily="34" charset="-122"/>
                <a:cs typeface="Arial" pitchFamily="34" charset="-120"/>
              </a:rPr>
              <a:t>132</a:t>
            </a:r>
            <a:endParaRPr lang="en-US" sz="2800" dirty="0"/>
          </a:p>
        </p:txBody>
      </p:sp>
      <p:sp>
        <p:nvSpPr>
          <p:cNvPr id="21" name="Text 17"/>
          <p:cNvSpPr txBox="1"/>
          <p:nvPr/>
        </p:nvSpPr>
        <p:spPr>
          <a:xfrm>
            <a:off x="2084832" y="3886200"/>
            <a:ext cx="1097280" cy="274320"/>
          </a:xfrm>
          <a:prstGeom prst="rect">
            <a:avLst/>
          </a:prstGeom>
          <a:noFill/>
          <a:ln/>
        </p:spPr>
        <p:txBody>
          <a:bodyPr wrap="square" lIns="0" tIns="0" rIns="0" bIns="0" rtlCol="0" anchor="t">
            <a:norm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citizens</a:t>
            </a:r>
            <a:endParaRPr lang="en-US" sz="900" dirty="0"/>
          </a:p>
        </p:txBody>
      </p:sp>
      <p:sp>
        <p:nvSpPr>
          <p:cNvPr id="22" name="Text 18"/>
          <p:cNvSpPr txBox="1"/>
          <p:nvPr/>
        </p:nvSpPr>
        <p:spPr>
          <a:xfrm>
            <a:off x="3255264" y="3383280"/>
            <a:ext cx="1097280" cy="457200"/>
          </a:xfrm>
          <a:prstGeom prst="rect">
            <a:avLst/>
          </a:prstGeom>
          <a:noFill/>
          <a:ln/>
        </p:spPr>
        <p:txBody>
          <a:bodyPr wrap="square" lIns="0" tIns="0" rIns="0" bIns="0" rtlCol="0" anchor="t">
            <a:normAutofit/>
          </a:bodyPr>
          <a:lstStyle/>
          <a:p>
            <a:pPr algn="ctr" indent="0" marL="0">
              <a:buNone/>
            </a:pPr>
            <a:r>
              <a:rPr lang="en-US" sz="2800" b="1" dirty="0">
                <a:solidFill>
                  <a:srgbClr val="F3CB7A"/>
                </a:solidFill>
                <a:latin typeface="Arial" pitchFamily="34" charset="0"/>
                <a:ea typeface="Arial" pitchFamily="34" charset="-122"/>
                <a:cs typeface="Arial" pitchFamily="34" charset="-120"/>
              </a:rPr>
              <a:t>0</a:t>
            </a:r>
            <a:endParaRPr lang="en-US" sz="2800" dirty="0"/>
          </a:p>
        </p:txBody>
      </p:sp>
      <p:sp>
        <p:nvSpPr>
          <p:cNvPr id="23" name="Text 19"/>
          <p:cNvSpPr txBox="1"/>
          <p:nvPr/>
        </p:nvSpPr>
        <p:spPr>
          <a:xfrm>
            <a:off x="3255264" y="3886200"/>
            <a:ext cx="1097280" cy="274320"/>
          </a:xfrm>
          <a:prstGeom prst="rect">
            <a:avLst/>
          </a:prstGeom>
          <a:noFill/>
          <a:ln/>
        </p:spPr>
        <p:txBody>
          <a:bodyPr wrap="square" lIns="0" tIns="0" rIns="0" bIns="0" rtlCol="0" anchor="t">
            <a:norm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projects on record</a:t>
            </a:r>
            <a:endParaRPr lang="en-US" sz="900" dirty="0"/>
          </a:p>
        </p:txBody>
      </p:sp>
      <p:sp>
        <p:nvSpPr>
          <p:cNvPr id="24" name="Text 20"/>
          <p:cNvSpPr txBox="1"/>
          <p:nvPr/>
        </p:nvSpPr>
        <p:spPr>
          <a:xfrm>
            <a:off x="914400" y="4389120"/>
            <a:ext cx="3474720" cy="822960"/>
          </a:xfrm>
          <a:prstGeom prst="rect">
            <a:avLst/>
          </a:prstGeom>
          <a:noFill/>
          <a:ln/>
        </p:spPr>
        <p:txBody>
          <a:bodyPr wrap="square" lIns="0" tIns="0" rIns="0" bIns="0" rtlCol="0" anchor="t">
            <a:normAutofit/>
          </a:bodyPr>
          <a:lstStyle/>
          <a:p>
            <a:pPr indent="0" marL="0">
              <a:buNone/>
            </a:pPr>
            <a:r>
              <a:rPr lang="en-US" sz="1200" dirty="0">
                <a:solidFill>
                  <a:srgbClr val="E4E9EE"/>
                </a:solidFill>
                <a:latin typeface="Arial" pitchFamily="34" charset="0"/>
                <a:ea typeface="Arial" pitchFamily="34" charset="-122"/>
                <a:cs typeface="Arial" pitchFamily="34" charset="-120"/>
              </a:rPr>
              <a:t>Sonbarsa, Gaya: every monsoon the river cuts the village off and children miss school. Each request arrives alone.</a:t>
            </a:r>
            <a:endParaRPr lang="en-US" sz="1200" dirty="0"/>
          </a:p>
        </p:txBody>
      </p:sp>
      <p:sp>
        <p:nvSpPr>
          <p:cNvPr id="25" name="Shape 21"/>
          <p:cNvSpPr/>
          <p:nvPr/>
        </p:nvSpPr>
        <p:spPr>
          <a:xfrm>
            <a:off x="914400" y="5349240"/>
            <a:ext cx="1554480" cy="310896"/>
          </a:xfrm>
          <a:prstGeom prst="roundRect">
            <a:avLst>
              <a:gd name="adj" fmla="val 23529"/>
            </a:avLst>
          </a:prstGeom>
          <a:solidFill>
            <a:srgbClr val="E8694A"/>
          </a:solidFill>
          <a:ln/>
        </p:spPr>
      </p:sp>
      <p:sp>
        <p:nvSpPr>
          <p:cNvPr id="26" name="Text 22"/>
          <p:cNvSpPr txBox="1"/>
          <p:nvPr/>
        </p:nvSpPr>
        <p:spPr>
          <a:xfrm>
            <a:off x="914400" y="5349240"/>
            <a:ext cx="1554480" cy="310896"/>
          </a:xfrm>
          <a:prstGeom prst="rect">
            <a:avLst/>
          </a:prstGeom>
          <a:noFill/>
          <a:ln/>
        </p:spPr>
        <p:txBody>
          <a:bodyPr wrap="square" lIns="0" tIns="0" rIns="0" bIns="0" rtlCol="0" anchor="ctr"/>
          <a:lstStyle/>
          <a:p>
            <a:pPr algn="ctr" indent="0" marL="0">
              <a:buNone/>
            </a:pPr>
            <a:r>
              <a:rPr lang="en-US" sz="800" b="1" spc="50" kern="0" dirty="0">
                <a:solidFill>
                  <a:srgbClr val="FFFFFF"/>
                </a:solidFill>
                <a:latin typeface="Arial" pitchFamily="34" charset="0"/>
                <a:ea typeface="Arial" pitchFamily="34" charset="-122"/>
                <a:cs typeface="Arial" pitchFamily="34" charset="-120"/>
              </a:rPr>
              <a:t>THE AGGREGATION GAP</a:t>
            </a:r>
            <a:endParaRPr lang="en-US" sz="800" dirty="0"/>
          </a:p>
        </p:txBody>
      </p:sp>
      <p:sp>
        <p:nvSpPr>
          <p:cNvPr id="27" name="Shape 23"/>
          <p:cNvSpPr/>
          <p:nvPr/>
        </p:nvSpPr>
        <p:spPr>
          <a:xfrm>
            <a:off x="4992624" y="2093976"/>
            <a:ext cx="1362456" cy="1344168"/>
          </a:xfrm>
          <a:prstGeom prst="roundRect">
            <a:avLst>
              <a:gd name="adj" fmla="val 6803"/>
            </a:avLst>
          </a:prstGeom>
          <a:solidFill>
            <a:srgbClr val="FFFDF7"/>
          </a:solidFill>
          <a:ln w="9525">
            <a:solidFill>
              <a:srgbClr val="DCD5C5"/>
            </a:solidFill>
            <a:prstDash val="solid"/>
          </a:ln>
        </p:spPr>
      </p:sp>
      <p:sp>
        <p:nvSpPr>
          <p:cNvPr id="28" name="Text 24"/>
          <p:cNvSpPr txBox="1"/>
          <p:nvPr/>
        </p:nvSpPr>
        <p:spPr>
          <a:xfrm>
            <a:off x="5084064" y="2331720"/>
            <a:ext cx="1179576" cy="274320"/>
          </a:xfrm>
          <a:prstGeom prst="rect">
            <a:avLst/>
          </a:prstGeom>
          <a:noFill/>
          <a:ln/>
        </p:spPr>
        <p:txBody>
          <a:bodyPr wrap="square" lIns="0" tIns="0" rIns="0" bIns="0" rtlCol="0" anchor="t">
            <a:normAutofit/>
          </a:bodyPr>
          <a:lstStyle/>
          <a:p>
            <a:pPr algn="ctr" indent="0" marL="0">
              <a:buNone/>
            </a:pPr>
            <a:r>
              <a:rPr lang="en-US" sz="1500" b="1" dirty="0">
                <a:solidFill>
                  <a:srgbClr val="1B3149"/>
                </a:solidFill>
                <a:latin typeface="Arial" pitchFamily="34" charset="0"/>
                <a:ea typeface="Arial" pitchFamily="34" charset="-122"/>
                <a:cs typeface="Arial" pitchFamily="34" charset="-120"/>
              </a:rPr>
              <a:t>ASK</a:t>
            </a:r>
            <a:endParaRPr lang="en-US" sz="1500" dirty="0"/>
          </a:p>
        </p:txBody>
      </p:sp>
      <p:sp>
        <p:nvSpPr>
          <p:cNvPr id="29" name="Text 25"/>
          <p:cNvSpPr txBox="1"/>
          <p:nvPr/>
        </p:nvSpPr>
        <p:spPr>
          <a:xfrm>
            <a:off x="5084064" y="2761488"/>
            <a:ext cx="1179576" cy="502920"/>
          </a:xfrm>
          <a:prstGeom prst="rect">
            <a:avLst/>
          </a:prstGeom>
          <a:noFill/>
          <a:ln/>
        </p:spPr>
        <p:txBody>
          <a:bodyPr wrap="square" lIns="0" tIns="0" rIns="0" bIns="0" rtlCol="0" anchor="t">
            <a:normAutofit/>
          </a:bodyPr>
          <a:lstStyle/>
          <a:p>
            <a:pPr algn="ctr" indent="0" marL="0">
              <a:buNone/>
            </a:pPr>
            <a:r>
              <a:rPr lang="en-US" sz="950" dirty="0">
                <a:solidFill>
                  <a:srgbClr val="6B6B6B"/>
                </a:solidFill>
                <a:latin typeface="Arial" pitchFamily="34" charset="0"/>
                <a:ea typeface="Arial" pitchFamily="34" charset="-122"/>
                <a:cs typeface="Arial" pitchFamily="34" charset="-120"/>
              </a:rPr>
              <a:t>Portal, helpline, Gram Sabha, chat</a:t>
            </a:r>
            <a:endParaRPr lang="en-US" sz="950" dirty="0"/>
          </a:p>
        </p:txBody>
      </p:sp>
      <p:sp>
        <p:nvSpPr>
          <p:cNvPr id="30" name="Text 26"/>
          <p:cNvSpPr txBox="1"/>
          <p:nvPr/>
        </p:nvSpPr>
        <p:spPr>
          <a:xfrm>
            <a:off x="6355080" y="2560320"/>
            <a:ext cx="256032" cy="320040"/>
          </a:xfrm>
          <a:prstGeom prst="rect">
            <a:avLst/>
          </a:prstGeom>
          <a:noFill/>
          <a:ln/>
        </p:spPr>
        <p:txBody>
          <a:bodyPr wrap="square" lIns="0" tIns="0" rIns="0" bIns="0" rtlCol="0" anchor="t"/>
          <a:lstStyle/>
          <a:p>
            <a:pPr algn="ctr" indent="0" marL="0">
              <a:buNone/>
            </a:pPr>
            <a:r>
              <a:rPr lang="en-US" sz="1600" b="1" dirty="0">
                <a:solidFill>
                  <a:srgbClr val="E8694A"/>
                </a:solidFill>
                <a:latin typeface="Arial" pitchFamily="34" charset="0"/>
                <a:ea typeface="Arial" pitchFamily="34" charset="-122"/>
                <a:cs typeface="Arial" pitchFamily="34" charset="-120"/>
              </a:rPr>
              <a:t>›</a:t>
            </a:r>
            <a:endParaRPr lang="en-US" sz="1600" dirty="0"/>
          </a:p>
        </p:txBody>
      </p:sp>
      <p:sp>
        <p:nvSpPr>
          <p:cNvPr id="31" name="Shape 27"/>
          <p:cNvSpPr/>
          <p:nvPr/>
        </p:nvSpPr>
        <p:spPr>
          <a:xfrm>
            <a:off x="6611112" y="2093976"/>
            <a:ext cx="1362456" cy="1344168"/>
          </a:xfrm>
          <a:prstGeom prst="roundRect">
            <a:avLst>
              <a:gd name="adj" fmla="val 6803"/>
            </a:avLst>
          </a:prstGeom>
          <a:solidFill>
            <a:srgbClr val="FFFDF7"/>
          </a:solidFill>
          <a:ln w="9525">
            <a:solidFill>
              <a:srgbClr val="DCD5C5"/>
            </a:solidFill>
            <a:prstDash val="solid"/>
          </a:ln>
        </p:spPr>
      </p:sp>
      <p:sp>
        <p:nvSpPr>
          <p:cNvPr id="32" name="Text 28"/>
          <p:cNvSpPr txBox="1"/>
          <p:nvPr/>
        </p:nvSpPr>
        <p:spPr>
          <a:xfrm>
            <a:off x="6702552" y="2331720"/>
            <a:ext cx="1179576" cy="274320"/>
          </a:xfrm>
          <a:prstGeom prst="rect">
            <a:avLst/>
          </a:prstGeom>
          <a:noFill/>
          <a:ln/>
        </p:spPr>
        <p:txBody>
          <a:bodyPr wrap="square" lIns="0" tIns="0" rIns="0" bIns="0" rtlCol="0" anchor="t">
            <a:normAutofit/>
          </a:bodyPr>
          <a:lstStyle/>
          <a:p>
            <a:pPr algn="ctr" indent="0" marL="0">
              <a:buNone/>
            </a:pPr>
            <a:r>
              <a:rPr lang="en-US" sz="1500" b="1" dirty="0">
                <a:solidFill>
                  <a:srgbClr val="1B3149"/>
                </a:solidFill>
                <a:latin typeface="Arial" pitchFamily="34" charset="0"/>
                <a:ea typeface="Arial" pitchFamily="34" charset="-122"/>
                <a:cs typeface="Arial" pitchFamily="34" charset="-120"/>
              </a:rPr>
              <a:t>SCATTER</a:t>
            </a:r>
            <a:endParaRPr lang="en-US" sz="1500" dirty="0"/>
          </a:p>
        </p:txBody>
      </p:sp>
      <p:sp>
        <p:nvSpPr>
          <p:cNvPr id="33" name="Text 29"/>
          <p:cNvSpPr txBox="1"/>
          <p:nvPr/>
        </p:nvSpPr>
        <p:spPr>
          <a:xfrm>
            <a:off x="6702552" y="2761488"/>
            <a:ext cx="1179576" cy="502920"/>
          </a:xfrm>
          <a:prstGeom prst="rect">
            <a:avLst/>
          </a:prstGeom>
          <a:noFill/>
          <a:ln/>
        </p:spPr>
        <p:txBody>
          <a:bodyPr wrap="square" lIns="0" tIns="0" rIns="0" bIns="0" rtlCol="0" anchor="t">
            <a:normAutofit/>
          </a:bodyPr>
          <a:lstStyle/>
          <a:p>
            <a:pPr algn="ctr" indent="0" marL="0">
              <a:buNone/>
            </a:pPr>
            <a:r>
              <a:rPr lang="en-US" sz="950" dirty="0">
                <a:solidFill>
                  <a:srgbClr val="6B6B6B"/>
                </a:solidFill>
                <a:latin typeface="Arial" pitchFamily="34" charset="0"/>
                <a:ea typeface="Arial" pitchFamily="34" charset="-122"/>
                <a:cs typeface="Arial" pitchFamily="34" charset="-120"/>
              </a:rPr>
              <a:t>Many channels, many languages</a:t>
            </a:r>
            <a:endParaRPr lang="en-US" sz="950" dirty="0"/>
          </a:p>
        </p:txBody>
      </p:sp>
      <p:sp>
        <p:nvSpPr>
          <p:cNvPr id="34" name="Text 30"/>
          <p:cNvSpPr txBox="1"/>
          <p:nvPr/>
        </p:nvSpPr>
        <p:spPr>
          <a:xfrm>
            <a:off x="7973568" y="2560320"/>
            <a:ext cx="256032" cy="320040"/>
          </a:xfrm>
          <a:prstGeom prst="rect">
            <a:avLst/>
          </a:prstGeom>
          <a:noFill/>
          <a:ln/>
        </p:spPr>
        <p:txBody>
          <a:bodyPr wrap="square" lIns="0" tIns="0" rIns="0" bIns="0" rtlCol="0" anchor="t"/>
          <a:lstStyle/>
          <a:p>
            <a:pPr algn="ctr" indent="0" marL="0">
              <a:buNone/>
            </a:pPr>
            <a:r>
              <a:rPr lang="en-US" sz="1600" b="1" dirty="0">
                <a:solidFill>
                  <a:srgbClr val="E8694A"/>
                </a:solidFill>
                <a:latin typeface="Arial" pitchFamily="34" charset="0"/>
                <a:ea typeface="Arial" pitchFamily="34" charset="-122"/>
                <a:cs typeface="Arial" pitchFamily="34" charset="-120"/>
              </a:rPr>
              <a:t>›</a:t>
            </a:r>
            <a:endParaRPr lang="en-US" sz="1600" dirty="0"/>
          </a:p>
        </p:txBody>
      </p:sp>
      <p:sp>
        <p:nvSpPr>
          <p:cNvPr id="35" name="Shape 31"/>
          <p:cNvSpPr/>
          <p:nvPr/>
        </p:nvSpPr>
        <p:spPr>
          <a:xfrm>
            <a:off x="8229600" y="2093976"/>
            <a:ext cx="1362456" cy="1344168"/>
          </a:xfrm>
          <a:prstGeom prst="roundRect">
            <a:avLst>
              <a:gd name="adj" fmla="val 6803"/>
            </a:avLst>
          </a:prstGeom>
          <a:solidFill>
            <a:srgbClr val="FBE6DE"/>
          </a:solidFill>
          <a:ln w="9525">
            <a:solidFill>
              <a:srgbClr val="E8694A"/>
            </a:solidFill>
            <a:prstDash val="solid"/>
          </a:ln>
        </p:spPr>
      </p:sp>
      <p:sp>
        <p:nvSpPr>
          <p:cNvPr id="36" name="Text 32"/>
          <p:cNvSpPr txBox="1"/>
          <p:nvPr/>
        </p:nvSpPr>
        <p:spPr>
          <a:xfrm>
            <a:off x="8321040" y="2331720"/>
            <a:ext cx="1179576" cy="274320"/>
          </a:xfrm>
          <a:prstGeom prst="rect">
            <a:avLst/>
          </a:prstGeom>
          <a:noFill/>
          <a:ln/>
        </p:spPr>
        <p:txBody>
          <a:bodyPr wrap="square" lIns="0" tIns="0" rIns="0" bIns="0" rtlCol="0" anchor="t">
            <a:normAutofit/>
          </a:bodyPr>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37" name="Text 33"/>
          <p:cNvSpPr txBox="1"/>
          <p:nvPr/>
        </p:nvSpPr>
        <p:spPr>
          <a:xfrm>
            <a:off x="8321040" y="2761488"/>
            <a:ext cx="1179576" cy="502920"/>
          </a:xfrm>
          <a:prstGeom prst="rect">
            <a:avLst/>
          </a:prstGeom>
          <a:noFill/>
          <a:ln/>
        </p:spPr>
        <p:txBody>
          <a:bodyPr wrap="square" lIns="0" tIns="0" rIns="0" bIns="0" rtlCol="0" anchor="t">
            <a:normAutofit/>
          </a:bodyPr>
          <a:lstStyle/>
          <a:p>
            <a:pPr algn="ctr" indent="0" marL="0">
              <a:buNone/>
            </a:pPr>
            <a:r>
              <a:rPr lang="en-US" sz="950" dirty="0">
                <a:solidFill>
                  <a:srgbClr val="6B6B6B"/>
                </a:solidFill>
                <a:latin typeface="Arial" pitchFamily="34" charset="0"/>
                <a:ea typeface="Arial" pitchFamily="34" charset="-122"/>
                <a:cs typeface="Arial" pitchFamily="34" charset="-120"/>
              </a:rPr>
              <a:t>Never deduplicated or set against gap data</a:t>
            </a:r>
            <a:endParaRPr lang="en-US" sz="950" dirty="0"/>
          </a:p>
        </p:txBody>
      </p:sp>
      <p:sp>
        <p:nvSpPr>
          <p:cNvPr id="38" name="Text 34"/>
          <p:cNvSpPr txBox="1"/>
          <p:nvPr/>
        </p:nvSpPr>
        <p:spPr>
          <a:xfrm>
            <a:off x="9592056" y="2560320"/>
            <a:ext cx="256032" cy="320040"/>
          </a:xfrm>
          <a:prstGeom prst="rect">
            <a:avLst/>
          </a:prstGeom>
          <a:noFill/>
          <a:ln/>
        </p:spPr>
        <p:txBody>
          <a:bodyPr wrap="square" lIns="0" tIns="0" rIns="0" bIns="0" rtlCol="0" anchor="t"/>
          <a:lstStyle/>
          <a:p>
            <a:pPr algn="ctr" indent="0" marL="0">
              <a:buNone/>
            </a:pPr>
            <a:r>
              <a:rPr lang="en-US" sz="1600" b="1" dirty="0">
                <a:solidFill>
                  <a:srgbClr val="E8694A"/>
                </a:solidFill>
                <a:latin typeface="Arial" pitchFamily="34" charset="0"/>
                <a:ea typeface="Arial" pitchFamily="34" charset="-122"/>
                <a:cs typeface="Arial" pitchFamily="34" charset="-120"/>
              </a:rPr>
              <a:t>›</a:t>
            </a:r>
            <a:endParaRPr lang="en-US" sz="1600" dirty="0"/>
          </a:p>
        </p:txBody>
      </p:sp>
      <p:sp>
        <p:nvSpPr>
          <p:cNvPr id="39" name="Shape 35"/>
          <p:cNvSpPr/>
          <p:nvPr/>
        </p:nvSpPr>
        <p:spPr>
          <a:xfrm>
            <a:off x="9848088" y="2093976"/>
            <a:ext cx="1362456" cy="1344168"/>
          </a:xfrm>
          <a:prstGeom prst="roundRect">
            <a:avLst>
              <a:gd name="adj" fmla="val 6803"/>
            </a:avLst>
          </a:prstGeom>
          <a:solidFill>
            <a:srgbClr val="FFFDF7"/>
          </a:solidFill>
          <a:ln w="9525">
            <a:solidFill>
              <a:srgbClr val="DCD5C5"/>
            </a:solidFill>
            <a:prstDash val="solid"/>
          </a:ln>
        </p:spPr>
      </p:sp>
      <p:sp>
        <p:nvSpPr>
          <p:cNvPr id="40" name="Text 36"/>
          <p:cNvSpPr txBox="1"/>
          <p:nvPr/>
        </p:nvSpPr>
        <p:spPr>
          <a:xfrm>
            <a:off x="9939528" y="2331720"/>
            <a:ext cx="1179576" cy="274320"/>
          </a:xfrm>
          <a:prstGeom prst="rect">
            <a:avLst/>
          </a:prstGeom>
          <a:noFill/>
          <a:ln/>
        </p:spPr>
        <p:txBody>
          <a:bodyPr wrap="square" lIns="0" tIns="0" rIns="0" bIns="0" rtlCol="0" anchor="t">
            <a:normAutofit/>
          </a:bodyPr>
          <a:lstStyle/>
          <a:p>
            <a:pPr algn="ctr" indent="0" marL="0">
              <a:buNone/>
            </a:pPr>
            <a:r>
              <a:rPr lang="en-US" sz="1500" b="1" dirty="0">
                <a:solidFill>
                  <a:srgbClr val="1B3149"/>
                </a:solidFill>
                <a:latin typeface="Arial" pitchFamily="34" charset="0"/>
                <a:ea typeface="Arial" pitchFamily="34" charset="-122"/>
                <a:cs typeface="Arial" pitchFamily="34" charset="-120"/>
              </a:rPr>
              <a:t>PLAN</a:t>
            </a:r>
            <a:endParaRPr lang="en-US" sz="1500" dirty="0"/>
          </a:p>
        </p:txBody>
      </p:sp>
      <p:sp>
        <p:nvSpPr>
          <p:cNvPr id="41" name="Text 37"/>
          <p:cNvSpPr txBox="1"/>
          <p:nvPr/>
        </p:nvSpPr>
        <p:spPr>
          <a:xfrm>
            <a:off x="9939528" y="2761488"/>
            <a:ext cx="1179576" cy="502920"/>
          </a:xfrm>
          <a:prstGeom prst="rect">
            <a:avLst/>
          </a:prstGeom>
          <a:noFill/>
          <a:ln/>
        </p:spPr>
        <p:txBody>
          <a:bodyPr wrap="square" lIns="0" tIns="0" rIns="0" bIns="0" rtlCol="0" anchor="t">
            <a:normAutofit/>
          </a:bodyPr>
          <a:lstStyle/>
          <a:p>
            <a:pPr algn="ctr" indent="0" marL="0">
              <a:buNone/>
            </a:pPr>
            <a:r>
              <a:rPr lang="en-US" sz="950" dirty="0">
                <a:solidFill>
                  <a:srgbClr val="6B6B6B"/>
                </a:solidFill>
                <a:latin typeface="Arial" pitchFamily="34" charset="0"/>
                <a:ea typeface="Arial" pitchFamily="34" charset="-122"/>
                <a:cs typeface="Arial" pitchFamily="34" charset="-120"/>
              </a:rPr>
              <a:t>Budgets follow other signals</a:t>
            </a:r>
            <a:endParaRPr lang="en-US" sz="950" dirty="0"/>
          </a:p>
        </p:txBody>
      </p:sp>
      <p:sp>
        <p:nvSpPr>
          <p:cNvPr id="42" name="Text 38"/>
          <p:cNvSpPr txBox="1"/>
          <p:nvPr/>
        </p:nvSpPr>
        <p:spPr>
          <a:xfrm>
            <a:off x="4992624" y="4005072"/>
            <a:ext cx="3657600" cy="164592"/>
          </a:xfrm>
          <a:prstGeom prst="rect">
            <a:avLst/>
          </a:prstGeom>
          <a:noFill/>
          <a:ln/>
        </p:spPr>
        <p:txBody>
          <a:bodyPr wrap="square" lIns="0" tIns="0" rIns="0" bIns="0" rtlCol="0" anchor="t"/>
          <a:lstStyle/>
          <a:p>
            <a:pPr indent="0" marL="0">
              <a:buNone/>
            </a:pPr>
            <a:r>
              <a:rPr lang="en-US" sz="850" b="1" spc="200" kern="0" dirty="0">
                <a:solidFill>
                  <a:srgbClr val="12796D"/>
                </a:solidFill>
                <a:latin typeface="Arial" pitchFamily="34" charset="0"/>
                <a:ea typeface="Arial" pitchFamily="34" charset="-122"/>
                <a:cs typeface="Arial" pitchFamily="34" charset="-120"/>
              </a:rPr>
              <a:t>FOCUSED PROBLEM</a:t>
            </a:r>
            <a:endParaRPr lang="en-US" sz="850" dirty="0"/>
          </a:p>
        </p:txBody>
      </p:sp>
      <p:sp>
        <p:nvSpPr>
          <p:cNvPr id="43" name="Text 39"/>
          <p:cNvSpPr txBox="1"/>
          <p:nvPr/>
        </p:nvSpPr>
        <p:spPr>
          <a:xfrm>
            <a:off x="4992624" y="4434840"/>
            <a:ext cx="6400800" cy="777240"/>
          </a:xfrm>
          <a:prstGeom prst="rect">
            <a:avLst/>
          </a:prstGeom>
          <a:noFill/>
          <a:ln/>
        </p:spPr>
        <p:txBody>
          <a:bodyPr wrap="square" lIns="0" tIns="0" rIns="0" bIns="0" rtlCol="0" anchor="t">
            <a:normAutofit/>
          </a:bodyPr>
          <a:lstStyle/>
          <a:p>
            <a:pPr indent="0" marL="0">
              <a:buNone/>
            </a:pPr>
            <a:r>
              <a:rPr lang="en-US" sz="2100" b="1" dirty="0">
                <a:solidFill>
                  <a:srgbClr val="1B3149"/>
                </a:solidFill>
                <a:latin typeface="Arial" pitchFamily="34" charset="0"/>
                <a:ea typeface="Arial" pitchFamily="34" charset="-122"/>
                <a:cs typeface="Arial" pitchFamily="34" charset="-120"/>
              </a:rPr>
              <a:t>Planners cannot see consolidated, located citizen demand next to infrastructure-gap and investment data.</a:t>
            </a:r>
            <a:endParaRPr lang="en-US" sz="2100" dirty="0"/>
          </a:p>
        </p:txBody>
      </p:sp>
      <p:sp>
        <p:nvSpPr>
          <p:cNvPr id="44" name="Text 40"/>
          <p:cNvSpPr txBox="1"/>
          <p:nvPr/>
        </p:nvSpPr>
        <p:spPr>
          <a:xfrm>
            <a:off x="4992624" y="5440680"/>
            <a:ext cx="1005840" cy="201168"/>
          </a:xfrm>
          <a:prstGeom prst="rect">
            <a:avLst/>
          </a:prstGeom>
          <a:noFill/>
          <a:ln/>
        </p:spPr>
        <p:txBody>
          <a:bodyPr wrap="square" lIns="0" tIns="0" rIns="0" bIns="0" rtlCol="0" anchor="t"/>
          <a:lstStyle/>
          <a:p>
            <a:pPr indent="0" marL="0">
              <a:buNone/>
            </a:pPr>
            <a:r>
              <a:rPr lang="en-US" sz="950" b="1" dirty="0">
                <a:solidFill>
                  <a:srgbClr val="E8694A"/>
                </a:solidFill>
                <a:latin typeface="Arial" pitchFamily="34" charset="0"/>
                <a:ea typeface="Arial" pitchFamily="34" charset="-122"/>
                <a:cs typeface="Arial" pitchFamily="34" charset="-120"/>
              </a:rPr>
              <a:t>Consequence</a:t>
            </a:r>
            <a:endParaRPr lang="en-US" sz="950" dirty="0"/>
          </a:p>
        </p:txBody>
      </p:sp>
      <p:sp>
        <p:nvSpPr>
          <p:cNvPr id="45" name="Text 41"/>
          <p:cNvSpPr txBox="1"/>
          <p:nvPr/>
        </p:nvSpPr>
        <p:spPr>
          <a:xfrm>
            <a:off x="5998464" y="5422392"/>
            <a:ext cx="5394960" cy="411480"/>
          </a:xfrm>
          <a:prstGeom prst="rect">
            <a:avLst/>
          </a:prstGeom>
          <a:noFill/>
          <a:ln/>
        </p:spPr>
        <p:txBody>
          <a:bodyPr wrap="square" lIns="0" tIns="0" rIns="0" bIns="0" rtlCol="0" anchor="t">
            <a:normAutofit/>
          </a:bodyPr>
          <a:lstStyle/>
          <a:p>
            <a:pPr indent="0" marL="0">
              <a:buNone/>
            </a:pPr>
            <a:r>
              <a:rPr lang="en-US" sz="1200" dirty="0">
                <a:solidFill>
                  <a:srgbClr val="1B3149"/>
                </a:solidFill>
                <a:latin typeface="Arial" pitchFamily="34" charset="0"/>
                <a:ea typeface="Arial" pitchFamily="34" charset="-122"/>
                <a:cs typeface="Arial" pitchFamily="34" charset="-120"/>
              </a:rPr>
              <a:t>Spending can misalign with need; louder, better-connected areas can dominate; citizens never hear back.</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02 — PROPOSED SOLUTION</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civic-demand-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JanVaani turns scattered requests into ranked evidence.</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One pipeline from a voice note to an officer’s decision, and back to the citizen in their language.</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Real output of gemini-2.5-flash (prompt evidence_brief_v1), 30 Sep 2026, over synthetic sample data; lines shortened for the slide.</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JANVAANI</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3</a:t>
            </a:r>
            <a:endParaRPr lang="en-US" sz="650" dirty="0"/>
          </a:p>
        </p:txBody>
      </p:sp>
      <p:sp>
        <p:nvSpPr>
          <p:cNvPr id="15" name="Shape 11"/>
          <p:cNvSpPr/>
          <p:nvPr/>
        </p:nvSpPr>
        <p:spPr>
          <a:xfrm>
            <a:off x="640080" y="1783080"/>
            <a:ext cx="4892040" cy="1024128"/>
          </a:xfrm>
          <a:prstGeom prst="roundRect">
            <a:avLst>
              <a:gd name="adj" fmla="val 8929"/>
            </a:avLst>
          </a:prstGeom>
          <a:solidFill>
            <a:srgbClr val="FFFDF7"/>
          </a:solidFill>
          <a:ln w="9525">
            <a:solidFill>
              <a:srgbClr val="DCD5C5"/>
            </a:solidFill>
            <a:prstDash val="solid"/>
          </a:ln>
        </p:spPr>
      </p:sp>
      <p:sp>
        <p:nvSpPr>
          <p:cNvPr id="16" name="Shape 12"/>
          <p:cNvSpPr/>
          <p:nvPr/>
        </p:nvSpPr>
        <p:spPr>
          <a:xfrm>
            <a:off x="841248" y="1956816"/>
            <a:ext cx="393192" cy="393192"/>
          </a:xfrm>
          <a:prstGeom prst="ellipse">
            <a:avLst/>
          </a:prstGeom>
          <a:solidFill>
            <a:srgbClr val="12796D"/>
          </a:solidFill>
          <a:ln/>
        </p:spPr>
      </p:sp>
      <p:sp>
        <p:nvSpPr>
          <p:cNvPr id="17" name="Text 13"/>
          <p:cNvSpPr txBox="1"/>
          <p:nvPr/>
        </p:nvSpPr>
        <p:spPr>
          <a:xfrm>
            <a:off x="841248" y="1956816"/>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01</a:t>
            </a:r>
            <a:endParaRPr lang="en-US" sz="1000" dirty="0"/>
          </a:p>
        </p:txBody>
      </p:sp>
      <p:sp>
        <p:nvSpPr>
          <p:cNvPr id="18" name="Text 14"/>
          <p:cNvSpPr txBox="1"/>
          <p:nvPr/>
        </p:nvSpPr>
        <p:spPr>
          <a:xfrm>
            <a:off x="1389888" y="2002536"/>
            <a:ext cx="1600200" cy="45720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HEAR</a:t>
            </a:r>
            <a:endParaRPr lang="en-US" sz="1300" dirty="0"/>
          </a:p>
        </p:txBody>
      </p:sp>
      <p:sp>
        <p:nvSpPr>
          <p:cNvPr id="19" name="Text 15"/>
          <p:cNvSpPr txBox="1"/>
          <p:nvPr/>
        </p:nvSpPr>
        <p:spPr>
          <a:xfrm>
            <a:off x="3063240" y="2002536"/>
            <a:ext cx="2331720" cy="731520"/>
          </a:xfrm>
          <a:prstGeom prst="rect">
            <a:avLst/>
          </a:prstGeom>
          <a:noFill/>
          <a:ln/>
        </p:spPr>
        <p:txBody>
          <a:bodyPr wrap="square" lIns="0" tIns="0" rIns="0" bIns="0" rtlCol="0" anchor="t">
            <a:normAutofit/>
          </a:bodyPr>
          <a:lstStyle/>
          <a:p>
            <a:pPr indent="0" marL="0">
              <a:buNone/>
            </a:pPr>
            <a:r>
              <a:rPr lang="en-US" sz="1050" dirty="0">
                <a:solidFill>
                  <a:srgbClr val="1B3149"/>
                </a:solidFill>
                <a:latin typeface="Arial" pitchFamily="34" charset="0"/>
                <a:ea typeface="Arial" pitchFamily="34" charset="-122"/>
                <a:cs typeface="Arial" pitchFamily="34" charset="-120"/>
              </a:rPr>
              <a:t>Voice, text or chat in Hindi, Telugu or English; original words kept.</a:t>
            </a:r>
            <a:endParaRPr lang="en-US" sz="1050" dirty="0"/>
          </a:p>
        </p:txBody>
      </p:sp>
      <p:sp>
        <p:nvSpPr>
          <p:cNvPr id="20" name="Shape 16"/>
          <p:cNvSpPr/>
          <p:nvPr/>
        </p:nvSpPr>
        <p:spPr>
          <a:xfrm>
            <a:off x="640080" y="3035808"/>
            <a:ext cx="4892040" cy="1024128"/>
          </a:xfrm>
          <a:prstGeom prst="roundRect">
            <a:avLst>
              <a:gd name="adj" fmla="val 8929"/>
            </a:avLst>
          </a:prstGeom>
          <a:solidFill>
            <a:srgbClr val="DCEEE8"/>
          </a:solidFill>
          <a:ln w="9525">
            <a:solidFill>
              <a:srgbClr val="12796D"/>
            </a:solidFill>
            <a:prstDash val="solid"/>
          </a:ln>
        </p:spPr>
      </p:sp>
      <p:sp>
        <p:nvSpPr>
          <p:cNvPr id="21" name="Shape 17"/>
          <p:cNvSpPr/>
          <p:nvPr/>
        </p:nvSpPr>
        <p:spPr>
          <a:xfrm>
            <a:off x="841248" y="3209544"/>
            <a:ext cx="393192" cy="393192"/>
          </a:xfrm>
          <a:prstGeom prst="ellipse">
            <a:avLst/>
          </a:prstGeom>
          <a:solidFill>
            <a:srgbClr val="12796D"/>
          </a:solidFill>
          <a:ln/>
        </p:spPr>
      </p:sp>
      <p:sp>
        <p:nvSpPr>
          <p:cNvPr id="22" name="Text 18"/>
          <p:cNvSpPr txBox="1"/>
          <p:nvPr/>
        </p:nvSpPr>
        <p:spPr>
          <a:xfrm>
            <a:off x="841248" y="3209544"/>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02</a:t>
            </a:r>
            <a:endParaRPr lang="en-US" sz="1000" dirty="0"/>
          </a:p>
        </p:txBody>
      </p:sp>
      <p:sp>
        <p:nvSpPr>
          <p:cNvPr id="23" name="Text 19"/>
          <p:cNvSpPr txBox="1"/>
          <p:nvPr/>
        </p:nvSpPr>
        <p:spPr>
          <a:xfrm>
            <a:off x="1389888" y="3255264"/>
            <a:ext cx="1600200" cy="45720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AGGREGATE + SCORE</a:t>
            </a:r>
            <a:endParaRPr lang="en-US" sz="1300" dirty="0"/>
          </a:p>
        </p:txBody>
      </p:sp>
      <p:sp>
        <p:nvSpPr>
          <p:cNvPr id="24" name="Text 20"/>
          <p:cNvSpPr txBox="1"/>
          <p:nvPr/>
        </p:nvSpPr>
        <p:spPr>
          <a:xfrm>
            <a:off x="3063240" y="3255264"/>
            <a:ext cx="2331720" cy="731520"/>
          </a:xfrm>
          <a:prstGeom prst="rect">
            <a:avLst/>
          </a:prstGeom>
          <a:noFill/>
          <a:ln/>
        </p:spPr>
        <p:txBody>
          <a:bodyPr wrap="square" lIns="0" tIns="0" rIns="0" bIns="0" rtlCol="0" anchor="t">
            <a:normAutofit/>
          </a:bodyPr>
          <a:lstStyle/>
          <a:p>
            <a:pPr indent="0" marL="0">
              <a:buNone/>
            </a:pPr>
            <a:r>
              <a:rPr lang="en-US" sz="1050" dirty="0">
                <a:solidFill>
                  <a:srgbClr val="1B3149"/>
                </a:solidFill>
                <a:latin typeface="Arial" pitchFamily="34" charset="0"/>
                <a:ea typeface="Arial" pitchFamily="34" charset="-122"/>
                <a:cs typeface="Arial" pitchFamily="34" charset="-120"/>
              </a:rPr>
              <a:t>Gemini structures, locates and clusters; a transparent formula ranks.</a:t>
            </a:r>
            <a:endParaRPr lang="en-US" sz="1050" dirty="0"/>
          </a:p>
        </p:txBody>
      </p:sp>
      <p:sp>
        <p:nvSpPr>
          <p:cNvPr id="25" name="Shape 21"/>
          <p:cNvSpPr/>
          <p:nvPr/>
        </p:nvSpPr>
        <p:spPr>
          <a:xfrm>
            <a:off x="640080" y="4288536"/>
            <a:ext cx="4892040" cy="1024128"/>
          </a:xfrm>
          <a:prstGeom prst="roundRect">
            <a:avLst>
              <a:gd name="adj" fmla="val 8929"/>
            </a:avLst>
          </a:prstGeom>
          <a:solidFill>
            <a:srgbClr val="FFFDF7"/>
          </a:solidFill>
          <a:ln w="9525">
            <a:solidFill>
              <a:srgbClr val="DCD5C5"/>
            </a:solidFill>
            <a:prstDash val="solid"/>
          </a:ln>
        </p:spPr>
      </p:sp>
      <p:sp>
        <p:nvSpPr>
          <p:cNvPr id="26" name="Shape 22"/>
          <p:cNvSpPr/>
          <p:nvPr/>
        </p:nvSpPr>
        <p:spPr>
          <a:xfrm>
            <a:off x="841248" y="4462272"/>
            <a:ext cx="393192" cy="393192"/>
          </a:xfrm>
          <a:prstGeom prst="ellipse">
            <a:avLst/>
          </a:prstGeom>
          <a:solidFill>
            <a:srgbClr val="E8694A"/>
          </a:solidFill>
          <a:ln/>
        </p:spPr>
      </p:sp>
      <p:sp>
        <p:nvSpPr>
          <p:cNvPr id="27" name="Text 23"/>
          <p:cNvSpPr txBox="1"/>
          <p:nvPr/>
        </p:nvSpPr>
        <p:spPr>
          <a:xfrm>
            <a:off x="841248" y="4462272"/>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03</a:t>
            </a:r>
            <a:endParaRPr lang="en-US" sz="1000" dirty="0"/>
          </a:p>
        </p:txBody>
      </p:sp>
      <p:sp>
        <p:nvSpPr>
          <p:cNvPr id="28" name="Text 24"/>
          <p:cNvSpPr txBox="1"/>
          <p:nvPr/>
        </p:nvSpPr>
        <p:spPr>
          <a:xfrm>
            <a:off x="1389888" y="4507992"/>
            <a:ext cx="1600200" cy="45720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HUMAN DECISION</a:t>
            </a:r>
            <a:endParaRPr lang="en-US" sz="1300" dirty="0"/>
          </a:p>
        </p:txBody>
      </p:sp>
      <p:sp>
        <p:nvSpPr>
          <p:cNvPr id="29" name="Text 25"/>
          <p:cNvSpPr txBox="1"/>
          <p:nvPr/>
        </p:nvSpPr>
        <p:spPr>
          <a:xfrm>
            <a:off x="3063240" y="4507992"/>
            <a:ext cx="2331720" cy="731520"/>
          </a:xfrm>
          <a:prstGeom prst="rect">
            <a:avLst/>
          </a:prstGeom>
          <a:noFill/>
          <a:ln/>
        </p:spPr>
        <p:txBody>
          <a:bodyPr wrap="square" lIns="0" tIns="0" rIns="0" bIns="0" rtlCol="0" anchor="t">
            <a:normAutofit/>
          </a:bodyPr>
          <a:lstStyle/>
          <a:p>
            <a:pPr indent="0" marL="0">
              <a:buNone/>
            </a:pPr>
            <a:r>
              <a:rPr lang="en-US" sz="1050" dirty="0">
                <a:solidFill>
                  <a:srgbClr val="1B3149"/>
                </a:solidFill>
                <a:latin typeface="Arial" pitchFamily="34" charset="0"/>
                <a:ea typeface="Arial" pitchFamily="34" charset="-122"/>
                <a:cs typeface="Arial" pitchFamily="34" charset="-120"/>
              </a:rPr>
              <a:t>Officer approves, defers or rejects; the citizen sees the status.</a:t>
            </a:r>
            <a:endParaRPr lang="en-US" sz="1050" dirty="0"/>
          </a:p>
        </p:txBody>
      </p:sp>
      <p:sp>
        <p:nvSpPr>
          <p:cNvPr id="30" name="Shape 26"/>
          <p:cNvSpPr/>
          <p:nvPr/>
        </p:nvSpPr>
        <p:spPr>
          <a:xfrm>
            <a:off x="5961888" y="1691640"/>
            <a:ext cx="5468112" cy="4361688"/>
          </a:xfrm>
          <a:prstGeom prst="roundRect">
            <a:avLst>
              <a:gd name="adj" fmla="val 1258"/>
            </a:avLst>
          </a:prstGeom>
          <a:solidFill>
            <a:srgbClr val="FFFFFF"/>
          </a:solidFill>
          <a:ln w="9525">
            <a:solidFill>
              <a:srgbClr val="1B3149"/>
            </a:solidFill>
            <a:prstDash val="solid"/>
          </a:ln>
        </p:spPr>
      </p:sp>
      <p:sp>
        <p:nvSpPr>
          <p:cNvPr id="31" name="Shape 27"/>
          <p:cNvSpPr/>
          <p:nvPr/>
        </p:nvSpPr>
        <p:spPr>
          <a:xfrm>
            <a:off x="5961888" y="1691640"/>
            <a:ext cx="5468112" cy="585216"/>
          </a:xfrm>
          <a:prstGeom prst="rect">
            <a:avLst/>
          </a:prstGeom>
          <a:solidFill>
            <a:srgbClr val="1B3149"/>
          </a:solidFill>
          <a:ln/>
        </p:spPr>
      </p:sp>
      <p:sp>
        <p:nvSpPr>
          <p:cNvPr id="32" name="Text 28"/>
          <p:cNvSpPr txBox="1"/>
          <p:nvPr/>
        </p:nvSpPr>
        <p:spPr>
          <a:xfrm>
            <a:off x="6236208" y="1691640"/>
            <a:ext cx="3200400" cy="585216"/>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EVIDENCE BRIEF</a:t>
            </a:r>
            <a:endParaRPr lang="en-US" sz="1100" dirty="0"/>
          </a:p>
        </p:txBody>
      </p:sp>
      <p:sp>
        <p:nvSpPr>
          <p:cNvPr id="33" name="Shape 29"/>
          <p:cNvSpPr/>
          <p:nvPr/>
        </p:nvSpPr>
        <p:spPr>
          <a:xfrm>
            <a:off x="9555480" y="1828800"/>
            <a:ext cx="1600200" cy="310896"/>
          </a:xfrm>
          <a:prstGeom prst="roundRect">
            <a:avLst>
              <a:gd name="adj" fmla="val 23529"/>
            </a:avLst>
          </a:prstGeom>
          <a:solidFill>
            <a:srgbClr val="2A4A63"/>
          </a:solidFill>
          <a:ln/>
        </p:spPr>
      </p:sp>
      <p:sp>
        <p:nvSpPr>
          <p:cNvPr id="34" name="Text 30"/>
          <p:cNvSpPr txBox="1"/>
          <p:nvPr/>
        </p:nvSpPr>
        <p:spPr>
          <a:xfrm>
            <a:off x="9555480" y="1828800"/>
            <a:ext cx="1600200" cy="310896"/>
          </a:xfrm>
          <a:prstGeom prst="rect">
            <a:avLst/>
          </a:prstGeom>
          <a:noFill/>
          <a:ln/>
        </p:spPr>
        <p:txBody>
          <a:bodyPr wrap="square" lIns="0" tIns="0" rIns="0" bIns="0" rtlCol="0" anchor="ctr"/>
          <a:lstStyle/>
          <a:p>
            <a:pPr algn="ctr" indent="0" marL="0">
              <a:buNone/>
            </a:pPr>
            <a:r>
              <a:rPr lang="en-US" sz="750" b="1" spc="50" kern="0" dirty="0">
                <a:solidFill>
                  <a:srgbClr val="F3CB7A"/>
                </a:solidFill>
                <a:latin typeface="Arial" pitchFamily="34" charset="0"/>
                <a:ea typeface="Arial" pitchFamily="34" charset="-122"/>
                <a:cs typeface="Arial" pitchFamily="34" charset="-120"/>
              </a:rPr>
              <a:t>NUMBER-CHECKED</a:t>
            </a:r>
            <a:endParaRPr lang="en-US" sz="750" dirty="0"/>
          </a:p>
        </p:txBody>
      </p:sp>
      <p:sp>
        <p:nvSpPr>
          <p:cNvPr id="35" name="Text 31"/>
          <p:cNvSpPr txBox="1"/>
          <p:nvPr/>
        </p:nvSpPr>
        <p:spPr>
          <a:xfrm>
            <a:off x="6236208" y="2487168"/>
            <a:ext cx="4919472" cy="365760"/>
          </a:xfrm>
          <a:prstGeom prst="rect">
            <a:avLst/>
          </a:prstGeom>
          <a:noFill/>
          <a:ln/>
        </p:spPr>
        <p:txBody>
          <a:bodyPr wrap="square" lIns="0" tIns="0" rIns="0" bIns="0" rtlCol="0" anchor="t">
            <a:normAutofit/>
          </a:bodyPr>
          <a:lstStyle/>
          <a:p>
            <a:pPr indent="0" marL="0">
              <a:buNone/>
            </a:pPr>
            <a:r>
              <a:rPr lang="en-US" sz="1500" b="1" dirty="0">
                <a:solidFill>
                  <a:srgbClr val="1B3149"/>
                </a:solidFill>
                <a:latin typeface="Arial" pitchFamily="34" charset="0"/>
                <a:ea typeface="Arial" pitchFamily="34" charset="-122"/>
                <a:cs typeface="Arial" pitchFamily="34" charset="-120"/>
              </a:rPr>
              <a:t>Roads &amp; Bridges – Sonbarsa, Kurmawan, Belhari (Gaya)</a:t>
            </a:r>
            <a:endParaRPr lang="en-US" sz="1500" dirty="0"/>
          </a:p>
        </p:txBody>
      </p:sp>
      <p:sp>
        <p:nvSpPr>
          <p:cNvPr id="36" name="Shape 32"/>
          <p:cNvSpPr/>
          <p:nvPr/>
        </p:nvSpPr>
        <p:spPr>
          <a:xfrm>
            <a:off x="6236208" y="3017520"/>
            <a:ext cx="384048" cy="384048"/>
          </a:xfrm>
          <a:prstGeom prst="ellipse">
            <a:avLst/>
          </a:prstGeom>
          <a:solidFill>
            <a:srgbClr val="12796D"/>
          </a:solidFill>
          <a:ln/>
        </p:spPr>
      </p:sp>
      <p:sp>
        <p:nvSpPr>
          <p:cNvPr id="37" name="Text 33"/>
          <p:cNvSpPr txBox="1"/>
          <p:nvPr/>
        </p:nvSpPr>
        <p:spPr>
          <a:xfrm>
            <a:off x="6236208" y="3017520"/>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38" name="Text 34"/>
          <p:cNvSpPr txBox="1"/>
          <p:nvPr/>
        </p:nvSpPr>
        <p:spPr>
          <a:xfrm>
            <a:off x="6784848" y="3035808"/>
            <a:ext cx="4370832" cy="365760"/>
          </a:xfrm>
          <a:prstGeom prst="rect">
            <a:avLst/>
          </a:prstGeom>
          <a:noFill/>
          <a:ln/>
        </p:spPr>
        <p:txBody>
          <a:bodyPr wrap="square" lIns="0" tIns="0" rIns="0" bIns="0" rtlCol="0" anchor="ctr">
            <a:normAutofit/>
          </a:bodyPr>
          <a:lstStyle/>
          <a:p>
            <a:pPr indent="0" marL="0">
              <a:buNone/>
            </a:pPr>
            <a:r>
              <a:rPr lang="en-US" sz="1050" dirty="0">
                <a:solidFill>
                  <a:srgbClr val="1B3149"/>
                </a:solidFill>
                <a:latin typeface="Arial" pitchFamily="34" charset="0"/>
                <a:ea typeface="Arial" pitchFamily="34" charset="-122"/>
                <a:cs typeface="Arial" pitchFamily="34" charset="-120"/>
              </a:rPr>
              <a:t>Priority Score 85.6 / 100 (High), rank 1 of 7 clusters in Bihar.</a:t>
            </a:r>
            <a:endParaRPr lang="en-US" sz="1050" dirty="0"/>
          </a:p>
        </p:txBody>
      </p:sp>
      <p:sp>
        <p:nvSpPr>
          <p:cNvPr id="39" name="Shape 35"/>
          <p:cNvSpPr/>
          <p:nvPr/>
        </p:nvSpPr>
        <p:spPr>
          <a:xfrm>
            <a:off x="6236208" y="3493008"/>
            <a:ext cx="384048" cy="384048"/>
          </a:xfrm>
          <a:prstGeom prst="ellipse">
            <a:avLst/>
          </a:prstGeom>
          <a:solidFill>
            <a:srgbClr val="12796D"/>
          </a:solidFill>
          <a:ln/>
        </p:spPr>
      </p:sp>
      <p:sp>
        <p:nvSpPr>
          <p:cNvPr id="40" name="Text 36"/>
          <p:cNvSpPr txBox="1"/>
          <p:nvPr/>
        </p:nvSpPr>
        <p:spPr>
          <a:xfrm>
            <a:off x="6236208" y="3493008"/>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41" name="Text 37"/>
          <p:cNvSpPr txBox="1"/>
          <p:nvPr/>
        </p:nvSpPr>
        <p:spPr>
          <a:xfrm>
            <a:off x="6784848" y="3511296"/>
            <a:ext cx="4370832" cy="365760"/>
          </a:xfrm>
          <a:prstGeom prst="rect">
            <a:avLst/>
          </a:prstGeom>
          <a:noFill/>
          <a:ln/>
        </p:spPr>
        <p:txBody>
          <a:bodyPr wrap="square" lIns="0" tIns="0" rIns="0" bIns="0" rtlCol="0" anchor="ctr">
            <a:normAutofit/>
          </a:bodyPr>
          <a:lstStyle/>
          <a:p>
            <a:pPr indent="0" marL="0">
              <a:buNone/>
            </a:pPr>
            <a:r>
              <a:rPr lang="en-US" sz="1050" dirty="0">
                <a:solidFill>
                  <a:srgbClr val="1B3149"/>
                </a:solidFill>
                <a:latin typeface="Arial" pitchFamily="34" charset="0"/>
                <a:ea typeface="Arial" pitchFamily="34" charset="-122"/>
                <a:cs typeface="Arial" pitchFamily="34" charset="-120"/>
              </a:rPr>
              <a:t>147 requests from 133 unique citizens; 78 in the last 30 days.</a:t>
            </a:r>
            <a:endParaRPr lang="en-US" sz="1050" dirty="0"/>
          </a:p>
        </p:txBody>
      </p:sp>
      <p:sp>
        <p:nvSpPr>
          <p:cNvPr id="42" name="Shape 38"/>
          <p:cNvSpPr/>
          <p:nvPr/>
        </p:nvSpPr>
        <p:spPr>
          <a:xfrm>
            <a:off x="6236208" y="3968496"/>
            <a:ext cx="384048" cy="384048"/>
          </a:xfrm>
          <a:prstGeom prst="ellipse">
            <a:avLst/>
          </a:prstGeom>
          <a:solidFill>
            <a:srgbClr val="12796D"/>
          </a:solidFill>
          <a:ln/>
        </p:spPr>
      </p:sp>
      <p:sp>
        <p:nvSpPr>
          <p:cNvPr id="43" name="Text 39"/>
          <p:cNvSpPr txBox="1"/>
          <p:nvPr/>
        </p:nvSpPr>
        <p:spPr>
          <a:xfrm>
            <a:off x="6236208" y="3968496"/>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44" name="Text 40"/>
          <p:cNvSpPr txBox="1"/>
          <p:nvPr/>
        </p:nvSpPr>
        <p:spPr>
          <a:xfrm>
            <a:off x="6784848" y="3986784"/>
            <a:ext cx="4370832" cy="365760"/>
          </a:xfrm>
          <a:prstGeom prst="rect">
            <a:avLst/>
          </a:prstGeom>
          <a:noFill/>
          <a:ln/>
        </p:spPr>
        <p:txBody>
          <a:bodyPr wrap="square" lIns="0" tIns="0" rIns="0" bIns="0" rtlCol="0" anchor="ctr">
            <a:normAutofit/>
          </a:bodyPr>
          <a:lstStyle/>
          <a:p>
            <a:pPr indent="0" marL="0">
              <a:buNone/>
            </a:pPr>
            <a:r>
              <a:rPr lang="en-US" sz="1050" dirty="0">
                <a:solidFill>
                  <a:srgbClr val="1B3149"/>
                </a:solidFill>
                <a:latin typeface="Arial" pitchFamily="34" charset="0"/>
                <a:ea typeface="Arial" pitchFamily="34" charset="-122"/>
                <a:cs typeface="Arial" pitchFamily="34" charset="-120"/>
              </a:rPr>
              <a:t>“Every monsoon, children are unable to attend school for three months.”</a:t>
            </a:r>
            <a:endParaRPr lang="en-US" sz="1050" dirty="0"/>
          </a:p>
        </p:txBody>
      </p:sp>
      <p:sp>
        <p:nvSpPr>
          <p:cNvPr id="45" name="Shape 41"/>
          <p:cNvSpPr/>
          <p:nvPr/>
        </p:nvSpPr>
        <p:spPr>
          <a:xfrm>
            <a:off x="6236208" y="4443984"/>
            <a:ext cx="384048" cy="384048"/>
          </a:xfrm>
          <a:prstGeom prst="ellipse">
            <a:avLst/>
          </a:prstGeom>
          <a:solidFill>
            <a:srgbClr val="12796D"/>
          </a:solidFill>
          <a:ln/>
        </p:spPr>
      </p:sp>
      <p:sp>
        <p:nvSpPr>
          <p:cNvPr id="46" name="Text 42"/>
          <p:cNvSpPr txBox="1"/>
          <p:nvPr/>
        </p:nvSpPr>
        <p:spPr>
          <a:xfrm>
            <a:off x="6236208" y="4443984"/>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47" name="Text 43"/>
          <p:cNvSpPr txBox="1"/>
          <p:nvPr/>
        </p:nvSpPr>
        <p:spPr>
          <a:xfrm>
            <a:off x="6784848" y="4462272"/>
            <a:ext cx="4370832" cy="365760"/>
          </a:xfrm>
          <a:prstGeom prst="rect">
            <a:avLst/>
          </a:prstGeom>
          <a:noFill/>
          <a:ln/>
        </p:spPr>
        <p:txBody>
          <a:bodyPr wrap="square" lIns="0" tIns="0" rIns="0" bIns="0" rtlCol="0" anchor="ctr">
            <a:normAutofit/>
          </a:bodyPr>
          <a:lstStyle/>
          <a:p>
            <a:pPr indent="0" marL="0">
              <a:buNone/>
            </a:pPr>
            <a:r>
              <a:rPr lang="en-US" sz="1050" dirty="0">
                <a:solidFill>
                  <a:srgbClr val="1B3149"/>
                </a:solidFill>
                <a:latin typeface="Arial" pitchFamily="34" charset="0"/>
                <a:ea typeface="Arial" pitchFamily="34" charset="-122"/>
                <a:cs typeface="Arial" pitchFamily="34" charset="-120"/>
              </a:rPr>
              <a:t>No sanctioned, ongoing or completed project recorded.</a:t>
            </a:r>
            <a:endParaRPr lang="en-US" sz="1050" dirty="0"/>
          </a:p>
        </p:txBody>
      </p:sp>
      <p:sp>
        <p:nvSpPr>
          <p:cNvPr id="48" name="Shape 44"/>
          <p:cNvSpPr/>
          <p:nvPr/>
        </p:nvSpPr>
        <p:spPr>
          <a:xfrm>
            <a:off x="6236208" y="4919472"/>
            <a:ext cx="384048" cy="384048"/>
          </a:xfrm>
          <a:prstGeom prst="ellipse">
            <a:avLst/>
          </a:prstGeom>
          <a:solidFill>
            <a:srgbClr val="E8694A"/>
          </a:solidFill>
          <a:ln/>
        </p:spPr>
      </p:sp>
      <p:sp>
        <p:nvSpPr>
          <p:cNvPr id="49" name="Text 45"/>
          <p:cNvSpPr txBox="1"/>
          <p:nvPr/>
        </p:nvSpPr>
        <p:spPr>
          <a:xfrm>
            <a:off x="6236208" y="4919472"/>
            <a:ext cx="384048"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a:t>
            </a:r>
            <a:endParaRPr lang="en-US" sz="1000" dirty="0"/>
          </a:p>
        </p:txBody>
      </p:sp>
      <p:sp>
        <p:nvSpPr>
          <p:cNvPr id="50" name="Text 46"/>
          <p:cNvSpPr txBox="1"/>
          <p:nvPr/>
        </p:nvSpPr>
        <p:spPr>
          <a:xfrm>
            <a:off x="6784848" y="4937760"/>
            <a:ext cx="4370832" cy="365760"/>
          </a:xfrm>
          <a:prstGeom prst="rect">
            <a:avLst/>
          </a:prstGeom>
          <a:noFill/>
          <a:ln/>
        </p:spPr>
        <p:txBody>
          <a:bodyPr wrap="square" lIns="0" tIns="0" rIns="0" bIns="0" rtlCol="0" anchor="ctr">
            <a:normAutofit/>
          </a:bodyPr>
          <a:lstStyle/>
          <a:p>
            <a:pPr indent="0" marL="0">
              <a:buNone/>
            </a:pPr>
            <a:r>
              <a:rPr lang="en-US" sz="1050" b="1" dirty="0">
                <a:solidFill>
                  <a:srgbClr val="E8694A"/>
                </a:solidFill>
                <a:latin typeface="Arial" pitchFamily="34" charset="0"/>
                <a:ea typeface="Arial" pitchFamily="34" charset="-122"/>
                <a:cs typeface="Arial" pitchFamily="34" charset="-120"/>
              </a:rPr>
              <a:t>Uncertainty: exact bridge site not specified; Census 2011 base.</a:t>
            </a:r>
            <a:endParaRPr lang="en-US" sz="1050" dirty="0"/>
          </a:p>
        </p:txBody>
      </p:sp>
      <p:sp>
        <p:nvSpPr>
          <p:cNvPr id="51" name="Shape 47"/>
          <p:cNvSpPr/>
          <p:nvPr/>
        </p:nvSpPr>
        <p:spPr>
          <a:xfrm>
            <a:off x="6236208" y="5394960"/>
            <a:ext cx="4919472" cy="0"/>
          </a:xfrm>
          <a:prstGeom prst="line">
            <a:avLst/>
          </a:prstGeom>
          <a:noFill/>
          <a:ln w="9525">
            <a:solidFill>
              <a:srgbClr val="DCD5C5"/>
            </a:solidFill>
            <a:prstDash val="solid"/>
          </a:ln>
        </p:spPr>
      </p:sp>
      <p:sp>
        <p:nvSpPr>
          <p:cNvPr id="52" name="Text 48"/>
          <p:cNvSpPr txBox="1"/>
          <p:nvPr/>
        </p:nvSpPr>
        <p:spPr>
          <a:xfrm>
            <a:off x="6236208" y="5513832"/>
            <a:ext cx="3273552" cy="347472"/>
          </a:xfrm>
          <a:prstGeom prst="rect">
            <a:avLst/>
          </a:prstGeom>
          <a:noFill/>
          <a:ln/>
        </p:spPr>
        <p:txBody>
          <a:bodyPr wrap="square" lIns="0" tIns="0" rIns="0" bIns="0" rtlCol="0" anchor="ctr">
            <a:normAutofit/>
          </a:bodyPr>
          <a:lstStyle/>
          <a:p>
            <a:pPr indent="0" marL="0">
              <a:buNone/>
            </a:pPr>
            <a:r>
              <a:rPr lang="en-US" sz="1050" b="1" dirty="0">
                <a:solidFill>
                  <a:srgbClr val="12796D"/>
                </a:solidFill>
                <a:latin typeface="Arial" pitchFamily="34" charset="0"/>
                <a:ea typeface="Arial" pitchFamily="34" charset="-122"/>
                <a:cs typeface="Arial" pitchFamily="34" charset="-120"/>
              </a:rPr>
              <a:t>Number check: 49 numbers, 0 ungrounded</a:t>
            </a:r>
            <a:endParaRPr lang="en-US" sz="1050" dirty="0"/>
          </a:p>
        </p:txBody>
      </p:sp>
      <p:sp>
        <p:nvSpPr>
          <p:cNvPr id="53" name="Shape 49"/>
          <p:cNvSpPr/>
          <p:nvPr/>
        </p:nvSpPr>
        <p:spPr>
          <a:xfrm>
            <a:off x="9646920" y="5504688"/>
            <a:ext cx="1508760" cy="347472"/>
          </a:xfrm>
          <a:prstGeom prst="roundRect">
            <a:avLst>
              <a:gd name="adj" fmla="val 21053"/>
            </a:avLst>
          </a:prstGeom>
          <a:solidFill>
            <a:srgbClr val="E8694A"/>
          </a:solidFill>
          <a:ln/>
        </p:spPr>
      </p:sp>
      <p:sp>
        <p:nvSpPr>
          <p:cNvPr id="54" name="Text 50"/>
          <p:cNvSpPr txBox="1"/>
          <p:nvPr/>
        </p:nvSpPr>
        <p:spPr>
          <a:xfrm>
            <a:off x="9646920" y="5504688"/>
            <a:ext cx="1508760" cy="347472"/>
          </a:xfrm>
          <a:prstGeom prst="rect">
            <a:avLst/>
          </a:prstGeom>
          <a:noFill/>
          <a:ln/>
        </p:spPr>
        <p:txBody>
          <a:bodyPr wrap="square" lIns="0" tIns="0" rIns="0" bIns="0" rtlCol="0" anchor="ctr"/>
          <a:lstStyle/>
          <a:p>
            <a:pPr algn="ctr" indent="0" marL="0">
              <a:buNone/>
            </a:pPr>
            <a:r>
              <a:rPr lang="en-US" sz="750" b="1" spc="50" kern="0" dirty="0">
                <a:solidFill>
                  <a:srgbClr val="FFFFFF"/>
                </a:solidFill>
                <a:latin typeface="Arial" pitchFamily="34" charset="0"/>
                <a:ea typeface="Arial" pitchFamily="34" charset="-122"/>
                <a:cs typeface="Arial" pitchFamily="34" charset="-120"/>
              </a:rPr>
              <a:t>APPROVE / DEFER</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03 — HOW IT WORKS</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civic-demand-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Seven steps from a voice note to a decision.</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Observed data, AI interpretation and the recommendation stay separate at every step.</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Pipeline: services/api/app/pipeline (intake → understanding → location → clustering → fusion → scoring → brief). PRD §8, §50.</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JANVAANI</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4</a:t>
            </a:r>
            <a:endParaRPr lang="en-US" sz="650" dirty="0"/>
          </a:p>
        </p:txBody>
      </p:sp>
      <p:sp>
        <p:nvSpPr>
          <p:cNvPr id="15" name="Shape 11"/>
          <p:cNvSpPr/>
          <p:nvPr/>
        </p:nvSpPr>
        <p:spPr>
          <a:xfrm>
            <a:off x="594360" y="1892808"/>
            <a:ext cx="1336722" cy="1389888"/>
          </a:xfrm>
          <a:prstGeom prst="roundRect">
            <a:avLst>
              <a:gd name="adj" fmla="val 6841"/>
            </a:avLst>
          </a:prstGeom>
          <a:solidFill>
            <a:srgbClr val="FFFDF7"/>
          </a:solidFill>
          <a:ln w="9525">
            <a:solidFill>
              <a:srgbClr val="DCD5C5"/>
            </a:solidFill>
            <a:prstDash val="solid"/>
          </a:ln>
        </p:spPr>
      </p:sp>
      <p:sp>
        <p:nvSpPr>
          <p:cNvPr id="16" name="Shape 12"/>
          <p:cNvSpPr/>
          <p:nvPr/>
        </p:nvSpPr>
        <p:spPr>
          <a:xfrm>
            <a:off x="722376" y="2011680"/>
            <a:ext cx="393192" cy="393192"/>
          </a:xfrm>
          <a:prstGeom prst="ellipse">
            <a:avLst/>
          </a:prstGeom>
          <a:solidFill>
            <a:srgbClr val="12796D"/>
          </a:solidFill>
          <a:ln/>
        </p:spPr>
      </p:sp>
      <p:sp>
        <p:nvSpPr>
          <p:cNvPr id="17" name="Text 13"/>
          <p:cNvSpPr txBox="1"/>
          <p:nvPr/>
        </p:nvSpPr>
        <p:spPr>
          <a:xfrm>
            <a:off x="722376" y="201168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8" name="Text 14"/>
          <p:cNvSpPr txBox="1"/>
          <p:nvPr/>
        </p:nvSpPr>
        <p:spPr>
          <a:xfrm>
            <a:off x="640080" y="2542032"/>
            <a:ext cx="1245282" cy="228600"/>
          </a:xfrm>
          <a:prstGeom prst="rect">
            <a:avLst/>
          </a:prstGeom>
          <a:noFill/>
          <a:ln/>
        </p:spPr>
        <p:txBody>
          <a:bodyPr wrap="square" lIns="0" tIns="0" rIns="0" bIns="0" rtlCol="0" anchor="t">
            <a:normAutofit/>
          </a:bodyPr>
          <a:lstStyle/>
          <a:p>
            <a:pPr algn="ctr" indent="0" marL="0">
              <a:buNone/>
            </a:pPr>
            <a:r>
              <a:rPr lang="en-US" sz="1100" b="1" dirty="0">
                <a:solidFill>
                  <a:srgbClr val="1B3149"/>
                </a:solidFill>
                <a:latin typeface="Arial" pitchFamily="34" charset="0"/>
                <a:ea typeface="Arial" pitchFamily="34" charset="-122"/>
                <a:cs typeface="Arial" pitchFamily="34" charset="-120"/>
              </a:rPr>
              <a:t>SPEAK</a:t>
            </a:r>
            <a:endParaRPr lang="en-US" sz="1100" dirty="0"/>
          </a:p>
        </p:txBody>
      </p:sp>
      <p:sp>
        <p:nvSpPr>
          <p:cNvPr id="19" name="Text 15"/>
          <p:cNvSpPr txBox="1"/>
          <p:nvPr/>
        </p:nvSpPr>
        <p:spPr>
          <a:xfrm>
            <a:off x="640080" y="2852928"/>
            <a:ext cx="1245282" cy="347472"/>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Voice, text, chat</a:t>
            </a:r>
            <a:endParaRPr lang="en-US" sz="850" dirty="0"/>
          </a:p>
        </p:txBody>
      </p:sp>
      <p:sp>
        <p:nvSpPr>
          <p:cNvPr id="20" name="Text 16"/>
          <p:cNvSpPr txBox="1"/>
          <p:nvPr/>
        </p:nvSpPr>
        <p:spPr>
          <a:xfrm>
            <a:off x="1931082" y="233172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21" name="Shape 17"/>
          <p:cNvSpPr/>
          <p:nvPr/>
        </p:nvSpPr>
        <p:spPr>
          <a:xfrm>
            <a:off x="2205402" y="1892808"/>
            <a:ext cx="1336722" cy="1389888"/>
          </a:xfrm>
          <a:prstGeom prst="roundRect">
            <a:avLst>
              <a:gd name="adj" fmla="val 6841"/>
            </a:avLst>
          </a:prstGeom>
          <a:solidFill>
            <a:srgbClr val="FFFDF7"/>
          </a:solidFill>
          <a:ln w="9525">
            <a:solidFill>
              <a:srgbClr val="DCD5C5"/>
            </a:solidFill>
            <a:prstDash val="solid"/>
          </a:ln>
        </p:spPr>
      </p:sp>
      <p:sp>
        <p:nvSpPr>
          <p:cNvPr id="22" name="Shape 18"/>
          <p:cNvSpPr/>
          <p:nvPr/>
        </p:nvSpPr>
        <p:spPr>
          <a:xfrm>
            <a:off x="2333418" y="2011680"/>
            <a:ext cx="393192" cy="393192"/>
          </a:xfrm>
          <a:prstGeom prst="ellipse">
            <a:avLst/>
          </a:prstGeom>
          <a:solidFill>
            <a:srgbClr val="12796D"/>
          </a:solidFill>
          <a:ln/>
        </p:spPr>
      </p:sp>
      <p:sp>
        <p:nvSpPr>
          <p:cNvPr id="23" name="Text 19"/>
          <p:cNvSpPr txBox="1"/>
          <p:nvPr/>
        </p:nvSpPr>
        <p:spPr>
          <a:xfrm>
            <a:off x="2333418" y="201168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24" name="Text 20"/>
          <p:cNvSpPr txBox="1"/>
          <p:nvPr/>
        </p:nvSpPr>
        <p:spPr>
          <a:xfrm>
            <a:off x="2251122" y="2542032"/>
            <a:ext cx="1245282" cy="228600"/>
          </a:xfrm>
          <a:prstGeom prst="rect">
            <a:avLst/>
          </a:prstGeom>
          <a:noFill/>
          <a:ln/>
        </p:spPr>
        <p:txBody>
          <a:bodyPr wrap="square" lIns="0" tIns="0" rIns="0" bIns="0" rtlCol="0" anchor="t">
            <a:normAutofit/>
          </a:bodyPr>
          <a:lstStyle/>
          <a:p>
            <a:pPr algn="ctr" indent="0" marL="0">
              <a:buNone/>
            </a:pPr>
            <a:r>
              <a:rPr lang="en-US" sz="1100" b="1" dirty="0">
                <a:solidFill>
                  <a:srgbClr val="1B3149"/>
                </a:solidFill>
                <a:latin typeface="Arial" pitchFamily="34" charset="0"/>
                <a:ea typeface="Arial" pitchFamily="34" charset="-122"/>
                <a:cs typeface="Arial" pitchFamily="34" charset="-120"/>
              </a:rPr>
              <a:t>UNDERSTAND</a:t>
            </a:r>
            <a:endParaRPr lang="en-US" sz="1100" dirty="0"/>
          </a:p>
        </p:txBody>
      </p:sp>
      <p:sp>
        <p:nvSpPr>
          <p:cNvPr id="25" name="Text 21"/>
          <p:cNvSpPr txBox="1"/>
          <p:nvPr/>
        </p:nvSpPr>
        <p:spPr>
          <a:xfrm>
            <a:off x="2251122" y="2852928"/>
            <a:ext cx="1245282" cy="347472"/>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Gemini JSON</a:t>
            </a:r>
            <a:endParaRPr lang="en-US" sz="850" dirty="0"/>
          </a:p>
        </p:txBody>
      </p:sp>
      <p:sp>
        <p:nvSpPr>
          <p:cNvPr id="26" name="Text 22"/>
          <p:cNvSpPr txBox="1"/>
          <p:nvPr/>
        </p:nvSpPr>
        <p:spPr>
          <a:xfrm>
            <a:off x="3542124" y="233172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27" name="Shape 23"/>
          <p:cNvSpPr/>
          <p:nvPr/>
        </p:nvSpPr>
        <p:spPr>
          <a:xfrm>
            <a:off x="3816444" y="1892808"/>
            <a:ext cx="1336722" cy="1389888"/>
          </a:xfrm>
          <a:prstGeom prst="roundRect">
            <a:avLst>
              <a:gd name="adj" fmla="val 6841"/>
            </a:avLst>
          </a:prstGeom>
          <a:solidFill>
            <a:srgbClr val="FFFDF7"/>
          </a:solidFill>
          <a:ln w="9525">
            <a:solidFill>
              <a:srgbClr val="DCD5C5"/>
            </a:solidFill>
            <a:prstDash val="solid"/>
          </a:ln>
        </p:spPr>
      </p:sp>
      <p:sp>
        <p:nvSpPr>
          <p:cNvPr id="28" name="Shape 24"/>
          <p:cNvSpPr/>
          <p:nvPr/>
        </p:nvSpPr>
        <p:spPr>
          <a:xfrm>
            <a:off x="3944460" y="2011680"/>
            <a:ext cx="393192" cy="393192"/>
          </a:xfrm>
          <a:prstGeom prst="ellipse">
            <a:avLst/>
          </a:prstGeom>
          <a:solidFill>
            <a:srgbClr val="12796D"/>
          </a:solidFill>
          <a:ln/>
        </p:spPr>
      </p:sp>
      <p:sp>
        <p:nvSpPr>
          <p:cNvPr id="29" name="Text 25"/>
          <p:cNvSpPr txBox="1"/>
          <p:nvPr/>
        </p:nvSpPr>
        <p:spPr>
          <a:xfrm>
            <a:off x="3944460" y="201168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30" name="Text 26"/>
          <p:cNvSpPr txBox="1"/>
          <p:nvPr/>
        </p:nvSpPr>
        <p:spPr>
          <a:xfrm>
            <a:off x="3862164" y="2542032"/>
            <a:ext cx="1245282" cy="228600"/>
          </a:xfrm>
          <a:prstGeom prst="rect">
            <a:avLst/>
          </a:prstGeom>
          <a:noFill/>
          <a:ln/>
        </p:spPr>
        <p:txBody>
          <a:bodyPr wrap="square" lIns="0" tIns="0" rIns="0" bIns="0" rtlCol="0" anchor="t">
            <a:normAutofit/>
          </a:bodyPr>
          <a:lstStyle/>
          <a:p>
            <a:pPr algn="ctr" indent="0" marL="0">
              <a:buNone/>
            </a:pPr>
            <a:r>
              <a:rPr lang="en-US" sz="1100" b="1" dirty="0">
                <a:solidFill>
                  <a:srgbClr val="1B3149"/>
                </a:solidFill>
                <a:latin typeface="Arial" pitchFamily="34" charset="0"/>
                <a:ea typeface="Arial" pitchFamily="34" charset="-122"/>
                <a:cs typeface="Arial" pitchFamily="34" charset="-120"/>
              </a:rPr>
              <a:t>LOCATE</a:t>
            </a:r>
            <a:endParaRPr lang="en-US" sz="1100" dirty="0"/>
          </a:p>
        </p:txBody>
      </p:sp>
      <p:sp>
        <p:nvSpPr>
          <p:cNvPr id="31" name="Text 27"/>
          <p:cNvSpPr txBox="1"/>
          <p:nvPr/>
        </p:nvSpPr>
        <p:spPr>
          <a:xfrm>
            <a:off x="3862164" y="2852928"/>
            <a:ext cx="1245282" cy="347472"/>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LGD code + H3</a:t>
            </a:r>
            <a:endParaRPr lang="en-US" sz="850" dirty="0"/>
          </a:p>
        </p:txBody>
      </p:sp>
      <p:sp>
        <p:nvSpPr>
          <p:cNvPr id="32" name="Text 28"/>
          <p:cNvSpPr txBox="1"/>
          <p:nvPr/>
        </p:nvSpPr>
        <p:spPr>
          <a:xfrm>
            <a:off x="5153167" y="233172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33" name="Shape 29"/>
          <p:cNvSpPr/>
          <p:nvPr/>
        </p:nvSpPr>
        <p:spPr>
          <a:xfrm>
            <a:off x="5427487" y="1892808"/>
            <a:ext cx="1336722" cy="1389888"/>
          </a:xfrm>
          <a:prstGeom prst="roundRect">
            <a:avLst>
              <a:gd name="adj" fmla="val 6841"/>
            </a:avLst>
          </a:prstGeom>
          <a:solidFill>
            <a:srgbClr val="FFFDF7"/>
          </a:solidFill>
          <a:ln w="9525">
            <a:solidFill>
              <a:srgbClr val="DCD5C5"/>
            </a:solidFill>
            <a:prstDash val="solid"/>
          </a:ln>
        </p:spPr>
      </p:sp>
      <p:sp>
        <p:nvSpPr>
          <p:cNvPr id="34" name="Shape 30"/>
          <p:cNvSpPr/>
          <p:nvPr/>
        </p:nvSpPr>
        <p:spPr>
          <a:xfrm>
            <a:off x="5555503" y="2011680"/>
            <a:ext cx="393192" cy="393192"/>
          </a:xfrm>
          <a:prstGeom prst="ellipse">
            <a:avLst/>
          </a:prstGeom>
          <a:solidFill>
            <a:srgbClr val="12796D"/>
          </a:solidFill>
          <a:ln/>
        </p:spPr>
      </p:sp>
      <p:sp>
        <p:nvSpPr>
          <p:cNvPr id="35" name="Text 31"/>
          <p:cNvSpPr txBox="1"/>
          <p:nvPr/>
        </p:nvSpPr>
        <p:spPr>
          <a:xfrm>
            <a:off x="5555503" y="201168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36" name="Text 32"/>
          <p:cNvSpPr txBox="1"/>
          <p:nvPr/>
        </p:nvSpPr>
        <p:spPr>
          <a:xfrm>
            <a:off x="5473207" y="2542032"/>
            <a:ext cx="1245282" cy="228600"/>
          </a:xfrm>
          <a:prstGeom prst="rect">
            <a:avLst/>
          </a:prstGeom>
          <a:noFill/>
          <a:ln/>
        </p:spPr>
        <p:txBody>
          <a:bodyPr wrap="square" lIns="0" tIns="0" rIns="0" bIns="0" rtlCol="0" anchor="t">
            <a:normAutofit/>
          </a:bodyPr>
          <a:lstStyle/>
          <a:p>
            <a:pPr algn="ctr" indent="0" marL="0">
              <a:buNone/>
            </a:pPr>
            <a:r>
              <a:rPr lang="en-US" sz="1100" b="1" dirty="0">
                <a:solidFill>
                  <a:srgbClr val="1B3149"/>
                </a:solidFill>
                <a:latin typeface="Arial" pitchFamily="34" charset="0"/>
                <a:ea typeface="Arial" pitchFamily="34" charset="-122"/>
                <a:cs typeface="Arial" pitchFamily="34" charset="-120"/>
              </a:rPr>
              <a:t>CLUSTER</a:t>
            </a:r>
            <a:endParaRPr lang="en-US" sz="1100" dirty="0"/>
          </a:p>
        </p:txBody>
      </p:sp>
      <p:sp>
        <p:nvSpPr>
          <p:cNvPr id="37" name="Text 33"/>
          <p:cNvSpPr txBox="1"/>
          <p:nvPr/>
        </p:nvSpPr>
        <p:spPr>
          <a:xfrm>
            <a:off x="5473207" y="2852928"/>
            <a:ext cx="1245282" cy="347472"/>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Gemini embeddings</a:t>
            </a:r>
            <a:endParaRPr lang="en-US" sz="850" dirty="0"/>
          </a:p>
        </p:txBody>
      </p:sp>
      <p:sp>
        <p:nvSpPr>
          <p:cNvPr id="38" name="Text 34"/>
          <p:cNvSpPr txBox="1"/>
          <p:nvPr/>
        </p:nvSpPr>
        <p:spPr>
          <a:xfrm>
            <a:off x="6764209" y="233172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39" name="Shape 35"/>
          <p:cNvSpPr/>
          <p:nvPr/>
        </p:nvSpPr>
        <p:spPr>
          <a:xfrm>
            <a:off x="7038529" y="1892808"/>
            <a:ext cx="1336722" cy="1389888"/>
          </a:xfrm>
          <a:prstGeom prst="roundRect">
            <a:avLst>
              <a:gd name="adj" fmla="val 6841"/>
            </a:avLst>
          </a:prstGeom>
          <a:solidFill>
            <a:srgbClr val="DCEEE8"/>
          </a:solidFill>
          <a:ln w="9525">
            <a:solidFill>
              <a:srgbClr val="12796D"/>
            </a:solidFill>
            <a:prstDash val="solid"/>
          </a:ln>
        </p:spPr>
      </p:sp>
      <p:sp>
        <p:nvSpPr>
          <p:cNvPr id="40" name="Shape 36"/>
          <p:cNvSpPr/>
          <p:nvPr/>
        </p:nvSpPr>
        <p:spPr>
          <a:xfrm>
            <a:off x="7166545" y="2011680"/>
            <a:ext cx="393192" cy="393192"/>
          </a:xfrm>
          <a:prstGeom prst="ellipse">
            <a:avLst/>
          </a:prstGeom>
          <a:solidFill>
            <a:srgbClr val="12796D"/>
          </a:solidFill>
          <a:ln/>
        </p:spPr>
      </p:sp>
      <p:sp>
        <p:nvSpPr>
          <p:cNvPr id="41" name="Text 37"/>
          <p:cNvSpPr txBox="1"/>
          <p:nvPr/>
        </p:nvSpPr>
        <p:spPr>
          <a:xfrm>
            <a:off x="7166545" y="201168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42" name="Text 38"/>
          <p:cNvSpPr txBox="1"/>
          <p:nvPr/>
        </p:nvSpPr>
        <p:spPr>
          <a:xfrm>
            <a:off x="7084249" y="2542032"/>
            <a:ext cx="1245282" cy="228600"/>
          </a:xfrm>
          <a:prstGeom prst="rect">
            <a:avLst/>
          </a:prstGeom>
          <a:noFill/>
          <a:ln/>
        </p:spPr>
        <p:txBody>
          <a:bodyPr wrap="square" lIns="0" tIns="0" rIns="0" bIns="0" rtlCol="0" anchor="t">
            <a:normAutofit/>
          </a:bodyPr>
          <a:lstStyle/>
          <a:p>
            <a:pPr algn="ctr" indent="0" marL="0">
              <a:buNone/>
            </a:pPr>
            <a:r>
              <a:rPr lang="en-US" sz="1100" b="1" dirty="0">
                <a:solidFill>
                  <a:srgbClr val="1B3149"/>
                </a:solidFill>
                <a:latin typeface="Arial" pitchFamily="34" charset="0"/>
                <a:ea typeface="Arial" pitchFamily="34" charset="-122"/>
                <a:cs typeface="Arial" pitchFamily="34" charset="-120"/>
              </a:rPr>
              <a:t>FUSE + SCORE</a:t>
            </a:r>
            <a:endParaRPr lang="en-US" sz="1100" dirty="0"/>
          </a:p>
        </p:txBody>
      </p:sp>
      <p:sp>
        <p:nvSpPr>
          <p:cNvPr id="43" name="Text 39"/>
          <p:cNvSpPr txBox="1"/>
          <p:nvPr/>
        </p:nvSpPr>
        <p:spPr>
          <a:xfrm>
            <a:off x="7084249" y="2852928"/>
            <a:ext cx="1245282" cy="347472"/>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5 factors, no AI</a:t>
            </a:r>
            <a:endParaRPr lang="en-US" sz="850" dirty="0"/>
          </a:p>
        </p:txBody>
      </p:sp>
      <p:sp>
        <p:nvSpPr>
          <p:cNvPr id="44" name="Text 40"/>
          <p:cNvSpPr txBox="1"/>
          <p:nvPr/>
        </p:nvSpPr>
        <p:spPr>
          <a:xfrm>
            <a:off x="8375251" y="233172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45" name="Shape 41"/>
          <p:cNvSpPr/>
          <p:nvPr/>
        </p:nvSpPr>
        <p:spPr>
          <a:xfrm>
            <a:off x="8649571" y="1892808"/>
            <a:ext cx="1336722" cy="1389888"/>
          </a:xfrm>
          <a:prstGeom prst="roundRect">
            <a:avLst>
              <a:gd name="adj" fmla="val 6841"/>
            </a:avLst>
          </a:prstGeom>
          <a:solidFill>
            <a:srgbClr val="FFFDF7"/>
          </a:solidFill>
          <a:ln w="9525">
            <a:solidFill>
              <a:srgbClr val="DCD5C5"/>
            </a:solidFill>
            <a:prstDash val="solid"/>
          </a:ln>
        </p:spPr>
      </p:sp>
      <p:sp>
        <p:nvSpPr>
          <p:cNvPr id="46" name="Shape 42"/>
          <p:cNvSpPr/>
          <p:nvPr/>
        </p:nvSpPr>
        <p:spPr>
          <a:xfrm>
            <a:off x="8777587" y="2011680"/>
            <a:ext cx="393192" cy="393192"/>
          </a:xfrm>
          <a:prstGeom prst="ellipse">
            <a:avLst/>
          </a:prstGeom>
          <a:solidFill>
            <a:srgbClr val="12796D"/>
          </a:solidFill>
          <a:ln/>
        </p:spPr>
      </p:sp>
      <p:sp>
        <p:nvSpPr>
          <p:cNvPr id="47" name="Text 43"/>
          <p:cNvSpPr txBox="1"/>
          <p:nvPr/>
        </p:nvSpPr>
        <p:spPr>
          <a:xfrm>
            <a:off x="8777587" y="201168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6</a:t>
            </a:r>
            <a:endParaRPr lang="en-US" sz="1000" dirty="0"/>
          </a:p>
        </p:txBody>
      </p:sp>
      <p:sp>
        <p:nvSpPr>
          <p:cNvPr id="48" name="Text 44"/>
          <p:cNvSpPr txBox="1"/>
          <p:nvPr/>
        </p:nvSpPr>
        <p:spPr>
          <a:xfrm>
            <a:off x="8695291" y="2542032"/>
            <a:ext cx="1245282" cy="228600"/>
          </a:xfrm>
          <a:prstGeom prst="rect">
            <a:avLst/>
          </a:prstGeom>
          <a:noFill/>
          <a:ln/>
        </p:spPr>
        <p:txBody>
          <a:bodyPr wrap="square" lIns="0" tIns="0" rIns="0" bIns="0" rtlCol="0" anchor="t">
            <a:normAutofit/>
          </a:bodyPr>
          <a:lstStyle/>
          <a:p>
            <a:pPr algn="ctr" indent="0" marL="0">
              <a:buNone/>
            </a:pPr>
            <a:r>
              <a:rPr lang="en-US" sz="1100" b="1" dirty="0">
                <a:solidFill>
                  <a:srgbClr val="1B3149"/>
                </a:solidFill>
                <a:latin typeface="Arial" pitchFamily="34" charset="0"/>
                <a:ea typeface="Arial" pitchFamily="34" charset="-122"/>
                <a:cs typeface="Arial" pitchFamily="34" charset="-120"/>
              </a:rPr>
              <a:t>BRIEF</a:t>
            </a:r>
            <a:endParaRPr lang="en-US" sz="1100" dirty="0"/>
          </a:p>
        </p:txBody>
      </p:sp>
      <p:sp>
        <p:nvSpPr>
          <p:cNvPr id="49" name="Text 45"/>
          <p:cNvSpPr txBox="1"/>
          <p:nvPr/>
        </p:nvSpPr>
        <p:spPr>
          <a:xfrm>
            <a:off x="8695291" y="2852928"/>
            <a:ext cx="1245282" cy="347472"/>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Numbers checked</a:t>
            </a:r>
            <a:endParaRPr lang="en-US" sz="850" dirty="0"/>
          </a:p>
        </p:txBody>
      </p:sp>
      <p:sp>
        <p:nvSpPr>
          <p:cNvPr id="50" name="Text 46"/>
          <p:cNvSpPr txBox="1"/>
          <p:nvPr/>
        </p:nvSpPr>
        <p:spPr>
          <a:xfrm>
            <a:off x="9986293" y="233172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51" name="Shape 47"/>
          <p:cNvSpPr/>
          <p:nvPr/>
        </p:nvSpPr>
        <p:spPr>
          <a:xfrm>
            <a:off x="10260613" y="1892808"/>
            <a:ext cx="1336722" cy="1389888"/>
          </a:xfrm>
          <a:prstGeom prst="roundRect">
            <a:avLst>
              <a:gd name="adj" fmla="val 6841"/>
            </a:avLst>
          </a:prstGeom>
          <a:solidFill>
            <a:srgbClr val="FFFDF7"/>
          </a:solidFill>
          <a:ln w="9525">
            <a:solidFill>
              <a:srgbClr val="DCD5C5"/>
            </a:solidFill>
            <a:prstDash val="solid"/>
          </a:ln>
        </p:spPr>
      </p:sp>
      <p:sp>
        <p:nvSpPr>
          <p:cNvPr id="52" name="Shape 48"/>
          <p:cNvSpPr/>
          <p:nvPr/>
        </p:nvSpPr>
        <p:spPr>
          <a:xfrm>
            <a:off x="10388629" y="2011680"/>
            <a:ext cx="393192" cy="393192"/>
          </a:xfrm>
          <a:prstGeom prst="ellipse">
            <a:avLst/>
          </a:prstGeom>
          <a:solidFill>
            <a:srgbClr val="E8694A"/>
          </a:solidFill>
          <a:ln/>
        </p:spPr>
      </p:sp>
      <p:sp>
        <p:nvSpPr>
          <p:cNvPr id="53" name="Text 49"/>
          <p:cNvSpPr txBox="1"/>
          <p:nvPr/>
        </p:nvSpPr>
        <p:spPr>
          <a:xfrm>
            <a:off x="10388629" y="201168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7</a:t>
            </a:r>
            <a:endParaRPr lang="en-US" sz="1000" dirty="0"/>
          </a:p>
        </p:txBody>
      </p:sp>
      <p:sp>
        <p:nvSpPr>
          <p:cNvPr id="54" name="Text 50"/>
          <p:cNvSpPr txBox="1"/>
          <p:nvPr/>
        </p:nvSpPr>
        <p:spPr>
          <a:xfrm>
            <a:off x="10306333" y="2542032"/>
            <a:ext cx="1245282" cy="228600"/>
          </a:xfrm>
          <a:prstGeom prst="rect">
            <a:avLst/>
          </a:prstGeom>
          <a:noFill/>
          <a:ln/>
        </p:spPr>
        <p:txBody>
          <a:bodyPr wrap="square" lIns="0" tIns="0" rIns="0" bIns="0" rtlCol="0" anchor="t">
            <a:normAutofit/>
          </a:bodyPr>
          <a:lstStyle/>
          <a:p>
            <a:pPr algn="ctr" indent="0" marL="0">
              <a:buNone/>
            </a:pPr>
            <a:r>
              <a:rPr lang="en-US" sz="1100" b="1" dirty="0">
                <a:solidFill>
                  <a:srgbClr val="1B3149"/>
                </a:solidFill>
                <a:latin typeface="Arial" pitchFamily="34" charset="0"/>
                <a:ea typeface="Arial" pitchFamily="34" charset="-122"/>
                <a:cs typeface="Arial" pitchFamily="34" charset="-120"/>
              </a:rPr>
              <a:t>DECIDE</a:t>
            </a:r>
            <a:endParaRPr lang="en-US" sz="1100" dirty="0"/>
          </a:p>
        </p:txBody>
      </p:sp>
      <p:sp>
        <p:nvSpPr>
          <p:cNvPr id="55" name="Text 51"/>
          <p:cNvSpPr txBox="1"/>
          <p:nvPr/>
        </p:nvSpPr>
        <p:spPr>
          <a:xfrm>
            <a:off x="10306333" y="2852928"/>
            <a:ext cx="1245282" cy="347472"/>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Officer; citizen told</a:t>
            </a:r>
            <a:endParaRPr lang="en-US" sz="850" dirty="0"/>
          </a:p>
        </p:txBody>
      </p:sp>
      <p:sp>
        <p:nvSpPr>
          <p:cNvPr id="56" name="Shape 52"/>
          <p:cNvSpPr/>
          <p:nvPr/>
        </p:nvSpPr>
        <p:spPr>
          <a:xfrm>
            <a:off x="640080" y="3886200"/>
            <a:ext cx="3429000" cy="1417320"/>
          </a:xfrm>
          <a:prstGeom prst="roundRect">
            <a:avLst>
              <a:gd name="adj" fmla="val 5161"/>
            </a:avLst>
          </a:prstGeom>
          <a:solidFill>
            <a:srgbClr val="1B3149"/>
          </a:solidFill>
          <a:ln/>
        </p:spPr>
      </p:sp>
      <p:sp>
        <p:nvSpPr>
          <p:cNvPr id="57" name="Shape 53"/>
          <p:cNvSpPr/>
          <p:nvPr/>
        </p:nvSpPr>
        <p:spPr>
          <a:xfrm>
            <a:off x="868680" y="4114800"/>
            <a:ext cx="1417320" cy="310896"/>
          </a:xfrm>
          <a:prstGeom prst="roundRect">
            <a:avLst>
              <a:gd name="adj" fmla="val 23529"/>
            </a:avLst>
          </a:prstGeom>
          <a:solidFill>
            <a:srgbClr val="2A4A63"/>
          </a:solidFill>
          <a:ln/>
        </p:spPr>
      </p:sp>
      <p:sp>
        <p:nvSpPr>
          <p:cNvPr id="58" name="Text 54"/>
          <p:cNvSpPr txBox="1"/>
          <p:nvPr/>
        </p:nvSpPr>
        <p:spPr>
          <a:xfrm>
            <a:off x="868680" y="4114800"/>
            <a:ext cx="1417320" cy="310896"/>
          </a:xfrm>
          <a:prstGeom prst="rect">
            <a:avLst/>
          </a:prstGeom>
          <a:noFill/>
          <a:ln/>
        </p:spPr>
        <p:txBody>
          <a:bodyPr wrap="square" lIns="0" tIns="0" rIns="0" bIns="0" rtlCol="0" anchor="ctr"/>
          <a:lstStyle/>
          <a:p>
            <a:pPr algn="ctr" indent="0" marL="0">
              <a:buNone/>
            </a:pPr>
            <a:r>
              <a:rPr lang="en-US" sz="700" b="1" spc="50" kern="0" dirty="0">
                <a:solidFill>
                  <a:srgbClr val="B9C4CF"/>
                </a:solidFill>
                <a:latin typeface="Arial" pitchFamily="34" charset="0"/>
                <a:ea typeface="Arial" pitchFamily="34" charset="-122"/>
                <a:cs typeface="Arial" pitchFamily="34" charset="-120"/>
              </a:rPr>
              <a:t>TIER 0 • AUTOMATED</a:t>
            </a:r>
            <a:endParaRPr lang="en-US" sz="700" dirty="0"/>
          </a:p>
        </p:txBody>
      </p:sp>
      <p:sp>
        <p:nvSpPr>
          <p:cNvPr id="59" name="Text 55"/>
          <p:cNvSpPr txBox="1"/>
          <p:nvPr/>
        </p:nvSpPr>
        <p:spPr>
          <a:xfrm>
            <a:off x="868680" y="4572000"/>
            <a:ext cx="2971800" cy="594360"/>
          </a:xfrm>
          <a:prstGeom prst="rect">
            <a:avLst/>
          </a:prstGeom>
          <a:noFill/>
          <a:ln/>
        </p:spPr>
        <p:txBody>
          <a:bodyPr wrap="square" lIns="0" tIns="0" rIns="0" bIns="0" rtlCol="0" anchor="t">
            <a:normAutofit/>
          </a:bodyPr>
          <a:lstStyle/>
          <a:p>
            <a:pPr indent="0" marL="0">
              <a:buNone/>
            </a:pPr>
            <a:r>
              <a:rPr lang="en-US" sz="1100" dirty="0">
                <a:solidFill>
                  <a:srgbClr val="FFFFFF"/>
                </a:solidFill>
                <a:latin typeface="Arial" pitchFamily="34" charset="0"/>
                <a:ea typeface="Arial" pitchFamily="34" charset="-122"/>
                <a:cs typeface="Arial" pitchFamily="34" charset="-120"/>
              </a:rPr>
              <a:t>Understand, locate and cluster; ask one clarifying question if a place is ambiguous.</a:t>
            </a:r>
            <a:endParaRPr lang="en-US" sz="1100" dirty="0"/>
          </a:p>
        </p:txBody>
      </p:sp>
      <p:sp>
        <p:nvSpPr>
          <p:cNvPr id="60" name="Shape 56"/>
          <p:cNvSpPr/>
          <p:nvPr/>
        </p:nvSpPr>
        <p:spPr>
          <a:xfrm>
            <a:off x="4343400" y="3886200"/>
            <a:ext cx="3429000" cy="1417320"/>
          </a:xfrm>
          <a:prstGeom prst="roundRect">
            <a:avLst>
              <a:gd name="adj" fmla="val 5161"/>
            </a:avLst>
          </a:prstGeom>
          <a:solidFill>
            <a:srgbClr val="DCEEE8"/>
          </a:solidFill>
          <a:ln w="9525">
            <a:solidFill>
              <a:srgbClr val="12796D"/>
            </a:solidFill>
            <a:prstDash val="solid"/>
          </a:ln>
        </p:spPr>
      </p:sp>
      <p:sp>
        <p:nvSpPr>
          <p:cNvPr id="61" name="Shape 57"/>
          <p:cNvSpPr/>
          <p:nvPr/>
        </p:nvSpPr>
        <p:spPr>
          <a:xfrm>
            <a:off x="4572000" y="4114800"/>
            <a:ext cx="1417320" cy="310896"/>
          </a:xfrm>
          <a:prstGeom prst="roundRect">
            <a:avLst>
              <a:gd name="adj" fmla="val 23529"/>
            </a:avLst>
          </a:prstGeom>
          <a:solidFill>
            <a:srgbClr val="12796D"/>
          </a:solidFill>
          <a:ln/>
        </p:spPr>
      </p:sp>
      <p:sp>
        <p:nvSpPr>
          <p:cNvPr id="62" name="Text 58"/>
          <p:cNvSpPr txBox="1"/>
          <p:nvPr/>
        </p:nvSpPr>
        <p:spPr>
          <a:xfrm>
            <a:off x="4572000" y="4114800"/>
            <a:ext cx="1417320" cy="310896"/>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TIER 1 • DISTRICT OFFICER</a:t>
            </a:r>
            <a:endParaRPr lang="en-US" sz="700" dirty="0"/>
          </a:p>
        </p:txBody>
      </p:sp>
      <p:sp>
        <p:nvSpPr>
          <p:cNvPr id="63" name="Text 59"/>
          <p:cNvSpPr txBox="1"/>
          <p:nvPr/>
        </p:nvSpPr>
        <p:spPr>
          <a:xfrm>
            <a:off x="4572000" y="4572000"/>
            <a:ext cx="2971800" cy="594360"/>
          </a:xfrm>
          <a:prstGeom prst="rect">
            <a:avLst/>
          </a:prstGeom>
          <a:noFill/>
          <a:ln/>
        </p:spPr>
        <p:txBody>
          <a:bodyPr wrap="square" lIns="0" tIns="0" rIns="0" bIns="0" rtlCol="0" anchor="t">
            <a:normAutofit/>
          </a:bodyPr>
          <a:lstStyle/>
          <a:p>
            <a:pPr indent="0" marL="0">
              <a:buNone/>
            </a:pPr>
            <a:r>
              <a:rPr lang="en-US" sz="1100" dirty="0">
                <a:solidFill>
                  <a:srgbClr val="1B3149"/>
                </a:solidFill>
                <a:latin typeface="Arial" pitchFamily="34" charset="0"/>
                <a:ea typeface="Arial" pitchFamily="34" charset="-122"/>
                <a:cs typeface="Arial" pitchFamily="34" charset="-120"/>
              </a:rPr>
              <a:t>Review ranking and brief, adjust the policy lens, then approve, defer or reject.</a:t>
            </a:r>
            <a:endParaRPr lang="en-US" sz="1100" dirty="0"/>
          </a:p>
        </p:txBody>
      </p:sp>
      <p:sp>
        <p:nvSpPr>
          <p:cNvPr id="64" name="Shape 60"/>
          <p:cNvSpPr/>
          <p:nvPr/>
        </p:nvSpPr>
        <p:spPr>
          <a:xfrm>
            <a:off x="8046720" y="3886200"/>
            <a:ext cx="3429000" cy="1417320"/>
          </a:xfrm>
          <a:prstGeom prst="roundRect">
            <a:avLst>
              <a:gd name="adj" fmla="val 5161"/>
            </a:avLst>
          </a:prstGeom>
          <a:solidFill>
            <a:srgbClr val="FBE6DE"/>
          </a:solidFill>
          <a:ln w="9525">
            <a:solidFill>
              <a:srgbClr val="E8694A"/>
            </a:solidFill>
            <a:prstDash val="solid"/>
          </a:ln>
        </p:spPr>
      </p:sp>
      <p:sp>
        <p:nvSpPr>
          <p:cNvPr id="65" name="Shape 61"/>
          <p:cNvSpPr/>
          <p:nvPr/>
        </p:nvSpPr>
        <p:spPr>
          <a:xfrm>
            <a:off x="8275320" y="4114800"/>
            <a:ext cx="1417320" cy="310896"/>
          </a:xfrm>
          <a:prstGeom prst="roundRect">
            <a:avLst>
              <a:gd name="adj" fmla="val 23529"/>
            </a:avLst>
          </a:prstGeom>
          <a:solidFill>
            <a:srgbClr val="E8694A"/>
          </a:solidFill>
          <a:ln/>
        </p:spPr>
      </p:sp>
      <p:sp>
        <p:nvSpPr>
          <p:cNvPr id="66" name="Text 62"/>
          <p:cNvSpPr txBox="1"/>
          <p:nvPr/>
        </p:nvSpPr>
        <p:spPr>
          <a:xfrm>
            <a:off x="8275320" y="4114800"/>
            <a:ext cx="1417320" cy="310896"/>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TIER 2 • STATE / NATIONAL</a:t>
            </a:r>
            <a:endParaRPr lang="en-US" sz="700" dirty="0"/>
          </a:p>
        </p:txBody>
      </p:sp>
      <p:sp>
        <p:nvSpPr>
          <p:cNvPr id="67" name="Text 63"/>
          <p:cNvSpPr txBox="1"/>
          <p:nvPr/>
        </p:nvSpPr>
        <p:spPr>
          <a:xfrm>
            <a:off x="8275320" y="4572000"/>
            <a:ext cx="2971800" cy="594360"/>
          </a:xfrm>
          <a:prstGeom prst="rect">
            <a:avLst/>
          </a:prstGeom>
          <a:noFill/>
          <a:ln/>
        </p:spPr>
        <p:txBody>
          <a:bodyPr wrap="square" lIns="0" tIns="0" rIns="0" bIns="0" rtlCol="0" anchor="t">
            <a:normAutofit/>
          </a:bodyPr>
          <a:lstStyle/>
          <a:p>
            <a:pPr indent="0" marL="0">
              <a:buNone/>
            </a:pPr>
            <a:r>
              <a:rPr lang="en-US" sz="1100" dirty="0">
                <a:solidFill>
                  <a:srgbClr val="1B3149"/>
                </a:solidFill>
                <a:latin typeface="Arial" pitchFamily="34" charset="0"/>
                <a:ea typeface="Arial" pitchFamily="34" charset="-122"/>
                <a:cs typeface="Arial" pitchFamily="34" charset="-120"/>
              </a:rPr>
              <a:t>Compare districts on the same canonical schema (roadmap: Phase 3–4).</a:t>
            </a:r>
            <a:endParaRPr lang="en-US" sz="1100" dirty="0"/>
          </a:p>
        </p:txBody>
      </p:sp>
      <p:sp>
        <p:nvSpPr>
          <p:cNvPr id="68" name="Text 64"/>
          <p:cNvSpPr txBox="1"/>
          <p:nvPr/>
        </p:nvSpPr>
        <p:spPr>
          <a:xfrm>
            <a:off x="658368" y="5760720"/>
            <a:ext cx="1828800" cy="182880"/>
          </a:xfrm>
          <a:prstGeom prst="rect">
            <a:avLst/>
          </a:prstGeom>
          <a:noFill/>
          <a:ln/>
        </p:spPr>
        <p:txBody>
          <a:bodyPr wrap="square" lIns="0" tIns="0" rIns="0" bIns="0" rtlCol="0" anchor="t"/>
          <a:lstStyle/>
          <a:p>
            <a:pPr indent="0" marL="0">
              <a:buNone/>
            </a:pPr>
            <a:r>
              <a:rPr lang="en-US" sz="800" b="1" spc="100" kern="0" dirty="0">
                <a:solidFill>
                  <a:srgbClr val="12796D"/>
                </a:solidFill>
                <a:latin typeface="Arial" pitchFamily="34" charset="0"/>
                <a:ea typeface="Arial" pitchFamily="34" charset="-122"/>
                <a:cs typeface="Arial" pitchFamily="34" charset="-120"/>
              </a:rPr>
              <a:t>DESIGN ASSUMPTION</a:t>
            </a:r>
            <a:endParaRPr lang="en-US" sz="800" dirty="0"/>
          </a:p>
        </p:txBody>
      </p:sp>
      <p:sp>
        <p:nvSpPr>
          <p:cNvPr id="69" name="Text 65"/>
          <p:cNvSpPr txBox="1"/>
          <p:nvPr/>
        </p:nvSpPr>
        <p:spPr>
          <a:xfrm>
            <a:off x="2560320" y="5705856"/>
            <a:ext cx="8961120" cy="320040"/>
          </a:xfrm>
          <a:prstGeom prst="rect">
            <a:avLst/>
          </a:prstGeom>
          <a:noFill/>
          <a:ln/>
        </p:spPr>
        <p:txBody>
          <a:bodyPr wrap="square" lIns="0" tIns="0" rIns="0" bIns="0" rtlCol="0" anchor="t">
            <a:normAutofit/>
          </a:bodyPr>
          <a:lstStyle/>
          <a:p>
            <a:pPr indent="0" marL="0">
              <a:buNone/>
            </a:pPr>
            <a:r>
              <a:rPr lang="en-US" sz="1250" b="1" dirty="0">
                <a:solidFill>
                  <a:srgbClr val="1B3149"/>
                </a:solidFill>
                <a:latin typeface="Arial" pitchFamily="34" charset="0"/>
                <a:ea typeface="Arial" pitchFamily="34" charset="-122"/>
                <a:cs typeface="Arial" pitchFamily="34" charset="-120"/>
              </a:rPr>
              <a:t>Officer review time per brief and state escalation rules must be tested in a district pilot.</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04 — USERS &amp; CONTEXT</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civic-demand-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Design for the citizen first; equip the officer.</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Two roles in the product: Citizen and Planning Officer. Others appear in the pilot workflow.</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Illustrative image generated with Gemini 2.5 Flash Image (Google).  Personas from PRD §7 and §53; validate locally.</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JANVAANI</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5</a:t>
            </a:r>
            <a:endParaRPr lang="en-US" sz="650" dirty="0"/>
          </a:p>
        </p:txBody>
      </p:sp>
      <p:pic>
        <p:nvPicPr>
          <p:cNvPr id="15" name="Image 1" descr="/Users/pavan/Documents/Code/Build_with_AI/civic-demand-network/docs/pitch/assets/citizen-voice-note.jpg">    </p:cNvPr>
          <p:cNvPicPr>
            <a:picLocks noChangeAspect="1"/>
          </p:cNvPicPr>
          <p:nvPr/>
        </p:nvPicPr>
        <p:blipFill>
          <a:blip r:embed="rId2"/>
          <a:srcRect l="0" r="0" t="0" b="0"/>
          <a:stretch/>
        </p:blipFill>
        <p:spPr>
          <a:xfrm>
            <a:off x="621792" y="1709928"/>
            <a:ext cx="4599432" cy="3017520"/>
          </a:xfrm>
          <a:prstGeom prst="rect">
            <a:avLst/>
          </a:prstGeom>
        </p:spPr>
      </p:pic>
      <p:sp>
        <p:nvSpPr>
          <p:cNvPr id="16" name="Shape 11"/>
          <p:cNvSpPr/>
          <p:nvPr/>
        </p:nvSpPr>
        <p:spPr>
          <a:xfrm>
            <a:off x="621792" y="4727448"/>
            <a:ext cx="4599432" cy="1243584"/>
          </a:xfrm>
          <a:prstGeom prst="rect">
            <a:avLst/>
          </a:prstGeom>
          <a:solidFill>
            <a:srgbClr val="1B3149"/>
          </a:solidFill>
          <a:ln/>
        </p:spPr>
      </p:sp>
      <p:sp>
        <p:nvSpPr>
          <p:cNvPr id="17" name="Text 12"/>
          <p:cNvSpPr txBox="1"/>
          <p:nvPr/>
        </p:nvSpPr>
        <p:spPr>
          <a:xfrm>
            <a:off x="896112" y="5020056"/>
            <a:ext cx="4050792" cy="182880"/>
          </a:xfrm>
          <a:prstGeom prst="rect">
            <a:avLst/>
          </a:prstGeom>
          <a:noFill/>
          <a:ln/>
        </p:spPr>
        <p:txBody>
          <a:bodyPr wrap="square" lIns="0" tIns="0" rIns="0" bIns="0" rtlCol="0" anchor="t"/>
          <a:lstStyle/>
          <a:p>
            <a:pPr indent="0" marL="0">
              <a:buNone/>
            </a:pPr>
            <a:r>
              <a:rPr lang="en-US" sz="1000" b="1" spc="100" kern="0" dirty="0">
                <a:solidFill>
                  <a:srgbClr val="9ED8CC"/>
                </a:solidFill>
                <a:latin typeface="Arial" pitchFamily="34" charset="0"/>
                <a:ea typeface="Arial" pitchFamily="34" charset="-122"/>
                <a:cs typeface="Arial" pitchFamily="34" charset="-120"/>
              </a:rPr>
              <a:t>CITIZEN  •  PRIMARY USER</a:t>
            </a:r>
            <a:endParaRPr lang="en-US" sz="1000" dirty="0"/>
          </a:p>
        </p:txBody>
      </p:sp>
      <p:sp>
        <p:nvSpPr>
          <p:cNvPr id="18" name="Text 13"/>
          <p:cNvSpPr txBox="1"/>
          <p:nvPr/>
        </p:nvSpPr>
        <p:spPr>
          <a:xfrm>
            <a:off x="896112" y="5321808"/>
            <a:ext cx="4050792" cy="457200"/>
          </a:xfrm>
          <a:prstGeom prst="rect">
            <a:avLst/>
          </a:prstGeom>
          <a:noFill/>
          <a:ln/>
        </p:spPr>
        <p:txBody>
          <a:bodyPr wrap="square" lIns="0" tIns="0" rIns="0" bIns="0" rtlCol="0" anchor="t">
            <a:normAutofit/>
          </a:bodyPr>
          <a:lstStyle/>
          <a:p>
            <a:pPr indent="0" marL="0">
              <a:buNone/>
            </a:pPr>
            <a:r>
              <a:rPr lang="en-US" sz="1600" b="1" dirty="0">
                <a:solidFill>
                  <a:srgbClr val="FFFFFF"/>
                </a:solidFill>
                <a:latin typeface="Arial" pitchFamily="34" charset="0"/>
                <a:ea typeface="Arial" pitchFamily="34" charset="-122"/>
                <a:cs typeface="Arial" pitchFamily="34" charset="-120"/>
              </a:rPr>
              <a:t>Speaks Hindi • mobile-first • may have limited literacy</a:t>
            </a:r>
            <a:endParaRPr lang="en-US" sz="1600" dirty="0"/>
          </a:p>
        </p:txBody>
      </p:sp>
      <p:sp>
        <p:nvSpPr>
          <p:cNvPr id="19" name="Shape 14"/>
          <p:cNvSpPr/>
          <p:nvPr/>
        </p:nvSpPr>
        <p:spPr>
          <a:xfrm>
            <a:off x="5550408" y="1719072"/>
            <a:ext cx="5961888" cy="795528"/>
          </a:xfrm>
          <a:prstGeom prst="roundRect">
            <a:avLst>
              <a:gd name="adj" fmla="val 11494"/>
            </a:avLst>
          </a:prstGeom>
          <a:solidFill>
            <a:srgbClr val="FFFDF7"/>
          </a:solidFill>
          <a:ln w="9525">
            <a:solidFill>
              <a:srgbClr val="DCD5C5"/>
            </a:solidFill>
            <a:prstDash val="solid"/>
          </a:ln>
        </p:spPr>
      </p:sp>
      <p:sp>
        <p:nvSpPr>
          <p:cNvPr id="20" name="Shape 15"/>
          <p:cNvSpPr/>
          <p:nvPr/>
        </p:nvSpPr>
        <p:spPr>
          <a:xfrm>
            <a:off x="5742432" y="1911096"/>
            <a:ext cx="393192" cy="393192"/>
          </a:xfrm>
          <a:prstGeom prst="ellipse">
            <a:avLst/>
          </a:prstGeom>
          <a:solidFill>
            <a:srgbClr val="12796D"/>
          </a:solidFill>
          <a:ln/>
        </p:spPr>
      </p:sp>
      <p:sp>
        <p:nvSpPr>
          <p:cNvPr id="21" name="Text 16"/>
          <p:cNvSpPr txBox="1"/>
          <p:nvPr/>
        </p:nvSpPr>
        <p:spPr>
          <a:xfrm>
            <a:off x="5742432" y="1911096"/>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01</a:t>
            </a:r>
            <a:endParaRPr lang="en-US" sz="1000" dirty="0"/>
          </a:p>
        </p:txBody>
      </p:sp>
      <p:sp>
        <p:nvSpPr>
          <p:cNvPr id="22" name="Text 17"/>
          <p:cNvSpPr txBox="1"/>
          <p:nvPr/>
        </p:nvSpPr>
        <p:spPr>
          <a:xfrm>
            <a:off x="6263640" y="1874520"/>
            <a:ext cx="1463040" cy="201168"/>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DISTRICT OFFICER</a:t>
            </a:r>
            <a:endParaRPr lang="en-US" sz="1100" dirty="0"/>
          </a:p>
        </p:txBody>
      </p:sp>
      <p:sp>
        <p:nvSpPr>
          <p:cNvPr id="23" name="Text 18"/>
          <p:cNvSpPr txBox="1"/>
          <p:nvPr/>
        </p:nvSpPr>
        <p:spPr>
          <a:xfrm>
            <a:off x="6263640" y="2148840"/>
            <a:ext cx="1463040" cy="182880"/>
          </a:xfrm>
          <a:prstGeom prst="rect">
            <a:avLst/>
          </a:prstGeom>
          <a:noFill/>
          <a:ln/>
        </p:spPr>
        <p:txBody>
          <a:bodyPr wrap="square" lIns="0" tIns="0" rIns="0" bIns="0" rtlCol="0" anchor="t">
            <a:normAutofit/>
          </a:bodyPr>
          <a:lstStyle/>
          <a:p>
            <a:pPr indent="0" marL="0">
              <a:buNone/>
            </a:pPr>
            <a:r>
              <a:rPr lang="en-US" sz="850" dirty="0">
                <a:solidFill>
                  <a:srgbClr val="6B6B6B"/>
                </a:solidFill>
                <a:latin typeface="Arial" pitchFamily="34" charset="0"/>
                <a:ea typeface="Arial" pitchFamily="34" charset="-122"/>
                <a:cs typeface="Arial" pitchFamily="34" charset="-120"/>
              </a:rPr>
              <a:t>Planning Officer</a:t>
            </a:r>
            <a:endParaRPr lang="en-US" sz="850" dirty="0"/>
          </a:p>
        </p:txBody>
      </p:sp>
      <p:sp>
        <p:nvSpPr>
          <p:cNvPr id="24" name="Text 19"/>
          <p:cNvSpPr txBox="1"/>
          <p:nvPr/>
        </p:nvSpPr>
        <p:spPr>
          <a:xfrm>
            <a:off x="7818120" y="1874520"/>
            <a:ext cx="3566160" cy="54864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Needs a defensible, sourced ranking, not an inbox of 1,000 messages.</a:t>
            </a:r>
            <a:endParaRPr lang="en-US" sz="1000" dirty="0"/>
          </a:p>
        </p:txBody>
      </p:sp>
      <p:sp>
        <p:nvSpPr>
          <p:cNvPr id="25" name="Shape 20"/>
          <p:cNvSpPr/>
          <p:nvPr/>
        </p:nvSpPr>
        <p:spPr>
          <a:xfrm>
            <a:off x="5550408" y="2688336"/>
            <a:ext cx="5961888" cy="795528"/>
          </a:xfrm>
          <a:prstGeom prst="roundRect">
            <a:avLst>
              <a:gd name="adj" fmla="val 11494"/>
            </a:avLst>
          </a:prstGeom>
          <a:solidFill>
            <a:srgbClr val="DCEEE8"/>
          </a:solidFill>
          <a:ln w="9525">
            <a:solidFill>
              <a:srgbClr val="12796D"/>
            </a:solidFill>
            <a:prstDash val="solid"/>
          </a:ln>
        </p:spPr>
      </p:sp>
      <p:sp>
        <p:nvSpPr>
          <p:cNvPr id="26" name="Shape 21"/>
          <p:cNvSpPr/>
          <p:nvPr/>
        </p:nvSpPr>
        <p:spPr>
          <a:xfrm>
            <a:off x="5742432" y="2880360"/>
            <a:ext cx="393192" cy="393192"/>
          </a:xfrm>
          <a:prstGeom prst="ellipse">
            <a:avLst/>
          </a:prstGeom>
          <a:solidFill>
            <a:srgbClr val="12796D"/>
          </a:solidFill>
          <a:ln/>
        </p:spPr>
      </p:sp>
      <p:sp>
        <p:nvSpPr>
          <p:cNvPr id="27" name="Text 22"/>
          <p:cNvSpPr txBox="1"/>
          <p:nvPr/>
        </p:nvSpPr>
        <p:spPr>
          <a:xfrm>
            <a:off x="5742432" y="288036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02</a:t>
            </a:r>
            <a:endParaRPr lang="en-US" sz="1000" dirty="0"/>
          </a:p>
        </p:txBody>
      </p:sp>
      <p:sp>
        <p:nvSpPr>
          <p:cNvPr id="28" name="Text 23"/>
          <p:cNvSpPr txBox="1"/>
          <p:nvPr/>
        </p:nvSpPr>
        <p:spPr>
          <a:xfrm>
            <a:off x="6263640" y="2843784"/>
            <a:ext cx="1463040" cy="201168"/>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STATE DEPT.</a:t>
            </a:r>
            <a:endParaRPr lang="en-US" sz="1100" dirty="0"/>
          </a:p>
        </p:txBody>
      </p:sp>
      <p:sp>
        <p:nvSpPr>
          <p:cNvPr id="29" name="Text 24"/>
          <p:cNvSpPr txBox="1"/>
          <p:nvPr/>
        </p:nvSpPr>
        <p:spPr>
          <a:xfrm>
            <a:off x="6263640" y="3118104"/>
            <a:ext cx="1463040" cy="182880"/>
          </a:xfrm>
          <a:prstGeom prst="rect">
            <a:avLst/>
          </a:prstGeom>
          <a:noFill/>
          <a:ln/>
        </p:spPr>
        <p:txBody>
          <a:bodyPr wrap="square" lIns="0" tIns="0" rIns="0" bIns="0" rtlCol="0" anchor="t">
            <a:normAutofit/>
          </a:bodyPr>
          <a:lstStyle/>
          <a:p>
            <a:pPr indent="0" marL="0">
              <a:buNone/>
            </a:pPr>
            <a:r>
              <a:rPr lang="en-US" sz="850" dirty="0">
                <a:solidFill>
                  <a:srgbClr val="6B6B6B"/>
                </a:solidFill>
                <a:latin typeface="Arial" pitchFamily="34" charset="0"/>
                <a:ea typeface="Arial" pitchFamily="34" charset="-122"/>
                <a:cs typeface="Arial" pitchFamily="34" charset="-120"/>
              </a:rPr>
              <a:t>Planning Officer (state)</a:t>
            </a:r>
            <a:endParaRPr lang="en-US" sz="850" dirty="0"/>
          </a:p>
        </p:txBody>
      </p:sp>
      <p:sp>
        <p:nvSpPr>
          <p:cNvPr id="30" name="Text 25"/>
          <p:cNvSpPr txBox="1"/>
          <p:nvPr/>
        </p:nvSpPr>
        <p:spPr>
          <a:xfrm>
            <a:off x="7818120" y="2843784"/>
            <a:ext cx="3566160" cy="54864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Compares districts; onboards via an adapter config, not new code.</a:t>
            </a:r>
            <a:endParaRPr lang="en-US" sz="1000" dirty="0"/>
          </a:p>
        </p:txBody>
      </p:sp>
      <p:sp>
        <p:nvSpPr>
          <p:cNvPr id="31" name="Shape 26"/>
          <p:cNvSpPr/>
          <p:nvPr/>
        </p:nvSpPr>
        <p:spPr>
          <a:xfrm>
            <a:off x="5550408" y="3657600"/>
            <a:ext cx="5961888" cy="795528"/>
          </a:xfrm>
          <a:prstGeom prst="roundRect">
            <a:avLst>
              <a:gd name="adj" fmla="val 11494"/>
            </a:avLst>
          </a:prstGeom>
          <a:solidFill>
            <a:srgbClr val="FFFDF7"/>
          </a:solidFill>
          <a:ln w="9525">
            <a:solidFill>
              <a:srgbClr val="DCD5C5"/>
            </a:solidFill>
            <a:prstDash val="solid"/>
          </a:ln>
        </p:spPr>
      </p:sp>
      <p:sp>
        <p:nvSpPr>
          <p:cNvPr id="32" name="Shape 27"/>
          <p:cNvSpPr/>
          <p:nvPr/>
        </p:nvSpPr>
        <p:spPr>
          <a:xfrm>
            <a:off x="5742432" y="3849624"/>
            <a:ext cx="393192" cy="393192"/>
          </a:xfrm>
          <a:prstGeom prst="ellipse">
            <a:avLst/>
          </a:prstGeom>
          <a:solidFill>
            <a:srgbClr val="12796D"/>
          </a:solidFill>
          <a:ln/>
        </p:spPr>
      </p:sp>
      <p:sp>
        <p:nvSpPr>
          <p:cNvPr id="33" name="Text 28"/>
          <p:cNvSpPr txBox="1"/>
          <p:nvPr/>
        </p:nvSpPr>
        <p:spPr>
          <a:xfrm>
            <a:off x="5742432" y="3849624"/>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03</a:t>
            </a:r>
            <a:endParaRPr lang="en-US" sz="1000" dirty="0"/>
          </a:p>
        </p:txBody>
      </p:sp>
      <p:sp>
        <p:nvSpPr>
          <p:cNvPr id="34" name="Text 29"/>
          <p:cNvSpPr txBox="1"/>
          <p:nvPr/>
        </p:nvSpPr>
        <p:spPr>
          <a:xfrm>
            <a:off x="6263640" y="3813048"/>
            <a:ext cx="1463040" cy="201168"/>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BLOCK ENGINEER</a:t>
            </a:r>
            <a:endParaRPr lang="en-US" sz="1100" dirty="0"/>
          </a:p>
        </p:txBody>
      </p:sp>
      <p:sp>
        <p:nvSpPr>
          <p:cNvPr id="35" name="Text 30"/>
          <p:cNvSpPr txBox="1"/>
          <p:nvPr/>
        </p:nvSpPr>
        <p:spPr>
          <a:xfrm>
            <a:off x="6263640" y="4087368"/>
            <a:ext cx="1463040" cy="182880"/>
          </a:xfrm>
          <a:prstGeom prst="rect">
            <a:avLst/>
          </a:prstGeom>
          <a:noFill/>
          <a:ln/>
        </p:spPr>
        <p:txBody>
          <a:bodyPr wrap="square" lIns="0" tIns="0" rIns="0" bIns="0" rtlCol="0" anchor="t">
            <a:normAutofit/>
          </a:bodyPr>
          <a:lstStyle/>
          <a:p>
            <a:pPr indent="0" marL="0">
              <a:buNone/>
            </a:pPr>
            <a:r>
              <a:rPr lang="en-US" sz="850" dirty="0">
                <a:solidFill>
                  <a:srgbClr val="6B6B6B"/>
                </a:solidFill>
                <a:latin typeface="Arial" pitchFamily="34" charset="0"/>
                <a:ea typeface="Arial" pitchFamily="34" charset="-122"/>
                <a:cs typeface="Arial" pitchFamily="34" charset="-120"/>
              </a:rPr>
              <a:t>Field verification</a:t>
            </a:r>
            <a:endParaRPr lang="en-US" sz="850" dirty="0"/>
          </a:p>
        </p:txBody>
      </p:sp>
      <p:sp>
        <p:nvSpPr>
          <p:cNvPr id="36" name="Text 31"/>
          <p:cNvSpPr txBox="1"/>
          <p:nvPr/>
        </p:nvSpPr>
        <p:spPr>
          <a:xfrm>
            <a:off x="7818120" y="3813048"/>
            <a:ext cx="3566160" cy="54864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Confirms site and scope before a project report is prepared.</a:t>
            </a:r>
            <a:endParaRPr lang="en-US" sz="1000" dirty="0"/>
          </a:p>
        </p:txBody>
      </p:sp>
      <p:sp>
        <p:nvSpPr>
          <p:cNvPr id="37" name="Shape 32"/>
          <p:cNvSpPr/>
          <p:nvPr/>
        </p:nvSpPr>
        <p:spPr>
          <a:xfrm>
            <a:off x="5550408" y="4626864"/>
            <a:ext cx="5961888" cy="795528"/>
          </a:xfrm>
          <a:prstGeom prst="roundRect">
            <a:avLst>
              <a:gd name="adj" fmla="val 11494"/>
            </a:avLst>
          </a:prstGeom>
          <a:solidFill>
            <a:srgbClr val="FFFDF7"/>
          </a:solidFill>
          <a:ln w="9525">
            <a:solidFill>
              <a:srgbClr val="DCD5C5"/>
            </a:solidFill>
            <a:prstDash val="solid"/>
          </a:ln>
        </p:spPr>
      </p:sp>
      <p:sp>
        <p:nvSpPr>
          <p:cNvPr id="38" name="Shape 33"/>
          <p:cNvSpPr/>
          <p:nvPr/>
        </p:nvSpPr>
        <p:spPr>
          <a:xfrm>
            <a:off x="5742432" y="4818888"/>
            <a:ext cx="393192" cy="393192"/>
          </a:xfrm>
          <a:prstGeom prst="ellipse">
            <a:avLst/>
          </a:prstGeom>
          <a:solidFill>
            <a:srgbClr val="E8694A"/>
          </a:solidFill>
          <a:ln/>
        </p:spPr>
      </p:sp>
      <p:sp>
        <p:nvSpPr>
          <p:cNvPr id="39" name="Text 34"/>
          <p:cNvSpPr txBox="1"/>
          <p:nvPr/>
        </p:nvSpPr>
        <p:spPr>
          <a:xfrm>
            <a:off x="5742432" y="4818888"/>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04</a:t>
            </a:r>
            <a:endParaRPr lang="en-US" sz="1000" dirty="0"/>
          </a:p>
        </p:txBody>
      </p:sp>
      <p:sp>
        <p:nvSpPr>
          <p:cNvPr id="40" name="Text 35"/>
          <p:cNvSpPr txBox="1"/>
          <p:nvPr/>
        </p:nvSpPr>
        <p:spPr>
          <a:xfrm>
            <a:off x="6263640" y="4782312"/>
            <a:ext cx="1463040" cy="201168"/>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CSC / ASHA</a:t>
            </a:r>
            <a:endParaRPr lang="en-US" sz="1100" dirty="0"/>
          </a:p>
        </p:txBody>
      </p:sp>
      <p:sp>
        <p:nvSpPr>
          <p:cNvPr id="41" name="Text 36"/>
          <p:cNvSpPr txBox="1"/>
          <p:nvPr/>
        </p:nvSpPr>
        <p:spPr>
          <a:xfrm>
            <a:off x="6263640" y="5056632"/>
            <a:ext cx="1463040" cy="182880"/>
          </a:xfrm>
          <a:prstGeom prst="rect">
            <a:avLst/>
          </a:prstGeom>
          <a:noFill/>
          <a:ln/>
        </p:spPr>
        <p:txBody>
          <a:bodyPr wrap="square" lIns="0" tIns="0" rIns="0" bIns="0" rtlCol="0" anchor="t">
            <a:normAutofit/>
          </a:bodyPr>
          <a:lstStyle/>
          <a:p>
            <a:pPr indent="0" marL="0">
              <a:buNone/>
            </a:pPr>
            <a:r>
              <a:rPr lang="en-US" sz="850" dirty="0">
                <a:solidFill>
                  <a:srgbClr val="6B6B6B"/>
                </a:solidFill>
                <a:latin typeface="Arial" pitchFamily="34" charset="0"/>
                <a:ea typeface="Arial" pitchFamily="34" charset="-122"/>
                <a:cs typeface="Arial" pitchFamily="34" charset="-120"/>
              </a:rPr>
              <a:t>Assisted capture (roadmap)</a:t>
            </a:r>
            <a:endParaRPr lang="en-US" sz="850" dirty="0"/>
          </a:p>
        </p:txBody>
      </p:sp>
      <p:sp>
        <p:nvSpPr>
          <p:cNvPr id="42" name="Text 37"/>
          <p:cNvSpPr txBox="1"/>
          <p:nvPr/>
        </p:nvSpPr>
        <p:spPr>
          <a:xfrm>
            <a:off x="7818120" y="4782312"/>
            <a:ext cx="3566160" cy="54864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Records requests for citizens without a smartphone.</a:t>
            </a:r>
            <a:endParaRPr lang="en-US" sz="1000" dirty="0"/>
          </a:p>
        </p:txBody>
      </p:sp>
      <p:sp>
        <p:nvSpPr>
          <p:cNvPr id="43" name="Text 38"/>
          <p:cNvSpPr txBox="1"/>
          <p:nvPr/>
        </p:nvSpPr>
        <p:spPr>
          <a:xfrm>
            <a:off x="5577840" y="5596128"/>
            <a:ext cx="3657600" cy="146304"/>
          </a:xfrm>
          <a:prstGeom prst="rect">
            <a:avLst/>
          </a:prstGeom>
          <a:noFill/>
          <a:ln/>
        </p:spPr>
        <p:txBody>
          <a:bodyPr wrap="square" lIns="0" tIns="0" rIns="0" bIns="0" rtlCol="0" anchor="t"/>
          <a:lstStyle/>
          <a:p>
            <a:pPr indent="0" marL="0">
              <a:buNone/>
            </a:pPr>
            <a:r>
              <a:rPr lang="en-US" sz="800" b="1" dirty="0">
                <a:solidFill>
                  <a:srgbClr val="12796D"/>
                </a:solidFill>
                <a:latin typeface="Arial" pitchFamily="34" charset="0"/>
                <a:ea typeface="Arial" pitchFamily="34" charset="-122"/>
                <a:cs typeface="Arial" pitchFamily="34" charset="-120"/>
              </a:rPr>
              <a:t>CONSTRAINT → DESIGN RESPONSE</a:t>
            </a:r>
            <a:endParaRPr lang="en-US" sz="800" dirty="0"/>
          </a:p>
        </p:txBody>
      </p:sp>
      <p:sp>
        <p:nvSpPr>
          <p:cNvPr id="44" name="Shape 39"/>
          <p:cNvSpPr/>
          <p:nvPr/>
        </p:nvSpPr>
        <p:spPr>
          <a:xfrm>
            <a:off x="5577840" y="5824728"/>
            <a:ext cx="1783080" cy="347472"/>
          </a:xfrm>
          <a:prstGeom prst="roundRect">
            <a:avLst>
              <a:gd name="adj" fmla="val 21053"/>
            </a:avLst>
          </a:prstGeom>
          <a:solidFill>
            <a:srgbClr val="FFFDF7"/>
          </a:solidFill>
          <a:ln w="9525">
            <a:solidFill>
              <a:srgbClr val="DCD5C5"/>
            </a:solidFill>
            <a:prstDash val="solid"/>
          </a:ln>
        </p:spPr>
      </p:sp>
      <p:sp>
        <p:nvSpPr>
          <p:cNvPr id="45" name="Text 40"/>
          <p:cNvSpPr txBox="1"/>
          <p:nvPr/>
        </p:nvSpPr>
        <p:spPr>
          <a:xfrm>
            <a:off x="5650992" y="5852160"/>
            <a:ext cx="658368" cy="292608"/>
          </a:xfrm>
          <a:prstGeom prst="rect">
            <a:avLst/>
          </a:prstGeom>
          <a:noFill/>
          <a:ln/>
        </p:spPr>
        <p:txBody>
          <a:bodyPr wrap="square" lIns="0" tIns="0" rIns="0" bIns="0" rtlCol="0" anchor="ctr">
            <a:normAutofit/>
          </a:bodyPr>
          <a:lstStyle/>
          <a:p>
            <a:pPr indent="0" marL="0">
              <a:buNone/>
            </a:pPr>
            <a:r>
              <a:rPr lang="en-US" sz="650" b="1" dirty="0">
                <a:solidFill>
                  <a:srgbClr val="E8694A"/>
                </a:solidFill>
                <a:latin typeface="Arial" pitchFamily="34" charset="0"/>
                <a:ea typeface="Arial" pitchFamily="34" charset="-122"/>
                <a:cs typeface="Arial" pitchFamily="34" charset="-120"/>
              </a:rPr>
              <a:t>LOW LITERACY</a:t>
            </a:r>
            <a:endParaRPr lang="en-US" sz="650" dirty="0"/>
          </a:p>
        </p:txBody>
      </p:sp>
      <p:sp>
        <p:nvSpPr>
          <p:cNvPr id="46" name="Text 41"/>
          <p:cNvSpPr txBox="1"/>
          <p:nvPr/>
        </p:nvSpPr>
        <p:spPr>
          <a:xfrm>
            <a:off x="6327648" y="5852160"/>
            <a:ext cx="987552" cy="292608"/>
          </a:xfrm>
          <a:prstGeom prst="rect">
            <a:avLst/>
          </a:prstGeom>
          <a:noFill/>
          <a:ln/>
        </p:spPr>
        <p:txBody>
          <a:bodyPr wrap="square" lIns="0" tIns="0" rIns="0" bIns="0" rtlCol="0" anchor="ctr">
            <a:normAutofit/>
          </a:bodyPr>
          <a:lstStyle/>
          <a:p>
            <a:pPr indent="0" marL="0">
              <a:buNone/>
            </a:pPr>
            <a:r>
              <a:rPr lang="en-US" sz="750" dirty="0">
                <a:solidFill>
                  <a:srgbClr val="1B3149"/>
                </a:solidFill>
                <a:latin typeface="Arial" pitchFamily="34" charset="0"/>
                <a:ea typeface="Arial" pitchFamily="34" charset="-122"/>
                <a:cs typeface="Arial" pitchFamily="34" charset="-120"/>
              </a:rPr>
              <a:t>voice + spoken reply</a:t>
            </a:r>
            <a:endParaRPr lang="en-US" sz="750" dirty="0"/>
          </a:p>
        </p:txBody>
      </p:sp>
      <p:sp>
        <p:nvSpPr>
          <p:cNvPr id="47" name="Shape 42"/>
          <p:cNvSpPr/>
          <p:nvPr/>
        </p:nvSpPr>
        <p:spPr>
          <a:xfrm>
            <a:off x="7498080" y="5824728"/>
            <a:ext cx="1783080" cy="347472"/>
          </a:xfrm>
          <a:prstGeom prst="roundRect">
            <a:avLst>
              <a:gd name="adj" fmla="val 21053"/>
            </a:avLst>
          </a:prstGeom>
          <a:solidFill>
            <a:srgbClr val="FFFDF7"/>
          </a:solidFill>
          <a:ln w="9525">
            <a:solidFill>
              <a:srgbClr val="DCD5C5"/>
            </a:solidFill>
            <a:prstDash val="solid"/>
          </a:ln>
        </p:spPr>
      </p:sp>
      <p:sp>
        <p:nvSpPr>
          <p:cNvPr id="48" name="Text 43"/>
          <p:cNvSpPr txBox="1"/>
          <p:nvPr/>
        </p:nvSpPr>
        <p:spPr>
          <a:xfrm>
            <a:off x="7571232" y="5852160"/>
            <a:ext cx="658368" cy="292608"/>
          </a:xfrm>
          <a:prstGeom prst="rect">
            <a:avLst/>
          </a:prstGeom>
          <a:noFill/>
          <a:ln/>
        </p:spPr>
        <p:txBody>
          <a:bodyPr wrap="square" lIns="0" tIns="0" rIns="0" bIns="0" rtlCol="0" anchor="ctr">
            <a:normAutofit/>
          </a:bodyPr>
          <a:lstStyle/>
          <a:p>
            <a:pPr indent="0" marL="0">
              <a:buNone/>
            </a:pPr>
            <a:r>
              <a:rPr lang="en-US" sz="650" b="1" dirty="0">
                <a:solidFill>
                  <a:srgbClr val="E8694A"/>
                </a:solidFill>
                <a:latin typeface="Arial" pitchFamily="34" charset="0"/>
                <a:ea typeface="Arial" pitchFamily="34" charset="-122"/>
                <a:cs typeface="Arial" pitchFamily="34" charset="-120"/>
              </a:rPr>
              <a:t>MANY LANGUAGES</a:t>
            </a:r>
            <a:endParaRPr lang="en-US" sz="650" dirty="0"/>
          </a:p>
        </p:txBody>
      </p:sp>
      <p:sp>
        <p:nvSpPr>
          <p:cNvPr id="49" name="Text 44"/>
          <p:cNvSpPr txBox="1"/>
          <p:nvPr/>
        </p:nvSpPr>
        <p:spPr>
          <a:xfrm>
            <a:off x="8247888" y="5852160"/>
            <a:ext cx="987552" cy="292608"/>
          </a:xfrm>
          <a:prstGeom prst="rect">
            <a:avLst/>
          </a:prstGeom>
          <a:noFill/>
          <a:ln/>
        </p:spPr>
        <p:txBody>
          <a:bodyPr wrap="square" lIns="0" tIns="0" rIns="0" bIns="0" rtlCol="0" anchor="ctr">
            <a:normAutofit/>
          </a:bodyPr>
          <a:lstStyle/>
          <a:p>
            <a:pPr indent="0" marL="0">
              <a:buNone/>
            </a:pPr>
            <a:r>
              <a:rPr lang="en-US" sz="750" dirty="0">
                <a:solidFill>
                  <a:srgbClr val="1B3149"/>
                </a:solidFill>
                <a:latin typeface="Arial" pitchFamily="34" charset="0"/>
                <a:ea typeface="Arial" pitchFamily="34" charset="-122"/>
                <a:cs typeface="Arial" pitchFamily="34" charset="-120"/>
              </a:rPr>
              <a:t>HI • TE • EN</a:t>
            </a:r>
            <a:endParaRPr lang="en-US" sz="750" dirty="0"/>
          </a:p>
        </p:txBody>
      </p:sp>
      <p:sp>
        <p:nvSpPr>
          <p:cNvPr id="50" name="Shape 45"/>
          <p:cNvSpPr/>
          <p:nvPr/>
        </p:nvSpPr>
        <p:spPr>
          <a:xfrm>
            <a:off x="9418320" y="5824728"/>
            <a:ext cx="1783080" cy="347472"/>
          </a:xfrm>
          <a:prstGeom prst="roundRect">
            <a:avLst>
              <a:gd name="adj" fmla="val 21053"/>
            </a:avLst>
          </a:prstGeom>
          <a:solidFill>
            <a:srgbClr val="FFFDF7"/>
          </a:solidFill>
          <a:ln w="9525">
            <a:solidFill>
              <a:srgbClr val="DCD5C5"/>
            </a:solidFill>
            <a:prstDash val="solid"/>
          </a:ln>
        </p:spPr>
      </p:sp>
      <p:sp>
        <p:nvSpPr>
          <p:cNvPr id="51" name="Text 46"/>
          <p:cNvSpPr txBox="1"/>
          <p:nvPr/>
        </p:nvSpPr>
        <p:spPr>
          <a:xfrm>
            <a:off x="9491472" y="5852160"/>
            <a:ext cx="658368" cy="292608"/>
          </a:xfrm>
          <a:prstGeom prst="rect">
            <a:avLst/>
          </a:prstGeom>
          <a:noFill/>
          <a:ln/>
        </p:spPr>
        <p:txBody>
          <a:bodyPr wrap="square" lIns="0" tIns="0" rIns="0" bIns="0" rtlCol="0" anchor="ctr">
            <a:normAutofit/>
          </a:bodyPr>
          <a:lstStyle/>
          <a:p>
            <a:pPr indent="0" marL="0">
              <a:buNone/>
            </a:pPr>
            <a:r>
              <a:rPr lang="en-US" sz="650" b="1" dirty="0">
                <a:solidFill>
                  <a:srgbClr val="E8694A"/>
                </a:solidFill>
                <a:latin typeface="Arial" pitchFamily="34" charset="0"/>
                <a:ea typeface="Arial" pitchFamily="34" charset="-122"/>
                <a:cs typeface="Arial" pitchFamily="34" charset="-120"/>
              </a:rPr>
              <a:t>VAGUE PLACE</a:t>
            </a:r>
            <a:endParaRPr lang="en-US" sz="650" dirty="0"/>
          </a:p>
        </p:txBody>
      </p:sp>
      <p:sp>
        <p:nvSpPr>
          <p:cNvPr id="52" name="Text 47"/>
          <p:cNvSpPr txBox="1"/>
          <p:nvPr/>
        </p:nvSpPr>
        <p:spPr>
          <a:xfrm>
            <a:off x="10168128" y="5852160"/>
            <a:ext cx="987552" cy="292608"/>
          </a:xfrm>
          <a:prstGeom prst="rect">
            <a:avLst/>
          </a:prstGeom>
          <a:noFill/>
          <a:ln/>
        </p:spPr>
        <p:txBody>
          <a:bodyPr wrap="square" lIns="0" tIns="0" rIns="0" bIns="0" rtlCol="0" anchor="ctr">
            <a:normAutofit/>
          </a:bodyPr>
          <a:lstStyle/>
          <a:p>
            <a:pPr indent="0" marL="0">
              <a:buNone/>
            </a:pPr>
            <a:r>
              <a:rPr lang="en-US" sz="750" dirty="0">
                <a:solidFill>
                  <a:srgbClr val="1B3149"/>
                </a:solidFill>
                <a:latin typeface="Arial" pitchFamily="34" charset="0"/>
                <a:ea typeface="Arial" pitchFamily="34" charset="-122"/>
                <a:cs typeface="Arial" pitchFamily="34" charset="-120"/>
              </a:rPr>
              <a:t>one clarifying question</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05 — JOURNEY</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civic-demand-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A parent in Gaya, from voice note to recommendation.</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Scenario A (PRD §43–44), run against the prototype on 30 September 2026 with synthetic sample data.</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Timings and scores from the local prototype run (gemini-2.5-flash, extract_v1 / evidence_brief_v1); all data synthetic.</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JANVAANI</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6</a:t>
            </a:r>
            <a:endParaRPr lang="en-US" sz="650" dirty="0"/>
          </a:p>
        </p:txBody>
      </p:sp>
      <p:sp>
        <p:nvSpPr>
          <p:cNvPr id="15" name="Shape 11"/>
          <p:cNvSpPr/>
          <p:nvPr/>
        </p:nvSpPr>
        <p:spPr>
          <a:xfrm>
            <a:off x="621792" y="1755648"/>
            <a:ext cx="2496312" cy="1417320"/>
          </a:xfrm>
          <a:prstGeom prst="roundRect">
            <a:avLst>
              <a:gd name="adj" fmla="val 6452"/>
            </a:avLst>
          </a:prstGeom>
          <a:solidFill>
            <a:srgbClr val="FFFDF7"/>
          </a:solidFill>
          <a:ln w="9525">
            <a:solidFill>
              <a:srgbClr val="DCD5C5"/>
            </a:solidFill>
            <a:prstDash val="solid"/>
          </a:ln>
        </p:spPr>
      </p:sp>
      <p:sp>
        <p:nvSpPr>
          <p:cNvPr id="16" name="Text 12"/>
          <p:cNvSpPr txBox="1"/>
          <p:nvPr/>
        </p:nvSpPr>
        <p:spPr>
          <a:xfrm>
            <a:off x="777240" y="1956816"/>
            <a:ext cx="2221992" cy="146304"/>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BEFORE</a:t>
            </a:r>
            <a:endParaRPr lang="en-US" sz="750" dirty="0"/>
          </a:p>
        </p:txBody>
      </p:sp>
      <p:sp>
        <p:nvSpPr>
          <p:cNvPr id="17" name="Text 13"/>
          <p:cNvSpPr txBox="1"/>
          <p:nvPr/>
        </p:nvSpPr>
        <p:spPr>
          <a:xfrm>
            <a:off x="777240" y="2258568"/>
            <a:ext cx="2221992" cy="274320"/>
          </a:xfrm>
          <a:prstGeom prst="rect">
            <a:avLst/>
          </a:prstGeom>
          <a:noFill/>
          <a:ln/>
        </p:spPr>
        <p:txBody>
          <a:bodyPr wrap="square" lIns="0" tIns="0" rIns="0" bIns="0" rtlCol="0" anchor="t">
            <a:normAutofit/>
          </a:bodyPr>
          <a:lstStyle/>
          <a:p>
            <a:pPr indent="0" marL="0">
              <a:buNone/>
            </a:pPr>
            <a:r>
              <a:rPr lang="en-US" sz="1250" b="1" dirty="0">
                <a:solidFill>
                  <a:srgbClr val="1B3149"/>
                </a:solidFill>
                <a:latin typeface="Arial" pitchFamily="34" charset="0"/>
                <a:ea typeface="Arial" pitchFamily="34" charset="-122"/>
                <a:cs typeface="Arial" pitchFamily="34" charset="-120"/>
              </a:rPr>
              <a:t>Monsoon cut-off</a:t>
            </a:r>
            <a:endParaRPr lang="en-US" sz="1250" dirty="0"/>
          </a:p>
        </p:txBody>
      </p:sp>
      <p:sp>
        <p:nvSpPr>
          <p:cNvPr id="18" name="Text 14"/>
          <p:cNvSpPr txBox="1"/>
          <p:nvPr/>
        </p:nvSpPr>
        <p:spPr>
          <a:xfrm>
            <a:off x="777240" y="2651760"/>
            <a:ext cx="2221992" cy="457200"/>
          </a:xfrm>
          <a:prstGeom prst="rect">
            <a:avLst/>
          </a:prstGeom>
          <a:noFill/>
          <a:ln/>
        </p:spPr>
        <p:txBody>
          <a:bodyPr wrap="square" lIns="0" tIns="0" rIns="0" bIns="0" rtlCol="0" anchor="t">
            <a:normAutofit/>
          </a:bodyPr>
          <a:lstStyle/>
          <a:p>
            <a:pPr indent="0" marL="0">
              <a:buNone/>
            </a:pPr>
            <a:r>
              <a:rPr lang="en-US" sz="950" dirty="0">
                <a:solidFill>
                  <a:srgbClr val="1B3149"/>
                </a:solidFill>
                <a:latin typeface="Arial" pitchFamily="34" charset="0"/>
                <a:ea typeface="Arial" pitchFamily="34" charset="-122"/>
                <a:cs typeface="Arial" pitchFamily="34" charset="-120"/>
              </a:rPr>
              <a:t>No bridge at Sonbarsa; children miss school for three months.</a:t>
            </a:r>
            <a:endParaRPr lang="en-US" sz="950" dirty="0"/>
          </a:p>
        </p:txBody>
      </p:sp>
      <p:sp>
        <p:nvSpPr>
          <p:cNvPr id="19" name="Text 15"/>
          <p:cNvSpPr txBox="1"/>
          <p:nvPr/>
        </p:nvSpPr>
        <p:spPr>
          <a:xfrm>
            <a:off x="3118104" y="228600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20" name="Shape 16"/>
          <p:cNvSpPr/>
          <p:nvPr/>
        </p:nvSpPr>
        <p:spPr>
          <a:xfrm>
            <a:off x="3392424" y="1755648"/>
            <a:ext cx="2496312" cy="1417320"/>
          </a:xfrm>
          <a:prstGeom prst="roundRect">
            <a:avLst>
              <a:gd name="adj" fmla="val 6452"/>
            </a:avLst>
          </a:prstGeom>
          <a:solidFill>
            <a:srgbClr val="FFFDF7"/>
          </a:solidFill>
          <a:ln w="9525">
            <a:solidFill>
              <a:srgbClr val="DCD5C5"/>
            </a:solidFill>
            <a:prstDash val="solid"/>
          </a:ln>
        </p:spPr>
      </p:sp>
      <p:sp>
        <p:nvSpPr>
          <p:cNvPr id="21" name="Text 17"/>
          <p:cNvSpPr txBox="1"/>
          <p:nvPr/>
        </p:nvSpPr>
        <p:spPr>
          <a:xfrm>
            <a:off x="3547872" y="1956816"/>
            <a:ext cx="2221992" cy="146304"/>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HINDI REQUEST</a:t>
            </a:r>
            <a:endParaRPr lang="en-US" sz="750" dirty="0"/>
          </a:p>
        </p:txBody>
      </p:sp>
      <p:sp>
        <p:nvSpPr>
          <p:cNvPr id="22" name="Text 18"/>
          <p:cNvSpPr txBox="1"/>
          <p:nvPr/>
        </p:nvSpPr>
        <p:spPr>
          <a:xfrm>
            <a:off x="3547872" y="2258568"/>
            <a:ext cx="2221992" cy="274320"/>
          </a:xfrm>
          <a:prstGeom prst="rect">
            <a:avLst/>
          </a:prstGeom>
          <a:noFill/>
          <a:ln/>
        </p:spPr>
        <p:txBody>
          <a:bodyPr wrap="square" lIns="0" tIns="0" rIns="0" bIns="0" rtlCol="0" anchor="t">
            <a:normAutofit/>
          </a:bodyPr>
          <a:lstStyle/>
          <a:p>
            <a:pPr indent="0" marL="0">
              <a:buNone/>
            </a:pPr>
            <a:r>
              <a:rPr lang="en-US" sz="1250" b="1" dirty="0">
                <a:solidFill>
                  <a:srgbClr val="1B3149"/>
                </a:solidFill>
                <a:latin typeface="Arial" pitchFamily="34" charset="0"/>
                <a:ea typeface="Arial" pitchFamily="34" charset="-122"/>
                <a:cs typeface="Arial" pitchFamily="34" charset="-120"/>
              </a:rPr>
              <a:t>Understood in ~3 s</a:t>
            </a:r>
            <a:endParaRPr lang="en-US" sz="1250" dirty="0"/>
          </a:p>
        </p:txBody>
      </p:sp>
      <p:sp>
        <p:nvSpPr>
          <p:cNvPr id="23" name="Text 19"/>
          <p:cNvSpPr txBox="1"/>
          <p:nvPr/>
        </p:nvSpPr>
        <p:spPr>
          <a:xfrm>
            <a:off x="3547872" y="2651760"/>
            <a:ext cx="2221992" cy="457200"/>
          </a:xfrm>
          <a:prstGeom prst="rect">
            <a:avLst/>
          </a:prstGeom>
          <a:noFill/>
          <a:ln/>
        </p:spPr>
        <p:txBody>
          <a:bodyPr wrap="square" lIns="0" tIns="0" rIns="0" bIns="0" rtlCol="0" anchor="t">
            <a:normAutofit/>
          </a:bodyPr>
          <a:lstStyle/>
          <a:p>
            <a:pPr indent="0" marL="0">
              <a:buNone/>
            </a:pPr>
            <a:r>
              <a:rPr lang="en-US" sz="950" dirty="0">
                <a:solidFill>
                  <a:srgbClr val="1B3149"/>
                </a:solidFill>
                <a:latin typeface="Arial" pitchFamily="34" charset="0"/>
                <a:ea typeface="Arial" pitchFamily="34" charset="-122"/>
                <a:cs typeface="Arial" pitchFamily="34" charset="-120"/>
              </a:rPr>
              <a:t>Roads &amp; bridges • urgency high • children • place matched (90%)</a:t>
            </a:r>
            <a:endParaRPr lang="en-US" sz="950" dirty="0"/>
          </a:p>
        </p:txBody>
      </p:sp>
      <p:sp>
        <p:nvSpPr>
          <p:cNvPr id="24" name="Text 20"/>
          <p:cNvSpPr txBox="1"/>
          <p:nvPr/>
        </p:nvSpPr>
        <p:spPr>
          <a:xfrm>
            <a:off x="5888736" y="228600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25" name="Shape 21"/>
          <p:cNvSpPr/>
          <p:nvPr/>
        </p:nvSpPr>
        <p:spPr>
          <a:xfrm>
            <a:off x="6163056" y="1755648"/>
            <a:ext cx="2496312" cy="1417320"/>
          </a:xfrm>
          <a:prstGeom prst="roundRect">
            <a:avLst>
              <a:gd name="adj" fmla="val 6452"/>
            </a:avLst>
          </a:prstGeom>
          <a:solidFill>
            <a:srgbClr val="DCEEE8"/>
          </a:solidFill>
          <a:ln w="9525">
            <a:solidFill>
              <a:srgbClr val="12796D"/>
            </a:solidFill>
            <a:prstDash val="solid"/>
          </a:ln>
        </p:spPr>
      </p:sp>
      <p:sp>
        <p:nvSpPr>
          <p:cNvPr id="26" name="Text 22"/>
          <p:cNvSpPr txBox="1"/>
          <p:nvPr/>
        </p:nvSpPr>
        <p:spPr>
          <a:xfrm>
            <a:off x="6318504" y="1956816"/>
            <a:ext cx="2221992" cy="146304"/>
          </a:xfrm>
          <a:prstGeom prst="rect">
            <a:avLst/>
          </a:prstGeom>
          <a:noFill/>
          <a:ln/>
        </p:spPr>
        <p:txBody>
          <a:bodyPr wrap="square" lIns="0" tIns="0" rIns="0" bIns="0" rtlCol="0" anchor="t"/>
          <a:lstStyle/>
          <a:p>
            <a:pPr indent="0" marL="0">
              <a:buNone/>
            </a:pPr>
            <a:r>
              <a:rPr lang="en-US" sz="750" b="1" dirty="0">
                <a:solidFill>
                  <a:srgbClr val="12796D"/>
                </a:solidFill>
                <a:latin typeface="Arial" pitchFamily="34" charset="0"/>
                <a:ea typeface="Arial" pitchFamily="34" charset="-122"/>
                <a:cs typeface="Arial" pitchFamily="34" charset="-120"/>
              </a:rPr>
              <a:t>CLUSTER</a:t>
            </a:r>
            <a:endParaRPr lang="en-US" sz="750" dirty="0"/>
          </a:p>
        </p:txBody>
      </p:sp>
      <p:sp>
        <p:nvSpPr>
          <p:cNvPr id="27" name="Text 23"/>
          <p:cNvSpPr txBox="1"/>
          <p:nvPr/>
        </p:nvSpPr>
        <p:spPr>
          <a:xfrm>
            <a:off x="6318504" y="2258568"/>
            <a:ext cx="2221992" cy="274320"/>
          </a:xfrm>
          <a:prstGeom prst="rect">
            <a:avLst/>
          </a:prstGeom>
          <a:noFill/>
          <a:ln/>
        </p:spPr>
        <p:txBody>
          <a:bodyPr wrap="square" lIns="0" tIns="0" rIns="0" bIns="0" rtlCol="0" anchor="t">
            <a:normAutofit/>
          </a:bodyPr>
          <a:lstStyle/>
          <a:p>
            <a:pPr indent="0" marL="0">
              <a:buNone/>
            </a:pPr>
            <a:r>
              <a:rPr lang="en-US" sz="1250" b="1" dirty="0">
                <a:solidFill>
                  <a:srgbClr val="1B3149"/>
                </a:solidFill>
                <a:latin typeface="Arial" pitchFamily="34" charset="0"/>
                <a:ea typeface="Arial" pitchFamily="34" charset="-122"/>
                <a:cs typeface="Arial" pitchFamily="34" charset="-120"/>
              </a:rPr>
              <a:t>Joins 146 others</a:t>
            </a:r>
            <a:endParaRPr lang="en-US" sz="1250" dirty="0"/>
          </a:p>
        </p:txBody>
      </p:sp>
      <p:sp>
        <p:nvSpPr>
          <p:cNvPr id="28" name="Text 24"/>
          <p:cNvSpPr txBox="1"/>
          <p:nvPr/>
        </p:nvSpPr>
        <p:spPr>
          <a:xfrm>
            <a:off x="6318504" y="2651760"/>
            <a:ext cx="2221992" cy="457200"/>
          </a:xfrm>
          <a:prstGeom prst="rect">
            <a:avLst/>
          </a:prstGeom>
          <a:noFill/>
          <a:ln/>
        </p:spPr>
        <p:txBody>
          <a:bodyPr wrap="square" lIns="0" tIns="0" rIns="0" bIns="0" rtlCol="0" anchor="t">
            <a:normAutofit/>
          </a:bodyPr>
          <a:lstStyle/>
          <a:p>
            <a:pPr indent="0" marL="0">
              <a:buNone/>
            </a:pPr>
            <a:r>
              <a:rPr lang="en-US" sz="950" dirty="0">
                <a:solidFill>
                  <a:srgbClr val="1B3149"/>
                </a:solidFill>
                <a:latin typeface="Arial" pitchFamily="34" charset="0"/>
                <a:ea typeface="Arial" pitchFamily="34" charset="-122"/>
                <a:cs typeface="Arial" pitchFamily="34" charset="-120"/>
              </a:rPr>
              <a:t>147 requests from 133 unique citizens (sample).</a:t>
            </a:r>
            <a:endParaRPr lang="en-US" sz="950" dirty="0"/>
          </a:p>
        </p:txBody>
      </p:sp>
      <p:sp>
        <p:nvSpPr>
          <p:cNvPr id="29" name="Text 25"/>
          <p:cNvSpPr txBox="1"/>
          <p:nvPr/>
        </p:nvSpPr>
        <p:spPr>
          <a:xfrm>
            <a:off x="8659368" y="2286000"/>
            <a:ext cx="274320" cy="274320"/>
          </a:xfrm>
          <a:prstGeom prst="rect">
            <a:avLst/>
          </a:prstGeom>
          <a:noFill/>
          <a:ln/>
        </p:spPr>
        <p:txBody>
          <a:bodyPr wrap="square" lIns="0" tIns="0" rIns="0" bIns="0" rtlCol="0" anchor="t"/>
          <a:lstStyle/>
          <a:p>
            <a:pPr algn="ctr" indent="0" marL="0">
              <a:buNone/>
            </a:pPr>
            <a:r>
              <a:rPr lang="en-US" sz="1500" b="1" dirty="0">
                <a:solidFill>
                  <a:srgbClr val="E8694A"/>
                </a:solidFill>
                <a:latin typeface="Arial" pitchFamily="34" charset="0"/>
                <a:ea typeface="Arial" pitchFamily="34" charset="-122"/>
                <a:cs typeface="Arial" pitchFamily="34" charset="-120"/>
              </a:rPr>
              <a:t>›</a:t>
            </a:r>
            <a:endParaRPr lang="en-US" sz="1500" dirty="0"/>
          </a:p>
        </p:txBody>
      </p:sp>
      <p:sp>
        <p:nvSpPr>
          <p:cNvPr id="30" name="Shape 26"/>
          <p:cNvSpPr/>
          <p:nvPr/>
        </p:nvSpPr>
        <p:spPr>
          <a:xfrm>
            <a:off x="8933688" y="1755648"/>
            <a:ext cx="2496312" cy="1417320"/>
          </a:xfrm>
          <a:prstGeom prst="roundRect">
            <a:avLst>
              <a:gd name="adj" fmla="val 6452"/>
            </a:avLst>
          </a:prstGeom>
          <a:solidFill>
            <a:srgbClr val="FFFDF7"/>
          </a:solidFill>
          <a:ln w="9525">
            <a:solidFill>
              <a:srgbClr val="DCD5C5"/>
            </a:solidFill>
            <a:prstDash val="solid"/>
          </a:ln>
        </p:spPr>
      </p:sp>
      <p:sp>
        <p:nvSpPr>
          <p:cNvPr id="31" name="Text 27"/>
          <p:cNvSpPr txBox="1"/>
          <p:nvPr/>
        </p:nvSpPr>
        <p:spPr>
          <a:xfrm>
            <a:off x="9089136" y="1956816"/>
            <a:ext cx="2221992" cy="146304"/>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OFFICER</a:t>
            </a:r>
            <a:endParaRPr lang="en-US" sz="750" dirty="0"/>
          </a:p>
        </p:txBody>
      </p:sp>
      <p:sp>
        <p:nvSpPr>
          <p:cNvPr id="32" name="Text 28"/>
          <p:cNvSpPr txBox="1"/>
          <p:nvPr/>
        </p:nvSpPr>
        <p:spPr>
          <a:xfrm>
            <a:off x="9089136" y="2258568"/>
            <a:ext cx="2221992" cy="274320"/>
          </a:xfrm>
          <a:prstGeom prst="rect">
            <a:avLst/>
          </a:prstGeom>
          <a:noFill/>
          <a:ln/>
        </p:spPr>
        <p:txBody>
          <a:bodyPr wrap="square" lIns="0" tIns="0" rIns="0" bIns="0" rtlCol="0" anchor="t">
            <a:normAutofit/>
          </a:bodyPr>
          <a:lstStyle/>
          <a:p>
            <a:pPr indent="0" marL="0">
              <a:buNone/>
            </a:pPr>
            <a:r>
              <a:rPr lang="en-US" sz="1250" b="1" dirty="0">
                <a:solidFill>
                  <a:srgbClr val="1B3149"/>
                </a:solidFill>
                <a:latin typeface="Arial" pitchFamily="34" charset="0"/>
                <a:ea typeface="Arial" pitchFamily="34" charset="-122"/>
                <a:cs typeface="Arial" pitchFamily="34" charset="-120"/>
              </a:rPr>
              <a:t>85.6 / 100, rank 1 of 7</a:t>
            </a:r>
            <a:endParaRPr lang="en-US" sz="1250" dirty="0"/>
          </a:p>
        </p:txBody>
      </p:sp>
      <p:sp>
        <p:nvSpPr>
          <p:cNvPr id="33" name="Text 29"/>
          <p:cNvSpPr txBox="1"/>
          <p:nvPr/>
        </p:nvSpPr>
        <p:spPr>
          <a:xfrm>
            <a:off x="9089136" y="2651760"/>
            <a:ext cx="2221992" cy="457200"/>
          </a:xfrm>
          <a:prstGeom prst="rect">
            <a:avLst/>
          </a:prstGeom>
          <a:noFill/>
          <a:ln/>
        </p:spPr>
        <p:txBody>
          <a:bodyPr wrap="square" lIns="0" tIns="0" rIns="0" bIns="0" rtlCol="0" anchor="t">
            <a:normAutofit/>
          </a:bodyPr>
          <a:lstStyle/>
          <a:p>
            <a:pPr indent="0" marL="0">
              <a:buNone/>
            </a:pPr>
            <a:r>
              <a:rPr lang="en-US" sz="950" dirty="0">
                <a:solidFill>
                  <a:srgbClr val="1B3149"/>
                </a:solidFill>
                <a:latin typeface="Arial" pitchFamily="34" charset="0"/>
                <a:ea typeface="Arial" pitchFamily="34" charset="-122"/>
                <a:cs typeface="Arial" pitchFamily="34" charset="-120"/>
              </a:rPr>
              <a:t>Vulnerability to 40%: a water cluster moves #3 → #2; change logged.</a:t>
            </a:r>
            <a:endParaRPr lang="en-US" sz="950" dirty="0"/>
          </a:p>
        </p:txBody>
      </p:sp>
      <p:sp>
        <p:nvSpPr>
          <p:cNvPr id="34" name="Shape 30"/>
          <p:cNvSpPr/>
          <p:nvPr/>
        </p:nvSpPr>
        <p:spPr>
          <a:xfrm>
            <a:off x="621792" y="3611880"/>
            <a:ext cx="11000232" cy="2221992"/>
          </a:xfrm>
          <a:prstGeom prst="roundRect">
            <a:avLst>
              <a:gd name="adj" fmla="val 3292"/>
            </a:avLst>
          </a:prstGeom>
          <a:solidFill>
            <a:srgbClr val="1B3149"/>
          </a:solidFill>
          <a:ln/>
        </p:spPr>
      </p:sp>
      <p:sp>
        <p:nvSpPr>
          <p:cNvPr id="35" name="Text 31"/>
          <p:cNvSpPr txBox="1"/>
          <p:nvPr/>
        </p:nvSpPr>
        <p:spPr>
          <a:xfrm>
            <a:off x="896112" y="3895344"/>
            <a:ext cx="2743200" cy="146304"/>
          </a:xfrm>
          <a:prstGeom prst="rect">
            <a:avLst/>
          </a:prstGeom>
          <a:noFill/>
          <a:ln/>
        </p:spPr>
        <p:txBody>
          <a:bodyPr wrap="square" lIns="0" tIns="0" rIns="0" bIns="0" rtlCol="0" anchor="t"/>
          <a:lstStyle/>
          <a:p>
            <a:pPr indent="0" marL="0">
              <a:buNone/>
            </a:pPr>
            <a:r>
              <a:rPr lang="en-US" sz="850" b="1" spc="200" kern="0" dirty="0">
                <a:solidFill>
                  <a:srgbClr val="9ED8CC"/>
                </a:solidFill>
                <a:latin typeface="Arial" pitchFamily="34" charset="0"/>
                <a:ea typeface="Arial" pitchFamily="34" charset="-122"/>
                <a:cs typeface="Arial" pitchFamily="34" charset="-120"/>
              </a:rPr>
              <a:t>OUTCOME</a:t>
            </a:r>
            <a:endParaRPr lang="en-US" sz="850" dirty="0"/>
          </a:p>
        </p:txBody>
      </p:sp>
      <p:sp>
        <p:nvSpPr>
          <p:cNvPr id="36" name="Text 32"/>
          <p:cNvSpPr txBox="1"/>
          <p:nvPr/>
        </p:nvSpPr>
        <p:spPr>
          <a:xfrm>
            <a:off x="896112" y="4206240"/>
            <a:ext cx="3108960" cy="822960"/>
          </a:xfrm>
          <a:prstGeom prst="rect">
            <a:avLst/>
          </a:prstGeom>
          <a:noFill/>
          <a:ln/>
        </p:spPr>
        <p:txBody>
          <a:bodyPr wrap="square" lIns="0" tIns="0" rIns="0" bIns="0" rtlCol="0" anchor="b">
            <a:normAutofit/>
          </a:bodyPr>
          <a:lstStyle/>
          <a:p>
            <a:pPr indent="0" marL="0">
              <a:buNone/>
            </a:pPr>
            <a:r>
              <a:rPr lang="en-US" sz="2000" b="1" dirty="0">
                <a:solidFill>
                  <a:srgbClr val="FFFFFF"/>
                </a:solidFill>
                <a:latin typeface="Arial" pitchFamily="34" charset="0"/>
                <a:ea typeface="Arial" pitchFamily="34" charset="-122"/>
                <a:cs typeface="Arial" pitchFamily="34" charset="-120"/>
              </a:rPr>
              <a:t>Approved for field verification.</a:t>
            </a:r>
            <a:endParaRPr lang="en-US" sz="2000" dirty="0"/>
          </a:p>
        </p:txBody>
      </p:sp>
      <p:sp>
        <p:nvSpPr>
          <p:cNvPr id="37" name="Text 33"/>
          <p:cNvSpPr txBox="1"/>
          <p:nvPr/>
        </p:nvSpPr>
        <p:spPr>
          <a:xfrm>
            <a:off x="896112" y="5138928"/>
            <a:ext cx="3108960" cy="457200"/>
          </a:xfrm>
          <a:prstGeom prst="rect">
            <a:avLst/>
          </a:prstGeom>
          <a:noFill/>
          <a:ln/>
        </p:spPr>
        <p:txBody>
          <a:bodyPr wrap="square" lIns="0" tIns="0" rIns="0" bIns="0" rtlCol="0" anchor="t">
            <a:normAutofit/>
          </a:bodyPr>
          <a:lstStyle/>
          <a:p>
            <a:pPr indent="0" marL="0">
              <a:buNone/>
            </a:pPr>
            <a:r>
              <a:rPr lang="en-US" sz="1050" dirty="0">
                <a:solidFill>
                  <a:srgbClr val="D5DDE4"/>
                </a:solidFill>
                <a:latin typeface="Arial" pitchFamily="34" charset="0"/>
                <a:ea typeface="Arial" pitchFamily="34" charset="-122"/>
                <a:cs typeface="Arial" pitchFamily="34" charset="-120"/>
              </a:rPr>
              <a:t>Her status check now reads “Recommended” in Hindi.</a:t>
            </a:r>
            <a:endParaRPr lang="en-US" sz="1050" dirty="0"/>
          </a:p>
        </p:txBody>
      </p:sp>
      <p:sp>
        <p:nvSpPr>
          <p:cNvPr id="38" name="Shape 34"/>
          <p:cNvSpPr/>
          <p:nvPr/>
        </p:nvSpPr>
        <p:spPr>
          <a:xfrm>
            <a:off x="4160520" y="4160520"/>
            <a:ext cx="402336" cy="402336"/>
          </a:xfrm>
          <a:prstGeom prst="ellipse">
            <a:avLst/>
          </a:prstGeom>
          <a:solidFill>
            <a:srgbClr val="12796D"/>
          </a:solidFill>
          <a:ln/>
        </p:spPr>
      </p:sp>
      <p:sp>
        <p:nvSpPr>
          <p:cNvPr id="39" name="Text 35"/>
          <p:cNvSpPr txBox="1"/>
          <p:nvPr/>
        </p:nvSpPr>
        <p:spPr>
          <a:xfrm>
            <a:off x="4160520" y="41605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40" name="Text 36"/>
          <p:cNvSpPr txBox="1"/>
          <p:nvPr/>
        </p:nvSpPr>
        <p:spPr>
          <a:xfrm>
            <a:off x="4663440" y="4142232"/>
            <a:ext cx="1691640" cy="457200"/>
          </a:xfrm>
          <a:prstGeom prst="rect">
            <a:avLst/>
          </a:prstGeom>
          <a:noFill/>
          <a:ln/>
        </p:spPr>
        <p:txBody>
          <a:bodyPr wrap="square" lIns="0" tIns="0" rIns="0" bIns="0" rtlCol="0" anchor="t">
            <a:normAutofit/>
          </a:bodyPr>
          <a:lstStyle/>
          <a:p>
            <a:pPr indent="0" marL="0">
              <a:buNone/>
            </a:pPr>
            <a:r>
              <a:rPr lang="en-US" sz="1150" b="1" dirty="0">
                <a:solidFill>
                  <a:srgbClr val="FFFFFF"/>
                </a:solidFill>
                <a:latin typeface="Arial" pitchFamily="34" charset="0"/>
                <a:ea typeface="Arial" pitchFamily="34" charset="-122"/>
                <a:cs typeface="Arial" pitchFamily="34" charset="-120"/>
              </a:rPr>
              <a:t>Brief: 49 numbers checked, 0 ungrounded</a:t>
            </a:r>
            <a:endParaRPr lang="en-US" sz="1150" dirty="0"/>
          </a:p>
        </p:txBody>
      </p:sp>
      <p:sp>
        <p:nvSpPr>
          <p:cNvPr id="41" name="Shape 37"/>
          <p:cNvSpPr/>
          <p:nvPr/>
        </p:nvSpPr>
        <p:spPr>
          <a:xfrm>
            <a:off x="6428232" y="4160520"/>
            <a:ext cx="402336" cy="402336"/>
          </a:xfrm>
          <a:prstGeom prst="ellipse">
            <a:avLst/>
          </a:prstGeom>
          <a:solidFill>
            <a:srgbClr val="12796D"/>
          </a:solidFill>
          <a:ln/>
        </p:spPr>
      </p:sp>
      <p:sp>
        <p:nvSpPr>
          <p:cNvPr id="42" name="Text 38"/>
          <p:cNvSpPr txBox="1"/>
          <p:nvPr/>
        </p:nvSpPr>
        <p:spPr>
          <a:xfrm>
            <a:off x="6428232" y="41605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43" name="Text 39"/>
          <p:cNvSpPr txBox="1"/>
          <p:nvPr/>
        </p:nvSpPr>
        <p:spPr>
          <a:xfrm>
            <a:off x="6931152" y="4142232"/>
            <a:ext cx="1691640" cy="457200"/>
          </a:xfrm>
          <a:prstGeom prst="rect">
            <a:avLst/>
          </a:prstGeom>
          <a:noFill/>
          <a:ln/>
        </p:spPr>
        <p:txBody>
          <a:bodyPr wrap="square" lIns="0" tIns="0" rIns="0" bIns="0" rtlCol="0" anchor="t">
            <a:normAutofit/>
          </a:bodyPr>
          <a:lstStyle/>
          <a:p>
            <a:pPr indent="0" marL="0">
              <a:buNone/>
            </a:pPr>
            <a:r>
              <a:rPr lang="en-US" sz="1150" b="1" dirty="0">
                <a:solidFill>
                  <a:srgbClr val="FFFFFF"/>
                </a:solidFill>
                <a:latin typeface="Arial" pitchFamily="34" charset="0"/>
                <a:ea typeface="Arial" pitchFamily="34" charset="-122"/>
                <a:cs typeface="Arial" pitchFamily="34" charset="-120"/>
              </a:rPr>
              <a:t>Block engineer verifies the site</a:t>
            </a:r>
            <a:endParaRPr lang="en-US" sz="1150" dirty="0"/>
          </a:p>
        </p:txBody>
      </p:sp>
      <p:sp>
        <p:nvSpPr>
          <p:cNvPr id="44" name="Shape 40"/>
          <p:cNvSpPr/>
          <p:nvPr/>
        </p:nvSpPr>
        <p:spPr>
          <a:xfrm>
            <a:off x="8695944" y="4160520"/>
            <a:ext cx="402336" cy="402336"/>
          </a:xfrm>
          <a:prstGeom prst="ellipse">
            <a:avLst/>
          </a:prstGeom>
          <a:solidFill>
            <a:srgbClr val="E8694A"/>
          </a:solidFill>
          <a:ln/>
        </p:spPr>
      </p:sp>
      <p:sp>
        <p:nvSpPr>
          <p:cNvPr id="45" name="Text 41"/>
          <p:cNvSpPr txBox="1"/>
          <p:nvPr/>
        </p:nvSpPr>
        <p:spPr>
          <a:xfrm>
            <a:off x="8695944" y="4160520"/>
            <a:ext cx="402336" cy="40233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p>
        </p:txBody>
      </p:sp>
      <p:sp>
        <p:nvSpPr>
          <p:cNvPr id="46" name="Text 42"/>
          <p:cNvSpPr txBox="1"/>
          <p:nvPr/>
        </p:nvSpPr>
        <p:spPr>
          <a:xfrm>
            <a:off x="9198864" y="4142232"/>
            <a:ext cx="1691640" cy="457200"/>
          </a:xfrm>
          <a:prstGeom prst="rect">
            <a:avLst/>
          </a:prstGeom>
          <a:noFill/>
          <a:ln/>
        </p:spPr>
        <p:txBody>
          <a:bodyPr wrap="square" lIns="0" tIns="0" rIns="0" bIns="0" rtlCol="0" anchor="t">
            <a:normAutofit/>
          </a:bodyPr>
          <a:lstStyle/>
          <a:p>
            <a:pPr indent="0" marL="0">
              <a:buNone/>
            </a:pPr>
            <a:r>
              <a:rPr lang="en-US" sz="1150" b="1" dirty="0">
                <a:solidFill>
                  <a:srgbClr val="FFFFFF"/>
                </a:solidFill>
                <a:latin typeface="Arial" pitchFamily="34" charset="0"/>
                <a:ea typeface="Arial" pitchFamily="34" charset="-122"/>
                <a:cs typeface="Arial" pitchFamily="34" charset="-120"/>
              </a:rPr>
              <a:t>Citizen notified in her language</a:t>
            </a:r>
            <a:endParaRPr lang="en-US" sz="1150" dirty="0"/>
          </a:p>
        </p:txBody>
      </p:sp>
      <p:sp>
        <p:nvSpPr>
          <p:cNvPr id="47" name="Text 43"/>
          <p:cNvSpPr txBox="1"/>
          <p:nvPr/>
        </p:nvSpPr>
        <p:spPr>
          <a:xfrm>
            <a:off x="4160520" y="5138928"/>
            <a:ext cx="1554480" cy="182880"/>
          </a:xfrm>
          <a:prstGeom prst="rect">
            <a:avLst/>
          </a:prstGeom>
          <a:noFill/>
          <a:ln/>
        </p:spPr>
        <p:txBody>
          <a:bodyPr wrap="square" lIns="0" tIns="0" rIns="0" bIns="0" rtlCol="0" anchor="t"/>
          <a:lstStyle/>
          <a:p>
            <a:pPr indent="0" marL="0">
              <a:buNone/>
            </a:pPr>
            <a:r>
              <a:rPr lang="en-US" sz="750" b="1" dirty="0">
                <a:solidFill>
                  <a:srgbClr val="F3CB7A"/>
                </a:solidFill>
                <a:latin typeface="Arial" pitchFamily="34" charset="0"/>
                <a:ea typeface="Arial" pitchFamily="34" charset="-122"/>
                <a:cs typeface="Arial" pitchFamily="34" charset="-120"/>
              </a:rPr>
              <a:t>WHY IT SUSTAINS</a:t>
            </a:r>
            <a:endParaRPr lang="en-US" sz="750" dirty="0"/>
          </a:p>
        </p:txBody>
      </p:sp>
      <p:sp>
        <p:nvSpPr>
          <p:cNvPr id="48" name="Text 44"/>
          <p:cNvSpPr txBox="1"/>
          <p:nvPr/>
        </p:nvSpPr>
        <p:spPr>
          <a:xfrm>
            <a:off x="5715000" y="5029200"/>
            <a:ext cx="5669280" cy="457200"/>
          </a:xfrm>
          <a:prstGeom prst="rect">
            <a:avLst/>
          </a:prstGeom>
          <a:noFill/>
          <a:ln/>
        </p:spPr>
        <p:txBody>
          <a:bodyPr wrap="square" lIns="0" tIns="0" rIns="0" bIns="0" rtlCol="0" anchor="t">
            <a:normAutofit/>
          </a:bodyPr>
          <a:lstStyle/>
          <a:p>
            <a:pPr indent="0" marL="0">
              <a:buNone/>
            </a:pPr>
            <a:r>
              <a:rPr lang="en-US" sz="1100" dirty="0">
                <a:solidFill>
                  <a:srgbClr val="FFFFFF"/>
                </a:solidFill>
                <a:latin typeface="Arial" pitchFamily="34" charset="0"/>
                <a:ea typeface="Arial" pitchFamily="34" charset="-122"/>
                <a:cs typeface="Arial" pitchFamily="34" charset="-120"/>
              </a:rPr>
              <a:t>Citizens see their request move, so they keep reporting; officers get evidence they can defend.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06 — INNOVATION &amp; DIFFERENTIATION</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civic-demand-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Not another grievance portal. A demand-to-plan bridge.</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Existing systems do valuable work; JanVaani adds the missing aggregation and evidence layer between them.</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[2] CPGRAMS.  [3] Mission Antyodaya.  [4] e-GramSwaraj (GPDP). Integrations with these systems are adapter designs, not built (PRD §6).</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JANVAANI</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7</a:t>
            </a:r>
            <a:endParaRPr lang="en-US" sz="650" dirty="0"/>
          </a:p>
        </p:txBody>
      </p:sp>
      <p:sp>
        <p:nvSpPr>
          <p:cNvPr id="15" name="Text 11"/>
          <p:cNvSpPr txBox="1"/>
          <p:nvPr/>
        </p:nvSpPr>
        <p:spPr>
          <a:xfrm>
            <a:off x="658368" y="1581912"/>
            <a:ext cx="2286000" cy="164592"/>
          </a:xfrm>
          <a:prstGeom prst="rect">
            <a:avLst/>
          </a:prstGeom>
          <a:noFill/>
          <a:ln/>
        </p:spPr>
        <p:txBody>
          <a:bodyPr wrap="square" lIns="0" tIns="0" rIns="0" bIns="0" rtlCol="0" anchor="t"/>
          <a:lstStyle/>
          <a:p>
            <a:pPr indent="0" marL="0">
              <a:buNone/>
            </a:pPr>
            <a:r>
              <a:rPr lang="en-US" sz="800" b="1" spc="150" kern="0" dirty="0">
                <a:solidFill>
                  <a:srgbClr val="12796D"/>
                </a:solidFill>
                <a:latin typeface="Arial" pitchFamily="34" charset="0"/>
                <a:ea typeface="Arial" pitchFamily="34" charset="-122"/>
                <a:cs typeface="Arial" pitchFamily="34" charset="-120"/>
              </a:rPr>
              <a:t>APPROACH</a:t>
            </a:r>
            <a:endParaRPr lang="en-US" sz="800" dirty="0"/>
          </a:p>
        </p:txBody>
      </p:sp>
      <p:sp>
        <p:nvSpPr>
          <p:cNvPr id="16" name="Text 12"/>
          <p:cNvSpPr txBox="1"/>
          <p:nvPr/>
        </p:nvSpPr>
        <p:spPr>
          <a:xfrm>
            <a:off x="2670048" y="1581912"/>
            <a:ext cx="4023360" cy="164592"/>
          </a:xfrm>
          <a:prstGeom prst="rect">
            <a:avLst/>
          </a:prstGeom>
          <a:noFill/>
          <a:ln/>
        </p:spPr>
        <p:txBody>
          <a:bodyPr wrap="square" lIns="0" tIns="0" rIns="0" bIns="0" rtlCol="0" anchor="t"/>
          <a:lstStyle/>
          <a:p>
            <a:pPr indent="0" marL="0">
              <a:buNone/>
            </a:pPr>
            <a:r>
              <a:rPr lang="en-US" sz="800" b="1" spc="150" kern="0" dirty="0">
                <a:solidFill>
                  <a:srgbClr val="12796D"/>
                </a:solidFill>
                <a:latin typeface="Arial" pitchFamily="34" charset="0"/>
                <a:ea typeface="Arial" pitchFamily="34" charset="-122"/>
                <a:cs typeface="Arial" pitchFamily="34" charset="-120"/>
              </a:rPr>
              <a:t>WHAT IT CONTRIBUTES</a:t>
            </a:r>
            <a:endParaRPr lang="en-US" sz="800" dirty="0"/>
          </a:p>
        </p:txBody>
      </p:sp>
      <p:sp>
        <p:nvSpPr>
          <p:cNvPr id="17" name="Text 13"/>
          <p:cNvSpPr txBox="1"/>
          <p:nvPr/>
        </p:nvSpPr>
        <p:spPr>
          <a:xfrm>
            <a:off x="6894576" y="1581912"/>
            <a:ext cx="4389120" cy="164592"/>
          </a:xfrm>
          <a:prstGeom prst="rect">
            <a:avLst/>
          </a:prstGeom>
          <a:noFill/>
          <a:ln/>
        </p:spPr>
        <p:txBody>
          <a:bodyPr wrap="square" lIns="0" tIns="0" rIns="0" bIns="0" rtlCol="0" anchor="t"/>
          <a:lstStyle/>
          <a:p>
            <a:pPr indent="0" marL="0">
              <a:buNone/>
            </a:pPr>
            <a:r>
              <a:rPr lang="en-US" sz="800" b="1" spc="150" kern="0" dirty="0">
                <a:solidFill>
                  <a:srgbClr val="12796D"/>
                </a:solidFill>
                <a:latin typeface="Arial" pitchFamily="34" charset="0"/>
                <a:ea typeface="Arial" pitchFamily="34" charset="-122"/>
                <a:cs typeface="Arial" pitchFamily="34" charset="-120"/>
              </a:rPr>
              <a:t>REMAINING GAP FOR PLANNING</a:t>
            </a:r>
            <a:endParaRPr lang="en-US" sz="800" dirty="0"/>
          </a:p>
        </p:txBody>
      </p:sp>
      <p:sp>
        <p:nvSpPr>
          <p:cNvPr id="18" name="Shape 14"/>
          <p:cNvSpPr/>
          <p:nvPr/>
        </p:nvSpPr>
        <p:spPr>
          <a:xfrm>
            <a:off x="621792" y="1874520"/>
            <a:ext cx="11000232" cy="603504"/>
          </a:xfrm>
          <a:prstGeom prst="roundRect">
            <a:avLst>
              <a:gd name="adj" fmla="val 12121"/>
            </a:avLst>
          </a:prstGeom>
          <a:solidFill>
            <a:srgbClr val="F0ECE3"/>
          </a:solidFill>
          <a:ln w="9525">
            <a:solidFill>
              <a:srgbClr val="DCD5C5"/>
            </a:solidFill>
            <a:prstDash val="solid"/>
          </a:ln>
        </p:spPr>
      </p:sp>
      <p:sp>
        <p:nvSpPr>
          <p:cNvPr id="19" name="Text 15"/>
          <p:cNvSpPr txBox="1"/>
          <p:nvPr/>
        </p:nvSpPr>
        <p:spPr>
          <a:xfrm>
            <a:off x="822960" y="1947672"/>
            <a:ext cx="1920240" cy="457200"/>
          </a:xfrm>
          <a:prstGeom prst="rect">
            <a:avLst/>
          </a:prstGeom>
          <a:noFill/>
          <a:ln/>
        </p:spPr>
        <p:txBody>
          <a:bodyPr wrap="square" lIns="0" tIns="0" rIns="0" bIns="0" rtlCol="0" anchor="ctr">
            <a:normAutofit/>
          </a:bodyPr>
          <a:lstStyle/>
          <a:p>
            <a:pPr indent="0" marL="0">
              <a:buNone/>
            </a:pPr>
            <a:r>
              <a:rPr lang="en-US" sz="1150" b="1" dirty="0">
                <a:solidFill>
                  <a:srgbClr val="1B3149"/>
                </a:solidFill>
                <a:latin typeface="Arial" pitchFamily="34" charset="0"/>
                <a:ea typeface="Arial" pitchFamily="34" charset="-122"/>
                <a:cs typeface="Arial" pitchFamily="34" charset="-120"/>
              </a:rPr>
              <a:t>CPGRAMS / state portals</a:t>
            </a:r>
            <a:endParaRPr lang="en-US" sz="1150" dirty="0"/>
          </a:p>
        </p:txBody>
      </p:sp>
      <p:sp>
        <p:nvSpPr>
          <p:cNvPr id="20" name="Text 16"/>
          <p:cNvSpPr txBox="1"/>
          <p:nvPr/>
        </p:nvSpPr>
        <p:spPr>
          <a:xfrm>
            <a:off x="2834640" y="1947672"/>
            <a:ext cx="402336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Grievance lodging and tracking to closure across departments</a:t>
            </a:r>
            <a:endParaRPr lang="en-US" sz="1000" dirty="0"/>
          </a:p>
        </p:txBody>
      </p:sp>
      <p:sp>
        <p:nvSpPr>
          <p:cNvPr id="21" name="Text 17"/>
          <p:cNvSpPr txBox="1"/>
          <p:nvPr/>
        </p:nvSpPr>
        <p:spPr>
          <a:xfrm>
            <a:off x="7059168" y="1947672"/>
            <a:ext cx="438912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Built for individual cases, not aggregated development demand</a:t>
            </a:r>
            <a:endParaRPr lang="en-US" sz="1000" dirty="0"/>
          </a:p>
        </p:txBody>
      </p:sp>
      <p:sp>
        <p:nvSpPr>
          <p:cNvPr id="22" name="Shape 18"/>
          <p:cNvSpPr/>
          <p:nvPr/>
        </p:nvSpPr>
        <p:spPr>
          <a:xfrm>
            <a:off x="621792" y="2633472"/>
            <a:ext cx="11000232" cy="603504"/>
          </a:xfrm>
          <a:prstGeom prst="roundRect">
            <a:avLst>
              <a:gd name="adj" fmla="val 12121"/>
            </a:avLst>
          </a:prstGeom>
          <a:solidFill>
            <a:srgbClr val="FFFDF7"/>
          </a:solidFill>
          <a:ln w="9525">
            <a:solidFill>
              <a:srgbClr val="DCD5C5"/>
            </a:solidFill>
            <a:prstDash val="solid"/>
          </a:ln>
        </p:spPr>
      </p:sp>
      <p:sp>
        <p:nvSpPr>
          <p:cNvPr id="23" name="Text 19"/>
          <p:cNvSpPr txBox="1"/>
          <p:nvPr/>
        </p:nvSpPr>
        <p:spPr>
          <a:xfrm>
            <a:off x="822960" y="2706624"/>
            <a:ext cx="1920240" cy="457200"/>
          </a:xfrm>
          <a:prstGeom prst="rect">
            <a:avLst/>
          </a:prstGeom>
          <a:noFill/>
          <a:ln/>
        </p:spPr>
        <p:txBody>
          <a:bodyPr wrap="square" lIns="0" tIns="0" rIns="0" bIns="0" rtlCol="0" anchor="ctr">
            <a:normAutofit/>
          </a:bodyPr>
          <a:lstStyle/>
          <a:p>
            <a:pPr indent="0" marL="0">
              <a:buNone/>
            </a:pPr>
            <a:r>
              <a:rPr lang="en-US" sz="1150" b="1" dirty="0">
                <a:solidFill>
                  <a:srgbClr val="1B3149"/>
                </a:solidFill>
                <a:latin typeface="Arial" pitchFamily="34" charset="0"/>
                <a:ea typeface="Arial" pitchFamily="34" charset="-122"/>
                <a:cs typeface="Arial" pitchFamily="34" charset="-120"/>
              </a:rPr>
              <a:t>Gram Sabha / GPDP</a:t>
            </a:r>
            <a:endParaRPr lang="en-US" sz="1150" dirty="0"/>
          </a:p>
        </p:txBody>
      </p:sp>
      <p:sp>
        <p:nvSpPr>
          <p:cNvPr id="24" name="Text 20"/>
          <p:cNvSpPr txBox="1"/>
          <p:nvPr/>
        </p:nvSpPr>
        <p:spPr>
          <a:xfrm>
            <a:off x="2834640" y="2706624"/>
            <a:ext cx="402336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Statutory, participatory village planning (e-GramSwaraj)</a:t>
            </a:r>
            <a:endParaRPr lang="en-US" sz="1000" dirty="0"/>
          </a:p>
        </p:txBody>
      </p:sp>
      <p:sp>
        <p:nvSpPr>
          <p:cNvPr id="25" name="Text 21"/>
          <p:cNvSpPr txBox="1"/>
          <p:nvPr/>
        </p:nvSpPr>
        <p:spPr>
          <a:xfrm>
            <a:off x="7059168" y="2706624"/>
            <a:ext cx="438912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Periodic meetings; hard to compare across villages with gap data</a:t>
            </a:r>
            <a:endParaRPr lang="en-US" sz="1000" dirty="0"/>
          </a:p>
        </p:txBody>
      </p:sp>
      <p:sp>
        <p:nvSpPr>
          <p:cNvPr id="26" name="Shape 22"/>
          <p:cNvSpPr/>
          <p:nvPr/>
        </p:nvSpPr>
        <p:spPr>
          <a:xfrm>
            <a:off x="621792" y="3392424"/>
            <a:ext cx="11000232" cy="603504"/>
          </a:xfrm>
          <a:prstGeom prst="roundRect">
            <a:avLst>
              <a:gd name="adj" fmla="val 12121"/>
            </a:avLst>
          </a:prstGeom>
          <a:solidFill>
            <a:srgbClr val="F0ECE3"/>
          </a:solidFill>
          <a:ln w="9525">
            <a:solidFill>
              <a:srgbClr val="DCD5C5"/>
            </a:solidFill>
            <a:prstDash val="solid"/>
          </a:ln>
        </p:spPr>
      </p:sp>
      <p:sp>
        <p:nvSpPr>
          <p:cNvPr id="27" name="Text 23"/>
          <p:cNvSpPr txBox="1"/>
          <p:nvPr/>
        </p:nvSpPr>
        <p:spPr>
          <a:xfrm>
            <a:off x="822960" y="3465576"/>
            <a:ext cx="1920240" cy="457200"/>
          </a:xfrm>
          <a:prstGeom prst="rect">
            <a:avLst/>
          </a:prstGeom>
          <a:noFill/>
          <a:ln/>
        </p:spPr>
        <p:txBody>
          <a:bodyPr wrap="square" lIns="0" tIns="0" rIns="0" bIns="0" rtlCol="0" anchor="ctr">
            <a:normAutofit/>
          </a:bodyPr>
          <a:lstStyle/>
          <a:p>
            <a:pPr indent="0" marL="0">
              <a:buNone/>
            </a:pPr>
            <a:r>
              <a:rPr lang="en-US" sz="1150" b="1" dirty="0">
                <a:solidFill>
                  <a:srgbClr val="1B3149"/>
                </a:solidFill>
                <a:latin typeface="Arial" pitchFamily="34" charset="0"/>
                <a:ea typeface="Arial" pitchFamily="34" charset="-122"/>
                <a:cs typeface="Arial" pitchFamily="34" charset="-120"/>
              </a:rPr>
              <a:t>Mission Antyodaya</a:t>
            </a:r>
            <a:endParaRPr lang="en-US" sz="1150" dirty="0"/>
          </a:p>
        </p:txBody>
      </p:sp>
      <p:sp>
        <p:nvSpPr>
          <p:cNvPr id="28" name="Text 24"/>
          <p:cNvSpPr txBox="1"/>
          <p:nvPr/>
        </p:nvSpPr>
        <p:spPr>
          <a:xfrm>
            <a:off x="2834640" y="3465576"/>
            <a:ext cx="402336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Village-level infrastructure-gap survey and ranking</a:t>
            </a:r>
            <a:endParaRPr lang="en-US" sz="1000" dirty="0"/>
          </a:p>
        </p:txBody>
      </p:sp>
      <p:sp>
        <p:nvSpPr>
          <p:cNvPr id="29" name="Text 25"/>
          <p:cNvSpPr txBox="1"/>
          <p:nvPr/>
        </p:nvSpPr>
        <p:spPr>
          <a:xfrm>
            <a:off x="7059168" y="3465576"/>
            <a:ext cx="438912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Official data, but not citizens’ voiced needs between rounds</a:t>
            </a:r>
            <a:endParaRPr lang="en-US" sz="1000" dirty="0"/>
          </a:p>
        </p:txBody>
      </p:sp>
      <p:sp>
        <p:nvSpPr>
          <p:cNvPr id="30" name="Shape 26"/>
          <p:cNvSpPr/>
          <p:nvPr/>
        </p:nvSpPr>
        <p:spPr>
          <a:xfrm>
            <a:off x="621792" y="4151376"/>
            <a:ext cx="11000232" cy="603504"/>
          </a:xfrm>
          <a:prstGeom prst="roundRect">
            <a:avLst>
              <a:gd name="adj" fmla="val 12121"/>
            </a:avLst>
          </a:prstGeom>
          <a:solidFill>
            <a:srgbClr val="FFFDF7"/>
          </a:solidFill>
          <a:ln w="9525">
            <a:solidFill>
              <a:srgbClr val="DCD5C5"/>
            </a:solidFill>
            <a:prstDash val="solid"/>
          </a:ln>
        </p:spPr>
      </p:sp>
      <p:sp>
        <p:nvSpPr>
          <p:cNvPr id="31" name="Text 27"/>
          <p:cNvSpPr txBox="1"/>
          <p:nvPr/>
        </p:nvSpPr>
        <p:spPr>
          <a:xfrm>
            <a:off x="822960" y="4224528"/>
            <a:ext cx="1920240" cy="457200"/>
          </a:xfrm>
          <a:prstGeom prst="rect">
            <a:avLst/>
          </a:prstGeom>
          <a:noFill/>
          <a:ln/>
        </p:spPr>
        <p:txBody>
          <a:bodyPr wrap="square" lIns="0" tIns="0" rIns="0" bIns="0" rtlCol="0" anchor="ctr">
            <a:normAutofit/>
          </a:bodyPr>
          <a:lstStyle/>
          <a:p>
            <a:pPr indent="0" marL="0">
              <a:buNone/>
            </a:pPr>
            <a:r>
              <a:rPr lang="en-US" sz="1150" b="1" dirty="0">
                <a:solidFill>
                  <a:srgbClr val="1B3149"/>
                </a:solidFill>
                <a:latin typeface="Arial" pitchFamily="34" charset="0"/>
                <a:ea typeface="Arial" pitchFamily="34" charset="-122"/>
                <a:cs typeface="Arial" pitchFamily="34" charset="-120"/>
              </a:rPr>
              <a:t>Generic AI chatbot</a:t>
            </a:r>
            <a:endParaRPr lang="en-US" sz="1150" dirty="0"/>
          </a:p>
        </p:txBody>
      </p:sp>
      <p:sp>
        <p:nvSpPr>
          <p:cNvPr id="32" name="Text 28"/>
          <p:cNvSpPr txBox="1"/>
          <p:nvPr/>
        </p:nvSpPr>
        <p:spPr>
          <a:xfrm>
            <a:off x="2834640" y="4224528"/>
            <a:ext cx="402336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Fast multilingual conversation</a:t>
            </a:r>
            <a:endParaRPr lang="en-US" sz="1000" dirty="0"/>
          </a:p>
        </p:txBody>
      </p:sp>
      <p:sp>
        <p:nvSpPr>
          <p:cNvPr id="33" name="Text 29"/>
          <p:cNvSpPr txBox="1"/>
          <p:nvPr/>
        </p:nvSpPr>
        <p:spPr>
          <a:xfrm>
            <a:off x="7059168" y="4224528"/>
            <a:ext cx="438912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No LGD mapping, deduplication, sourced score or human decision</a:t>
            </a:r>
            <a:endParaRPr lang="en-US" sz="1000" dirty="0"/>
          </a:p>
        </p:txBody>
      </p:sp>
      <p:sp>
        <p:nvSpPr>
          <p:cNvPr id="34" name="Shape 30"/>
          <p:cNvSpPr/>
          <p:nvPr/>
        </p:nvSpPr>
        <p:spPr>
          <a:xfrm>
            <a:off x="621792" y="4910328"/>
            <a:ext cx="11000232" cy="603504"/>
          </a:xfrm>
          <a:prstGeom prst="roundRect">
            <a:avLst>
              <a:gd name="adj" fmla="val 12121"/>
            </a:avLst>
          </a:prstGeom>
          <a:solidFill>
            <a:srgbClr val="DCEEE8"/>
          </a:solidFill>
          <a:ln w="9525">
            <a:solidFill>
              <a:srgbClr val="12796D"/>
            </a:solidFill>
            <a:prstDash val="solid"/>
          </a:ln>
        </p:spPr>
      </p:sp>
      <p:sp>
        <p:nvSpPr>
          <p:cNvPr id="35" name="Text 31"/>
          <p:cNvSpPr txBox="1"/>
          <p:nvPr/>
        </p:nvSpPr>
        <p:spPr>
          <a:xfrm>
            <a:off x="822960" y="4983480"/>
            <a:ext cx="1920240" cy="457200"/>
          </a:xfrm>
          <a:prstGeom prst="rect">
            <a:avLst/>
          </a:prstGeom>
          <a:noFill/>
          <a:ln/>
        </p:spPr>
        <p:txBody>
          <a:bodyPr wrap="square" lIns="0" tIns="0" rIns="0" bIns="0" rtlCol="0" anchor="ctr">
            <a:normAutofit/>
          </a:bodyPr>
          <a:lstStyle/>
          <a:p>
            <a:pPr indent="0" marL="0">
              <a:buNone/>
            </a:pPr>
            <a:r>
              <a:rPr lang="en-US" sz="1150" b="1" dirty="0">
                <a:solidFill>
                  <a:srgbClr val="12796D"/>
                </a:solidFill>
                <a:latin typeface="Arial" pitchFamily="34" charset="0"/>
                <a:ea typeface="Arial" pitchFamily="34" charset="-122"/>
                <a:cs typeface="Arial" pitchFamily="34" charset="-120"/>
              </a:rPr>
              <a:t>JanVaani</a:t>
            </a:r>
            <a:endParaRPr lang="en-US" sz="1150" dirty="0"/>
          </a:p>
        </p:txBody>
      </p:sp>
      <p:sp>
        <p:nvSpPr>
          <p:cNvPr id="36" name="Text 32"/>
          <p:cNvSpPr txBox="1"/>
          <p:nvPr/>
        </p:nvSpPr>
        <p:spPr>
          <a:xfrm>
            <a:off x="2834640" y="4983480"/>
            <a:ext cx="402336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Voice → located, deduplicated clusters fused with gap, vulnerability, investment</a:t>
            </a:r>
            <a:endParaRPr lang="en-US" sz="1000" dirty="0"/>
          </a:p>
        </p:txBody>
      </p:sp>
      <p:sp>
        <p:nvSpPr>
          <p:cNvPr id="37" name="Text 33"/>
          <p:cNvSpPr txBox="1"/>
          <p:nvPr/>
        </p:nvSpPr>
        <p:spPr>
          <a:xfrm>
            <a:off x="7059168" y="4983480"/>
            <a:ext cx="4389120" cy="457200"/>
          </a:xfrm>
          <a:prstGeom prst="rect">
            <a:avLst/>
          </a:prstGeom>
          <a:noFill/>
          <a:ln/>
        </p:spPr>
        <p:txBody>
          <a:bodyPr wrap="square" lIns="0" tIns="0" rIns="0" bIns="0" rtlCol="0" anchor="ctr">
            <a:normAutofit/>
          </a:bodyPr>
          <a:lstStyle/>
          <a:p>
            <a:pPr indent="0" marL="0">
              <a:buNone/>
            </a:pPr>
            <a:r>
              <a:rPr lang="en-US" sz="1000" dirty="0">
                <a:solidFill>
                  <a:srgbClr val="1B3149"/>
                </a:solidFill>
                <a:latin typeface="Arial" pitchFamily="34" charset="0"/>
                <a:ea typeface="Arial" pitchFamily="34" charset="-122"/>
                <a:cs typeface="Arial" pitchFamily="34" charset="-120"/>
              </a:rPr>
              <a:t>Adapter design for these systems; synthetic data; unvalidated in field</a:t>
            </a:r>
            <a:endParaRPr lang="en-US" sz="1000" dirty="0"/>
          </a:p>
        </p:txBody>
      </p:sp>
      <p:sp>
        <p:nvSpPr>
          <p:cNvPr id="38" name="Shape 34"/>
          <p:cNvSpPr/>
          <p:nvPr/>
        </p:nvSpPr>
        <p:spPr>
          <a:xfrm>
            <a:off x="658368" y="5843016"/>
            <a:ext cx="1719072" cy="310896"/>
          </a:xfrm>
          <a:prstGeom prst="roundRect">
            <a:avLst>
              <a:gd name="adj" fmla="val 23529"/>
            </a:avLst>
          </a:prstGeom>
          <a:solidFill>
            <a:srgbClr val="1B3149"/>
          </a:solidFill>
          <a:ln/>
        </p:spPr>
      </p:sp>
      <p:sp>
        <p:nvSpPr>
          <p:cNvPr id="39" name="Text 35"/>
          <p:cNvSpPr txBox="1"/>
          <p:nvPr/>
        </p:nvSpPr>
        <p:spPr>
          <a:xfrm>
            <a:off x="658368" y="5843016"/>
            <a:ext cx="1719072" cy="310896"/>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DISTINCTIVE CAPABILITY</a:t>
            </a:r>
            <a:endParaRPr lang="en-US" sz="700" dirty="0"/>
          </a:p>
        </p:txBody>
      </p:sp>
      <p:sp>
        <p:nvSpPr>
          <p:cNvPr id="40" name="Text 36"/>
          <p:cNvSpPr txBox="1"/>
          <p:nvPr/>
        </p:nvSpPr>
        <p:spPr>
          <a:xfrm>
            <a:off x="2606040" y="5824728"/>
            <a:ext cx="8961120" cy="347472"/>
          </a:xfrm>
          <a:prstGeom prst="rect">
            <a:avLst/>
          </a:prstGeom>
          <a:noFill/>
          <a:ln/>
        </p:spPr>
        <p:txBody>
          <a:bodyPr wrap="square" lIns="0" tIns="0" rIns="0" bIns="0" rtlCol="0" anchor="ctr">
            <a:normAutofit/>
          </a:bodyPr>
          <a:lstStyle/>
          <a:p>
            <a:pPr indent="0" marL="0">
              <a:buNone/>
            </a:pPr>
            <a:r>
              <a:rPr lang="en-US" sz="1400" b="1" dirty="0">
                <a:solidFill>
                  <a:srgbClr val="1B3149"/>
                </a:solidFill>
                <a:latin typeface="Arial" pitchFamily="34" charset="0"/>
                <a:ea typeface="Arial" pitchFamily="34" charset="-122"/>
                <a:cs typeface="Arial" pitchFamily="34" charset="-120"/>
              </a:rPr>
              <a:t>Per-capita unique-citizen demand, set against official gaps, with a number-checked brief.</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07 — TECHNOLOGY &amp; GOOGLE AI</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civic-demand-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Bounded AI on Google Cloud, not an open chatbot.</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Gemini interprets; deterministic code scores; people decide. Every AI record stores model, version and prompt.</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[7] Gemini 2.5 Flash on Vertex AI. Known gaps (README): Firebase not provisioned; Telegram delivery needs a bot token.</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JANVAANI</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8</a:t>
            </a:r>
            <a:endParaRPr lang="en-US" sz="650" dirty="0"/>
          </a:p>
        </p:txBody>
      </p:sp>
      <p:sp>
        <p:nvSpPr>
          <p:cNvPr id="15" name="Shape 11"/>
          <p:cNvSpPr/>
          <p:nvPr/>
        </p:nvSpPr>
        <p:spPr>
          <a:xfrm>
            <a:off x="621792" y="1709928"/>
            <a:ext cx="6702552" cy="612648"/>
          </a:xfrm>
          <a:prstGeom prst="roundRect">
            <a:avLst>
              <a:gd name="adj" fmla="val 11940"/>
            </a:avLst>
          </a:prstGeom>
          <a:solidFill>
            <a:srgbClr val="FFFDF7"/>
          </a:solidFill>
          <a:ln w="9525">
            <a:solidFill>
              <a:srgbClr val="DCD5C5"/>
            </a:solidFill>
            <a:prstDash val="solid"/>
          </a:ln>
        </p:spPr>
      </p:sp>
      <p:sp>
        <p:nvSpPr>
          <p:cNvPr id="16" name="Text 12"/>
          <p:cNvSpPr txBox="1"/>
          <p:nvPr/>
        </p:nvSpPr>
        <p:spPr>
          <a:xfrm>
            <a:off x="822960" y="1911096"/>
            <a:ext cx="320040" cy="146304"/>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01</a:t>
            </a:r>
            <a:endParaRPr lang="en-US" sz="750" dirty="0"/>
          </a:p>
        </p:txBody>
      </p:sp>
      <p:sp>
        <p:nvSpPr>
          <p:cNvPr id="17" name="Text 13"/>
          <p:cNvSpPr txBox="1"/>
          <p:nvPr/>
        </p:nvSpPr>
        <p:spPr>
          <a:xfrm>
            <a:off x="1234440" y="1874520"/>
            <a:ext cx="1920240" cy="274320"/>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CHANNELS</a:t>
            </a:r>
            <a:endParaRPr lang="en-US" sz="1100" dirty="0"/>
          </a:p>
        </p:txBody>
      </p:sp>
      <p:sp>
        <p:nvSpPr>
          <p:cNvPr id="18" name="Text 14"/>
          <p:cNvSpPr txBox="1"/>
          <p:nvPr/>
        </p:nvSpPr>
        <p:spPr>
          <a:xfrm>
            <a:off x="3246120" y="1819656"/>
            <a:ext cx="3977640" cy="411480"/>
          </a:xfrm>
          <a:prstGeom prst="rect">
            <a:avLst/>
          </a:prstGeom>
          <a:noFill/>
          <a:ln/>
        </p:spPr>
        <p:txBody>
          <a:bodyPr wrap="square" lIns="0" tIns="0" rIns="0" bIns="0" rtlCol="0" anchor="ctr">
            <a:normAutofit/>
          </a:bodyPr>
          <a:lstStyle/>
          <a:p>
            <a:pPr indent="0" marL="0">
              <a:buNone/>
            </a:pPr>
            <a:r>
              <a:rPr lang="en-US" sz="950" dirty="0">
                <a:solidFill>
                  <a:srgbClr val="1B3149"/>
                </a:solidFill>
                <a:latin typeface="Arial" pitchFamily="34" charset="0"/>
                <a:ea typeface="Arial" pitchFamily="34" charset="-122"/>
                <a:cs typeface="Arial" pitchFamily="34" charset="-120"/>
              </a:rPr>
              <a:t>Next.js citizen app (text, voice, chat tab) • Telegram webhook</a:t>
            </a:r>
            <a:endParaRPr lang="en-US" sz="950" dirty="0"/>
          </a:p>
        </p:txBody>
      </p:sp>
      <p:sp>
        <p:nvSpPr>
          <p:cNvPr id="19" name="Shape 15"/>
          <p:cNvSpPr/>
          <p:nvPr/>
        </p:nvSpPr>
        <p:spPr>
          <a:xfrm>
            <a:off x="621792" y="2514600"/>
            <a:ext cx="6702552" cy="612648"/>
          </a:xfrm>
          <a:prstGeom prst="roundRect">
            <a:avLst>
              <a:gd name="adj" fmla="val 11940"/>
            </a:avLst>
          </a:prstGeom>
          <a:solidFill>
            <a:srgbClr val="FFFDF7"/>
          </a:solidFill>
          <a:ln w="9525">
            <a:solidFill>
              <a:srgbClr val="DCD5C5"/>
            </a:solidFill>
            <a:prstDash val="solid"/>
          </a:ln>
        </p:spPr>
      </p:sp>
      <p:sp>
        <p:nvSpPr>
          <p:cNvPr id="20" name="Text 16"/>
          <p:cNvSpPr txBox="1"/>
          <p:nvPr/>
        </p:nvSpPr>
        <p:spPr>
          <a:xfrm>
            <a:off x="822960" y="2715768"/>
            <a:ext cx="320040" cy="146304"/>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02</a:t>
            </a:r>
            <a:endParaRPr lang="en-US" sz="750" dirty="0"/>
          </a:p>
        </p:txBody>
      </p:sp>
      <p:sp>
        <p:nvSpPr>
          <p:cNvPr id="21" name="Text 17"/>
          <p:cNvSpPr txBox="1"/>
          <p:nvPr/>
        </p:nvSpPr>
        <p:spPr>
          <a:xfrm>
            <a:off x="1234440" y="2679192"/>
            <a:ext cx="1920240" cy="274320"/>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UNDERSTANDING</a:t>
            </a:r>
            <a:endParaRPr lang="en-US" sz="1100" dirty="0"/>
          </a:p>
        </p:txBody>
      </p:sp>
      <p:sp>
        <p:nvSpPr>
          <p:cNvPr id="22" name="Text 18"/>
          <p:cNvSpPr txBox="1"/>
          <p:nvPr/>
        </p:nvSpPr>
        <p:spPr>
          <a:xfrm>
            <a:off x="3246120" y="2624328"/>
            <a:ext cx="3977640" cy="411480"/>
          </a:xfrm>
          <a:prstGeom prst="rect">
            <a:avLst/>
          </a:prstGeom>
          <a:noFill/>
          <a:ln/>
        </p:spPr>
        <p:txBody>
          <a:bodyPr wrap="square" lIns="0" tIns="0" rIns="0" bIns="0" rtlCol="0" anchor="ctr">
            <a:normAutofit/>
          </a:bodyPr>
          <a:lstStyle/>
          <a:p>
            <a:pPr indent="0" marL="0">
              <a:buNone/>
            </a:pPr>
            <a:r>
              <a:rPr lang="en-US" sz="950" dirty="0">
                <a:solidFill>
                  <a:srgbClr val="1B3149"/>
                </a:solidFill>
                <a:latin typeface="Arial" pitchFamily="34" charset="0"/>
                <a:ea typeface="Arial" pitchFamily="34" charset="-122"/>
                <a:cs typeface="Arial" pitchFamily="34" charset="-120"/>
              </a:rPr>
              <a:t>Gemini 2.5 Flash • schema-validated JSON • versioned prompts</a:t>
            </a:r>
            <a:endParaRPr lang="en-US" sz="950" dirty="0"/>
          </a:p>
        </p:txBody>
      </p:sp>
      <p:sp>
        <p:nvSpPr>
          <p:cNvPr id="23" name="Shape 19"/>
          <p:cNvSpPr/>
          <p:nvPr/>
        </p:nvSpPr>
        <p:spPr>
          <a:xfrm>
            <a:off x="621792" y="3319272"/>
            <a:ext cx="6702552" cy="612648"/>
          </a:xfrm>
          <a:prstGeom prst="roundRect">
            <a:avLst>
              <a:gd name="adj" fmla="val 11940"/>
            </a:avLst>
          </a:prstGeom>
          <a:solidFill>
            <a:srgbClr val="FFFDF7"/>
          </a:solidFill>
          <a:ln w="9525">
            <a:solidFill>
              <a:srgbClr val="DCD5C5"/>
            </a:solidFill>
            <a:prstDash val="solid"/>
          </a:ln>
        </p:spPr>
      </p:sp>
      <p:sp>
        <p:nvSpPr>
          <p:cNvPr id="24" name="Text 20"/>
          <p:cNvSpPr txBox="1"/>
          <p:nvPr/>
        </p:nvSpPr>
        <p:spPr>
          <a:xfrm>
            <a:off x="822960" y="3520440"/>
            <a:ext cx="320040" cy="146304"/>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03</a:t>
            </a:r>
            <a:endParaRPr lang="en-US" sz="750" dirty="0"/>
          </a:p>
        </p:txBody>
      </p:sp>
      <p:sp>
        <p:nvSpPr>
          <p:cNvPr id="25" name="Text 21"/>
          <p:cNvSpPr txBox="1"/>
          <p:nvPr/>
        </p:nvSpPr>
        <p:spPr>
          <a:xfrm>
            <a:off x="1234440" y="3483864"/>
            <a:ext cx="1920240" cy="274320"/>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LOCATION + CLUSTERS</a:t>
            </a:r>
            <a:endParaRPr lang="en-US" sz="1100" dirty="0"/>
          </a:p>
        </p:txBody>
      </p:sp>
      <p:sp>
        <p:nvSpPr>
          <p:cNvPr id="26" name="Text 22"/>
          <p:cNvSpPr txBox="1"/>
          <p:nvPr/>
        </p:nvSpPr>
        <p:spPr>
          <a:xfrm>
            <a:off x="3246120" y="3429000"/>
            <a:ext cx="3977640" cy="411480"/>
          </a:xfrm>
          <a:prstGeom prst="rect">
            <a:avLst/>
          </a:prstGeom>
          <a:noFill/>
          <a:ln/>
        </p:spPr>
        <p:txBody>
          <a:bodyPr wrap="square" lIns="0" tIns="0" rIns="0" bIns="0" rtlCol="0" anchor="ctr">
            <a:normAutofit/>
          </a:bodyPr>
          <a:lstStyle/>
          <a:p>
            <a:pPr indent="0" marL="0">
              <a:buNone/>
            </a:pPr>
            <a:r>
              <a:rPr lang="en-US" sz="950" dirty="0">
                <a:solidFill>
                  <a:srgbClr val="1B3149"/>
                </a:solidFill>
                <a:latin typeface="Arial" pitchFamily="34" charset="0"/>
                <a:ea typeface="Arial" pitchFamily="34" charset="-122"/>
                <a:cs typeface="Arial" pitchFamily="34" charset="-120"/>
              </a:rPr>
              <a:t>LGD-style codes + H3 cells • Gemini embeddings similarity</a:t>
            </a:r>
            <a:endParaRPr lang="en-US" sz="950" dirty="0"/>
          </a:p>
        </p:txBody>
      </p:sp>
      <p:sp>
        <p:nvSpPr>
          <p:cNvPr id="27" name="Shape 23"/>
          <p:cNvSpPr/>
          <p:nvPr/>
        </p:nvSpPr>
        <p:spPr>
          <a:xfrm>
            <a:off x="621792" y="4123944"/>
            <a:ext cx="6702552" cy="612648"/>
          </a:xfrm>
          <a:prstGeom prst="roundRect">
            <a:avLst>
              <a:gd name="adj" fmla="val 11940"/>
            </a:avLst>
          </a:prstGeom>
          <a:solidFill>
            <a:srgbClr val="DCEEE8"/>
          </a:solidFill>
          <a:ln w="9525">
            <a:solidFill>
              <a:srgbClr val="12796D"/>
            </a:solidFill>
            <a:prstDash val="solid"/>
          </a:ln>
        </p:spPr>
      </p:sp>
      <p:sp>
        <p:nvSpPr>
          <p:cNvPr id="28" name="Text 24"/>
          <p:cNvSpPr txBox="1"/>
          <p:nvPr/>
        </p:nvSpPr>
        <p:spPr>
          <a:xfrm>
            <a:off x="822960" y="4325112"/>
            <a:ext cx="320040" cy="146304"/>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04</a:t>
            </a:r>
            <a:endParaRPr lang="en-US" sz="750" dirty="0"/>
          </a:p>
        </p:txBody>
      </p:sp>
      <p:sp>
        <p:nvSpPr>
          <p:cNvPr id="29" name="Text 25"/>
          <p:cNvSpPr txBox="1"/>
          <p:nvPr/>
        </p:nvSpPr>
        <p:spPr>
          <a:xfrm>
            <a:off x="1234440" y="4288536"/>
            <a:ext cx="1920240" cy="274320"/>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FUSION + SCORE</a:t>
            </a:r>
            <a:endParaRPr lang="en-US" sz="1100" dirty="0"/>
          </a:p>
        </p:txBody>
      </p:sp>
      <p:sp>
        <p:nvSpPr>
          <p:cNvPr id="30" name="Text 26"/>
          <p:cNvSpPr txBox="1"/>
          <p:nvPr/>
        </p:nvSpPr>
        <p:spPr>
          <a:xfrm>
            <a:off x="3246120" y="4233672"/>
            <a:ext cx="3977640" cy="411480"/>
          </a:xfrm>
          <a:prstGeom prst="rect">
            <a:avLst/>
          </a:prstGeom>
          <a:noFill/>
          <a:ln/>
        </p:spPr>
        <p:txBody>
          <a:bodyPr wrap="square" lIns="0" tIns="0" rIns="0" bIns="0" rtlCol="0" anchor="ctr">
            <a:normAutofit/>
          </a:bodyPr>
          <a:lstStyle/>
          <a:p>
            <a:pPr indent="0" marL="0">
              <a:buNone/>
            </a:pPr>
            <a:r>
              <a:rPr lang="en-US" sz="950" dirty="0">
                <a:solidFill>
                  <a:srgbClr val="1B3149"/>
                </a:solidFill>
                <a:latin typeface="Arial" pitchFamily="34" charset="0"/>
                <a:ea typeface="Arial" pitchFamily="34" charset="-122"/>
                <a:cs typeface="Arial" pitchFamily="34" charset="-120"/>
              </a:rPr>
              <a:t>State adapters → canonical schema • 5-factor deterministic score</a:t>
            </a:r>
            <a:endParaRPr lang="en-US" sz="950" dirty="0"/>
          </a:p>
        </p:txBody>
      </p:sp>
      <p:sp>
        <p:nvSpPr>
          <p:cNvPr id="31" name="Shape 27"/>
          <p:cNvSpPr/>
          <p:nvPr/>
        </p:nvSpPr>
        <p:spPr>
          <a:xfrm>
            <a:off x="621792" y="4928616"/>
            <a:ext cx="6702552" cy="612648"/>
          </a:xfrm>
          <a:prstGeom prst="roundRect">
            <a:avLst>
              <a:gd name="adj" fmla="val 11940"/>
            </a:avLst>
          </a:prstGeom>
          <a:solidFill>
            <a:srgbClr val="FFFDF7"/>
          </a:solidFill>
          <a:ln w="9525">
            <a:solidFill>
              <a:srgbClr val="DCD5C5"/>
            </a:solidFill>
            <a:prstDash val="solid"/>
          </a:ln>
        </p:spPr>
      </p:sp>
      <p:sp>
        <p:nvSpPr>
          <p:cNvPr id="32" name="Text 28"/>
          <p:cNvSpPr txBox="1"/>
          <p:nvPr/>
        </p:nvSpPr>
        <p:spPr>
          <a:xfrm>
            <a:off x="822960" y="5129784"/>
            <a:ext cx="320040" cy="146304"/>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05</a:t>
            </a:r>
            <a:endParaRPr lang="en-US" sz="750" dirty="0"/>
          </a:p>
        </p:txBody>
      </p:sp>
      <p:sp>
        <p:nvSpPr>
          <p:cNvPr id="33" name="Text 29"/>
          <p:cNvSpPr txBox="1"/>
          <p:nvPr/>
        </p:nvSpPr>
        <p:spPr>
          <a:xfrm>
            <a:off x="1234440" y="5093208"/>
            <a:ext cx="1920240" cy="274320"/>
          </a:xfrm>
          <a:prstGeom prst="rect">
            <a:avLst/>
          </a:prstGeom>
          <a:noFill/>
          <a:ln/>
        </p:spPr>
        <p:txBody>
          <a:bodyPr wrap="square" lIns="0" tIns="0" rIns="0" bIns="0" rtlCol="0" anchor="t">
            <a:normAutofit/>
          </a:bodyPr>
          <a:lstStyle/>
          <a:p>
            <a:pPr indent="0" marL="0">
              <a:buNone/>
            </a:pPr>
            <a:r>
              <a:rPr lang="en-US" sz="1100" b="1" dirty="0">
                <a:solidFill>
                  <a:srgbClr val="1B3149"/>
                </a:solidFill>
                <a:latin typeface="Arial" pitchFamily="34" charset="0"/>
                <a:ea typeface="Arial" pitchFamily="34" charset="-122"/>
                <a:cs typeface="Arial" pitchFamily="34" charset="-120"/>
              </a:rPr>
              <a:t>BRIEF + DECISION</a:t>
            </a:r>
            <a:endParaRPr lang="en-US" sz="1100" dirty="0"/>
          </a:p>
        </p:txBody>
      </p:sp>
      <p:sp>
        <p:nvSpPr>
          <p:cNvPr id="34" name="Text 30"/>
          <p:cNvSpPr txBox="1"/>
          <p:nvPr/>
        </p:nvSpPr>
        <p:spPr>
          <a:xfrm>
            <a:off x="3246120" y="5038344"/>
            <a:ext cx="3977640" cy="411480"/>
          </a:xfrm>
          <a:prstGeom prst="rect">
            <a:avLst/>
          </a:prstGeom>
          <a:noFill/>
          <a:ln/>
        </p:spPr>
        <p:txBody>
          <a:bodyPr wrap="square" lIns="0" tIns="0" rIns="0" bIns="0" rtlCol="0" anchor="ctr">
            <a:normAutofit/>
          </a:bodyPr>
          <a:lstStyle/>
          <a:p>
            <a:pPr indent="0" marL="0">
              <a:buNone/>
            </a:pPr>
            <a:r>
              <a:rPr lang="en-US" sz="950" dirty="0">
                <a:solidFill>
                  <a:srgbClr val="1B3149"/>
                </a:solidFill>
                <a:latin typeface="Arial" pitchFamily="34" charset="0"/>
                <a:ea typeface="Arial" pitchFamily="34" charset="-122"/>
                <a:cs typeface="Arial" pitchFamily="34" charset="-120"/>
              </a:rPr>
              <a:t>Gemini brief from structured input • number check • human decision</a:t>
            </a:r>
            <a:endParaRPr lang="en-US" sz="950" dirty="0"/>
          </a:p>
        </p:txBody>
      </p:sp>
      <p:sp>
        <p:nvSpPr>
          <p:cNvPr id="35" name="Shape 31"/>
          <p:cNvSpPr/>
          <p:nvPr/>
        </p:nvSpPr>
        <p:spPr>
          <a:xfrm>
            <a:off x="7662672" y="1700784"/>
            <a:ext cx="3931920" cy="2011680"/>
          </a:xfrm>
          <a:prstGeom prst="roundRect">
            <a:avLst>
              <a:gd name="adj" fmla="val 3636"/>
            </a:avLst>
          </a:prstGeom>
          <a:solidFill>
            <a:srgbClr val="1B3149"/>
          </a:solidFill>
          <a:ln/>
        </p:spPr>
      </p:sp>
      <p:sp>
        <p:nvSpPr>
          <p:cNvPr id="36" name="Text 32"/>
          <p:cNvSpPr txBox="1"/>
          <p:nvPr/>
        </p:nvSpPr>
        <p:spPr>
          <a:xfrm>
            <a:off x="7955280" y="1920240"/>
            <a:ext cx="3474720" cy="228600"/>
          </a:xfrm>
          <a:prstGeom prst="rect">
            <a:avLst/>
          </a:prstGeom>
          <a:noFill/>
          <a:ln/>
        </p:spPr>
        <p:txBody>
          <a:bodyPr wrap="square" lIns="0" tIns="0" rIns="0" bIns="0" rtlCol="0" anchor="t">
            <a:normAutofit/>
          </a:bodyPr>
          <a:lstStyle/>
          <a:p>
            <a:pPr indent="0" marL="0">
              <a:buNone/>
            </a:pPr>
            <a:r>
              <a:rPr lang="en-US" sz="1200" b="1" dirty="0">
                <a:solidFill>
                  <a:srgbClr val="FFFFFF"/>
                </a:solidFill>
                <a:latin typeface="Arial" pitchFamily="34" charset="0"/>
                <a:ea typeface="Arial" pitchFamily="34" charset="-122"/>
                <a:cs typeface="Arial" pitchFamily="34" charset="-120"/>
              </a:rPr>
              <a:t>GOOGLE AI INTEGRATION MAP</a:t>
            </a:r>
            <a:endParaRPr lang="en-US" sz="1200" dirty="0"/>
          </a:p>
        </p:txBody>
      </p:sp>
      <p:sp>
        <p:nvSpPr>
          <p:cNvPr id="37" name="Shape 33"/>
          <p:cNvSpPr/>
          <p:nvPr/>
        </p:nvSpPr>
        <p:spPr>
          <a:xfrm>
            <a:off x="7982712" y="2340864"/>
            <a:ext cx="109728" cy="109728"/>
          </a:xfrm>
          <a:prstGeom prst="ellipse">
            <a:avLst/>
          </a:prstGeom>
          <a:solidFill>
            <a:srgbClr val="9ED8CC"/>
          </a:solidFill>
          <a:ln/>
        </p:spPr>
      </p:sp>
      <p:sp>
        <p:nvSpPr>
          <p:cNvPr id="38" name="Text 34"/>
          <p:cNvSpPr txBox="1"/>
          <p:nvPr/>
        </p:nvSpPr>
        <p:spPr>
          <a:xfrm>
            <a:off x="8211312" y="2286000"/>
            <a:ext cx="3246120" cy="23774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Gemini 2.5 Flash + embeddings on Vertex AI</a:t>
            </a:r>
            <a:endParaRPr lang="en-US" sz="950" dirty="0"/>
          </a:p>
        </p:txBody>
      </p:sp>
      <p:sp>
        <p:nvSpPr>
          <p:cNvPr id="39" name="Shape 35"/>
          <p:cNvSpPr/>
          <p:nvPr/>
        </p:nvSpPr>
        <p:spPr>
          <a:xfrm>
            <a:off x="7982712" y="2642616"/>
            <a:ext cx="109728" cy="109728"/>
          </a:xfrm>
          <a:prstGeom prst="ellipse">
            <a:avLst/>
          </a:prstGeom>
          <a:solidFill>
            <a:srgbClr val="9ED8CC"/>
          </a:solidFill>
          <a:ln/>
        </p:spPr>
      </p:sp>
      <p:sp>
        <p:nvSpPr>
          <p:cNvPr id="40" name="Text 36"/>
          <p:cNvSpPr txBox="1"/>
          <p:nvPr/>
        </p:nvSpPr>
        <p:spPr>
          <a:xfrm>
            <a:off x="8211312" y="2587752"/>
            <a:ext cx="3246120" cy="23774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Speech-to-Text • Translation • Text-to-Speech</a:t>
            </a:r>
            <a:endParaRPr lang="en-US" sz="950" dirty="0"/>
          </a:p>
        </p:txBody>
      </p:sp>
      <p:sp>
        <p:nvSpPr>
          <p:cNvPr id="41" name="Shape 37"/>
          <p:cNvSpPr/>
          <p:nvPr/>
        </p:nvSpPr>
        <p:spPr>
          <a:xfrm>
            <a:off x="7982712" y="2944368"/>
            <a:ext cx="109728" cy="109728"/>
          </a:xfrm>
          <a:prstGeom prst="ellipse">
            <a:avLst/>
          </a:prstGeom>
          <a:solidFill>
            <a:srgbClr val="9ED8CC"/>
          </a:solidFill>
          <a:ln/>
        </p:spPr>
      </p:sp>
      <p:sp>
        <p:nvSpPr>
          <p:cNvPr id="42" name="Text 38"/>
          <p:cNvSpPr txBox="1"/>
          <p:nvPr/>
        </p:nvSpPr>
        <p:spPr>
          <a:xfrm>
            <a:off x="8211312" y="2889504"/>
            <a:ext cx="3246120" cy="23774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Maps • BigQuery • Cloud Storage • Cloud Run</a:t>
            </a:r>
            <a:endParaRPr lang="en-US" sz="950" dirty="0"/>
          </a:p>
        </p:txBody>
      </p:sp>
      <p:sp>
        <p:nvSpPr>
          <p:cNvPr id="43" name="Shape 39"/>
          <p:cNvSpPr/>
          <p:nvPr/>
        </p:nvSpPr>
        <p:spPr>
          <a:xfrm>
            <a:off x="7964424" y="3364992"/>
            <a:ext cx="822960" cy="274320"/>
          </a:xfrm>
          <a:prstGeom prst="roundRect">
            <a:avLst>
              <a:gd name="adj" fmla="val 26667"/>
            </a:avLst>
          </a:prstGeom>
          <a:solidFill>
            <a:srgbClr val="E8694A"/>
          </a:solidFill>
          <a:ln/>
        </p:spPr>
      </p:sp>
      <p:sp>
        <p:nvSpPr>
          <p:cNvPr id="44" name="Text 40"/>
          <p:cNvSpPr txBox="1"/>
          <p:nvPr/>
        </p:nvSpPr>
        <p:spPr>
          <a:xfrm>
            <a:off x="7964424" y="3364992"/>
            <a:ext cx="822960" cy="274320"/>
          </a:xfrm>
          <a:prstGeom prst="rect">
            <a:avLst/>
          </a:prstGeom>
          <a:noFill/>
          <a:ln/>
        </p:spPr>
        <p:txBody>
          <a:bodyPr wrap="square" lIns="0" tIns="0" rIns="0" bIns="0" rtlCol="0" anchor="ctr"/>
          <a:lstStyle/>
          <a:p>
            <a:pPr algn="ctr" indent="0" marL="0">
              <a:buNone/>
            </a:pPr>
            <a:r>
              <a:rPr lang="en-US" sz="650" b="1" spc="50" kern="0" dirty="0">
                <a:solidFill>
                  <a:srgbClr val="FFFFFF"/>
                </a:solidFill>
                <a:latin typeface="Arial" pitchFamily="34" charset="0"/>
                <a:ea typeface="Arial" pitchFamily="34" charset="-122"/>
                <a:cs typeface="Arial" pitchFamily="34" charset="-120"/>
              </a:rPr>
              <a:t>PLANNED</a:t>
            </a:r>
            <a:endParaRPr lang="en-US" sz="650" dirty="0"/>
          </a:p>
        </p:txBody>
      </p:sp>
      <p:sp>
        <p:nvSpPr>
          <p:cNvPr id="45" name="Text 41"/>
          <p:cNvSpPr txBox="1"/>
          <p:nvPr/>
        </p:nvSpPr>
        <p:spPr>
          <a:xfrm>
            <a:off x="8869680" y="3346704"/>
            <a:ext cx="2606040" cy="310896"/>
          </a:xfrm>
          <a:prstGeom prst="rect">
            <a:avLst/>
          </a:prstGeom>
          <a:noFill/>
          <a:ln/>
        </p:spPr>
        <p:txBody>
          <a:bodyPr wrap="square" lIns="0" tIns="0" rIns="0" bIns="0" rtlCol="0" anchor="ctr">
            <a:normAutofit/>
          </a:bodyPr>
          <a:lstStyle/>
          <a:p>
            <a:pPr indent="0" marL="0">
              <a:buNone/>
            </a:pPr>
            <a:r>
              <a:rPr lang="en-US" sz="850" b="1" dirty="0">
                <a:solidFill>
                  <a:srgbClr val="F3CB7A"/>
                </a:solidFill>
                <a:latin typeface="Arial" pitchFamily="34" charset="0"/>
                <a:ea typeface="Arial" pitchFamily="34" charset="-122"/>
                <a:cs typeface="Arial" pitchFamily="34" charset="-120"/>
              </a:rPr>
              <a:t>Firebase auth • BigQuery ML forecasting</a:t>
            </a:r>
            <a:endParaRPr lang="en-US" sz="850" dirty="0"/>
          </a:p>
        </p:txBody>
      </p:sp>
      <p:sp>
        <p:nvSpPr>
          <p:cNvPr id="46" name="Shape 42"/>
          <p:cNvSpPr/>
          <p:nvPr/>
        </p:nvSpPr>
        <p:spPr>
          <a:xfrm>
            <a:off x="7662672" y="3995928"/>
            <a:ext cx="3931920" cy="1737360"/>
          </a:xfrm>
          <a:prstGeom prst="roundRect">
            <a:avLst>
              <a:gd name="adj" fmla="val 4211"/>
            </a:avLst>
          </a:prstGeom>
          <a:solidFill>
            <a:srgbClr val="FFFDF7"/>
          </a:solidFill>
          <a:ln w="9525">
            <a:solidFill>
              <a:srgbClr val="12796D"/>
            </a:solidFill>
            <a:prstDash val="solid"/>
          </a:ln>
        </p:spPr>
      </p:sp>
      <p:sp>
        <p:nvSpPr>
          <p:cNvPr id="47" name="Text 43"/>
          <p:cNvSpPr txBox="1"/>
          <p:nvPr/>
        </p:nvSpPr>
        <p:spPr>
          <a:xfrm>
            <a:off x="7955280" y="4224528"/>
            <a:ext cx="3474720" cy="228600"/>
          </a:xfrm>
          <a:prstGeom prst="rect">
            <a:avLst/>
          </a:prstGeom>
          <a:noFill/>
          <a:ln/>
        </p:spPr>
        <p:txBody>
          <a:bodyPr wrap="square" lIns="0" tIns="0" rIns="0" bIns="0" rtlCol="0" anchor="t">
            <a:normAutofit/>
          </a:bodyPr>
          <a:lstStyle/>
          <a:p>
            <a:pPr indent="0" marL="0">
              <a:buNone/>
            </a:pPr>
            <a:r>
              <a:rPr lang="en-US" sz="1200" b="1" dirty="0">
                <a:solidFill>
                  <a:srgbClr val="12796D"/>
                </a:solidFill>
                <a:latin typeface="Arial" pitchFamily="34" charset="0"/>
                <a:ea typeface="Arial" pitchFamily="34" charset="-122"/>
                <a:cs typeface="Arial" pitchFamily="34" charset="-120"/>
              </a:rPr>
              <a:t>REAL VS DEMO RULES</a:t>
            </a:r>
            <a:endParaRPr lang="en-US" sz="1200" dirty="0"/>
          </a:p>
        </p:txBody>
      </p:sp>
      <p:sp>
        <p:nvSpPr>
          <p:cNvPr id="48" name="Text 44"/>
          <p:cNvSpPr txBox="1"/>
          <p:nvPr/>
        </p:nvSpPr>
        <p:spPr>
          <a:xfrm>
            <a:off x="7955280" y="4645152"/>
            <a:ext cx="1005840" cy="310896"/>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Status badge</a:t>
            </a:r>
            <a:endParaRPr lang="en-US" sz="850" dirty="0"/>
          </a:p>
        </p:txBody>
      </p:sp>
      <p:sp>
        <p:nvSpPr>
          <p:cNvPr id="49" name="Text 45"/>
          <p:cNvSpPr txBox="1"/>
          <p:nvPr/>
        </p:nvSpPr>
        <p:spPr>
          <a:xfrm>
            <a:off x="9052560" y="4645152"/>
            <a:ext cx="2423160" cy="329184"/>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Live / demo / fallback shown per integration</a:t>
            </a:r>
            <a:endParaRPr lang="en-US" sz="850" dirty="0"/>
          </a:p>
        </p:txBody>
      </p:sp>
      <p:sp>
        <p:nvSpPr>
          <p:cNvPr id="50" name="Text 46"/>
          <p:cNvSpPr txBox="1"/>
          <p:nvPr/>
        </p:nvSpPr>
        <p:spPr>
          <a:xfrm>
            <a:off x="7955280" y="5010912"/>
            <a:ext cx="1005840" cy="310896"/>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Data</a:t>
            </a:r>
            <a:endParaRPr lang="en-US" sz="850" dirty="0"/>
          </a:p>
        </p:txBody>
      </p:sp>
      <p:sp>
        <p:nvSpPr>
          <p:cNvPr id="51" name="Text 47"/>
          <p:cNvSpPr txBox="1"/>
          <p:nvPr/>
        </p:nvSpPr>
        <p:spPr>
          <a:xfrm>
            <a:off x="9052560" y="5010912"/>
            <a:ext cx="2423160" cy="329184"/>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Every value has source + year; synthetic flagged</a:t>
            </a:r>
            <a:endParaRPr lang="en-US" sz="850" dirty="0"/>
          </a:p>
        </p:txBody>
      </p:sp>
      <p:sp>
        <p:nvSpPr>
          <p:cNvPr id="52" name="Text 48"/>
          <p:cNvSpPr txBox="1"/>
          <p:nvPr/>
        </p:nvSpPr>
        <p:spPr>
          <a:xfrm>
            <a:off x="7955280" y="5376672"/>
            <a:ext cx="1005840" cy="310896"/>
          </a:xfrm>
          <a:prstGeom prst="rect">
            <a:avLst/>
          </a:prstGeom>
          <a:noFill/>
          <a:ln/>
        </p:spPr>
        <p:txBody>
          <a:bodyPr wrap="square" lIns="0" tIns="0" rIns="0" bIns="0" rtlCol="0" anchor="t">
            <a:normAutofit/>
          </a:bodyPr>
          <a:lstStyle/>
          <a:p>
            <a:pPr indent="0" marL="0">
              <a:buNone/>
            </a:pPr>
            <a:r>
              <a:rPr lang="en-US" sz="850" b="1" dirty="0">
                <a:solidFill>
                  <a:srgbClr val="E8694A"/>
                </a:solidFill>
                <a:latin typeface="Arial" pitchFamily="34" charset="0"/>
                <a:ea typeface="Arial" pitchFamily="34" charset="-122"/>
                <a:cs typeface="Arial" pitchFamily="34" charset="-120"/>
              </a:rPr>
              <a:t>Fallback</a:t>
            </a:r>
            <a:endParaRPr lang="en-US" sz="850" dirty="0"/>
          </a:p>
        </p:txBody>
      </p:sp>
      <p:sp>
        <p:nvSpPr>
          <p:cNvPr id="53" name="Text 49"/>
          <p:cNvSpPr txBox="1"/>
          <p:nvPr/>
        </p:nvSpPr>
        <p:spPr>
          <a:xfrm>
            <a:off x="9052560" y="5376672"/>
            <a:ext cx="2423160" cy="329184"/>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Labelled fixture or template; model_name shown</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08 — RESPONSIBLE AI &amp; DATA</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civic-demand-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AI may interpret. It may not invent or decide.</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Trust rules are enforced in the pipeline, not written into a policy document afterwards.</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[8] Digital Personal Data Protection Act, 2023. Bias toward connected areas: per-capita normalisation now; assisted capture on the roadmap.</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JANVAANI</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9</a:t>
            </a:r>
            <a:endParaRPr lang="en-US" sz="650" dirty="0"/>
          </a:p>
        </p:txBody>
      </p:sp>
      <p:sp>
        <p:nvSpPr>
          <p:cNvPr id="15" name="Shape 11"/>
          <p:cNvSpPr/>
          <p:nvPr/>
        </p:nvSpPr>
        <p:spPr>
          <a:xfrm>
            <a:off x="621792" y="1700784"/>
            <a:ext cx="5230368" cy="1856232"/>
          </a:xfrm>
          <a:prstGeom prst="roundRect">
            <a:avLst>
              <a:gd name="adj" fmla="val 3941"/>
            </a:avLst>
          </a:prstGeom>
          <a:solidFill>
            <a:srgbClr val="DCEEE8"/>
          </a:solidFill>
          <a:ln w="9525">
            <a:solidFill>
              <a:srgbClr val="12796D"/>
            </a:solidFill>
            <a:prstDash val="solid"/>
          </a:ln>
        </p:spPr>
      </p:sp>
      <p:sp>
        <p:nvSpPr>
          <p:cNvPr id="16" name="Shape 12"/>
          <p:cNvSpPr/>
          <p:nvPr/>
        </p:nvSpPr>
        <p:spPr>
          <a:xfrm>
            <a:off x="868680" y="1920240"/>
            <a:ext cx="1463040" cy="310896"/>
          </a:xfrm>
          <a:prstGeom prst="roundRect">
            <a:avLst>
              <a:gd name="adj" fmla="val 23529"/>
            </a:avLst>
          </a:prstGeom>
          <a:solidFill>
            <a:srgbClr val="12796D"/>
          </a:solidFill>
          <a:ln/>
        </p:spPr>
      </p:sp>
      <p:sp>
        <p:nvSpPr>
          <p:cNvPr id="17" name="Text 13"/>
          <p:cNvSpPr txBox="1"/>
          <p:nvPr/>
        </p:nvSpPr>
        <p:spPr>
          <a:xfrm>
            <a:off x="868680" y="1920240"/>
            <a:ext cx="1463040" cy="310896"/>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PSEUDONYMOUS</a:t>
            </a:r>
            <a:endParaRPr lang="en-US" sz="700" dirty="0"/>
          </a:p>
        </p:txBody>
      </p:sp>
      <p:sp>
        <p:nvSpPr>
          <p:cNvPr id="18" name="Shape 14"/>
          <p:cNvSpPr/>
          <p:nvPr/>
        </p:nvSpPr>
        <p:spPr>
          <a:xfrm>
            <a:off x="2468880" y="1920240"/>
            <a:ext cx="2651760" cy="310896"/>
          </a:xfrm>
          <a:prstGeom prst="roundRect">
            <a:avLst>
              <a:gd name="adj" fmla="val 23529"/>
            </a:avLst>
          </a:prstGeom>
          <a:solidFill>
            <a:srgbClr val="1B3149"/>
          </a:solidFill>
          <a:ln/>
        </p:spPr>
      </p:sp>
      <p:sp>
        <p:nvSpPr>
          <p:cNvPr id="19" name="Text 15"/>
          <p:cNvSpPr txBox="1"/>
          <p:nvPr/>
        </p:nvSpPr>
        <p:spPr>
          <a:xfrm>
            <a:off x="2468880" y="1920240"/>
            <a:ext cx="2651760" cy="310896"/>
          </a:xfrm>
          <a:prstGeom prst="rect">
            <a:avLst/>
          </a:prstGeom>
          <a:noFill/>
          <a:ln/>
        </p:spPr>
        <p:txBody>
          <a:bodyPr wrap="square" lIns="0" tIns="0" rIns="0" bIns="0" rtlCol="0" anchor="ctr"/>
          <a:lstStyle/>
          <a:p>
            <a:pPr algn="ctr" indent="0" marL="0">
              <a:buNone/>
            </a:pPr>
            <a:r>
              <a:rPr lang="en-US" sz="700" b="1" spc="50" kern="0" dirty="0">
                <a:solidFill>
                  <a:srgbClr val="DDE6EC"/>
                </a:solidFill>
                <a:latin typeface="Arial" pitchFamily="34" charset="0"/>
                <a:ea typeface="Arial" pitchFamily="34" charset="-122"/>
                <a:cs typeface="Arial" pitchFamily="34" charset="-120"/>
              </a:rPr>
              <a:t>NO PHONE NUMBERS IN THE OFFICER VIEW</a:t>
            </a:r>
            <a:endParaRPr lang="en-US" sz="700" dirty="0"/>
          </a:p>
        </p:txBody>
      </p:sp>
      <p:sp>
        <p:nvSpPr>
          <p:cNvPr id="20" name="Text 16"/>
          <p:cNvSpPr txBox="1"/>
          <p:nvPr/>
        </p:nvSpPr>
        <p:spPr>
          <a:xfrm>
            <a:off x="868680" y="2514600"/>
            <a:ext cx="1143000" cy="274320"/>
          </a:xfrm>
          <a:prstGeom prst="rect">
            <a:avLst/>
          </a:prstGeom>
          <a:noFill/>
          <a:ln/>
        </p:spPr>
        <p:txBody>
          <a:bodyPr wrap="square" lIns="0" tIns="0" rIns="0" bIns="0" rtlCol="0" anchor="t">
            <a:normAutofit/>
          </a:bodyPr>
          <a:lstStyle/>
          <a:p>
            <a:pPr indent="0" marL="0">
              <a:buNone/>
            </a:pPr>
            <a:r>
              <a:rPr lang="en-US" sz="1050" b="1" dirty="0">
                <a:solidFill>
                  <a:srgbClr val="1B3149"/>
                </a:solidFill>
                <a:latin typeface="Arial" pitchFamily="34" charset="0"/>
                <a:ea typeface="Arial" pitchFamily="34" charset="-122"/>
                <a:cs typeface="Arial" pitchFamily="34" charset="-120"/>
              </a:rPr>
              <a:t>Citizen ID</a:t>
            </a:r>
            <a:endParaRPr lang="en-US" sz="1050" dirty="0"/>
          </a:p>
        </p:txBody>
      </p:sp>
      <p:sp>
        <p:nvSpPr>
          <p:cNvPr id="21" name="Text 17"/>
          <p:cNvSpPr txBox="1"/>
          <p:nvPr/>
        </p:nvSpPr>
        <p:spPr>
          <a:xfrm>
            <a:off x="2057400" y="2468880"/>
            <a:ext cx="3611880" cy="457200"/>
          </a:xfrm>
          <a:prstGeom prst="rect">
            <a:avLst/>
          </a:prstGeom>
          <a:noFill/>
          <a:ln/>
        </p:spPr>
        <p:txBody>
          <a:bodyPr wrap="square" lIns="0" tIns="0" rIns="0" bIns="0" rtlCol="0" anchor="t">
            <a:normAutofit/>
          </a:bodyPr>
          <a:lstStyle/>
          <a:p>
            <a:pPr indent="0" marL="0">
              <a:buNone/>
            </a:pPr>
            <a:r>
              <a:rPr lang="en-US" sz="1100" dirty="0">
                <a:solidFill>
                  <a:srgbClr val="1B3149"/>
                </a:solidFill>
                <a:latin typeface="Arial" pitchFamily="34" charset="0"/>
                <a:ea typeface="Arial" pitchFamily="34" charset="-122"/>
                <a:cs typeface="Arial" pitchFamily="34" charset="-120"/>
              </a:rPr>
              <a:t>Phone and chat IDs stored only as a salted hash.</a:t>
            </a:r>
            <a:endParaRPr lang="en-US" sz="1100" dirty="0"/>
          </a:p>
        </p:txBody>
      </p:sp>
      <p:sp>
        <p:nvSpPr>
          <p:cNvPr id="22" name="Text 18"/>
          <p:cNvSpPr txBox="1"/>
          <p:nvPr/>
        </p:nvSpPr>
        <p:spPr>
          <a:xfrm>
            <a:off x="868680" y="3017520"/>
            <a:ext cx="1143000" cy="274320"/>
          </a:xfrm>
          <a:prstGeom prst="rect">
            <a:avLst/>
          </a:prstGeom>
          <a:noFill/>
          <a:ln/>
        </p:spPr>
        <p:txBody>
          <a:bodyPr wrap="square" lIns="0" tIns="0" rIns="0" bIns="0" rtlCol="0" anchor="t">
            <a:normAutofit/>
          </a:bodyPr>
          <a:lstStyle/>
          <a:p>
            <a:pPr indent="0" marL="0">
              <a:buNone/>
            </a:pPr>
            <a:r>
              <a:rPr lang="en-US" sz="1050" b="1" dirty="0">
                <a:solidFill>
                  <a:srgbClr val="1B3149"/>
                </a:solidFill>
                <a:latin typeface="Arial" pitchFamily="34" charset="0"/>
                <a:ea typeface="Arial" pitchFamily="34" charset="-122"/>
                <a:cs typeface="Arial" pitchFamily="34" charset="-120"/>
              </a:rPr>
              <a:t>Correction</a:t>
            </a:r>
            <a:endParaRPr lang="en-US" sz="1050" dirty="0"/>
          </a:p>
        </p:txBody>
      </p:sp>
      <p:sp>
        <p:nvSpPr>
          <p:cNvPr id="23" name="Text 19"/>
          <p:cNvSpPr txBox="1"/>
          <p:nvPr/>
        </p:nvSpPr>
        <p:spPr>
          <a:xfrm>
            <a:off x="2057400" y="2971800"/>
            <a:ext cx="3611880" cy="457200"/>
          </a:xfrm>
          <a:prstGeom prst="rect">
            <a:avLst/>
          </a:prstGeom>
          <a:noFill/>
          <a:ln/>
        </p:spPr>
        <p:txBody>
          <a:bodyPr wrap="square" lIns="0" tIns="0" rIns="0" bIns="0" rtlCol="0" anchor="t">
            <a:normAutofit/>
          </a:bodyPr>
          <a:lstStyle/>
          <a:p>
            <a:pPr indent="0" marL="0">
              <a:buNone/>
            </a:pPr>
            <a:r>
              <a:rPr lang="en-US" sz="1100" dirty="0">
                <a:solidFill>
                  <a:srgbClr val="1B3149"/>
                </a:solidFill>
                <a:latin typeface="Arial" pitchFamily="34" charset="0"/>
                <a:ea typeface="Arial" pitchFamily="34" charset="-122"/>
                <a:cs typeface="Arial" pitchFamily="34" charset="-120"/>
              </a:rPr>
              <a:t>Citizen confirms or corrects category and place first.</a:t>
            </a:r>
            <a:endParaRPr lang="en-US" sz="1100" dirty="0"/>
          </a:p>
        </p:txBody>
      </p:sp>
      <p:sp>
        <p:nvSpPr>
          <p:cNvPr id="24" name="Shape 20"/>
          <p:cNvSpPr/>
          <p:nvPr/>
        </p:nvSpPr>
        <p:spPr>
          <a:xfrm>
            <a:off x="621792" y="3840480"/>
            <a:ext cx="5230368" cy="1709928"/>
          </a:xfrm>
          <a:prstGeom prst="roundRect">
            <a:avLst>
              <a:gd name="adj" fmla="val 4278"/>
            </a:avLst>
          </a:prstGeom>
          <a:solidFill>
            <a:srgbClr val="FBE6DE"/>
          </a:solidFill>
          <a:ln w="9525">
            <a:solidFill>
              <a:srgbClr val="E8694A"/>
            </a:solidFill>
            <a:prstDash val="solid"/>
          </a:ln>
        </p:spPr>
      </p:sp>
      <p:sp>
        <p:nvSpPr>
          <p:cNvPr id="25" name="Shape 21"/>
          <p:cNvSpPr/>
          <p:nvPr/>
        </p:nvSpPr>
        <p:spPr>
          <a:xfrm>
            <a:off x="868680" y="4087368"/>
            <a:ext cx="1463040" cy="310896"/>
          </a:xfrm>
          <a:prstGeom prst="roundRect">
            <a:avLst>
              <a:gd name="adj" fmla="val 23529"/>
            </a:avLst>
          </a:prstGeom>
          <a:solidFill>
            <a:srgbClr val="E8694A"/>
          </a:solidFill>
          <a:ln/>
        </p:spPr>
      </p:sp>
      <p:sp>
        <p:nvSpPr>
          <p:cNvPr id="26" name="Text 22"/>
          <p:cNvSpPr txBox="1"/>
          <p:nvPr/>
        </p:nvSpPr>
        <p:spPr>
          <a:xfrm>
            <a:off x="868680" y="4087368"/>
            <a:ext cx="1463040" cy="310896"/>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DO NOT COLLECT / DO</a:t>
            </a:r>
            <a:endParaRPr lang="en-US" sz="700" dirty="0"/>
          </a:p>
        </p:txBody>
      </p:sp>
      <p:sp>
        <p:nvSpPr>
          <p:cNvPr id="27" name="Shape 23"/>
          <p:cNvSpPr/>
          <p:nvPr/>
        </p:nvSpPr>
        <p:spPr>
          <a:xfrm>
            <a:off x="914400" y="4617720"/>
            <a:ext cx="118872" cy="118872"/>
          </a:xfrm>
          <a:prstGeom prst="ellipse">
            <a:avLst/>
          </a:prstGeom>
          <a:solidFill>
            <a:srgbClr val="E8694A"/>
          </a:solidFill>
          <a:ln/>
        </p:spPr>
      </p:sp>
      <p:sp>
        <p:nvSpPr>
          <p:cNvPr id="28" name="Text 24"/>
          <p:cNvSpPr txBox="1"/>
          <p:nvPr/>
        </p:nvSpPr>
        <p:spPr>
          <a:xfrm>
            <a:off x="1170432" y="4572000"/>
            <a:ext cx="4526280" cy="237744"/>
          </a:xfrm>
          <a:prstGeom prst="rect">
            <a:avLst/>
          </a:prstGeom>
          <a:noFill/>
          <a:ln/>
        </p:spPr>
        <p:txBody>
          <a:bodyPr wrap="square" lIns="0" tIns="0" rIns="0" bIns="0" rtlCol="0" anchor="t">
            <a:normAutofit/>
          </a:bodyPr>
          <a:lstStyle/>
          <a:p>
            <a:pPr indent="0" marL="0">
              <a:buNone/>
            </a:pPr>
            <a:r>
              <a:rPr lang="en-US" sz="1050" b="1" dirty="0">
                <a:solidFill>
                  <a:srgbClr val="1B3149"/>
                </a:solidFill>
                <a:latin typeface="Arial" pitchFamily="34" charset="0"/>
                <a:ea typeface="Arial" pitchFamily="34" charset="-122"/>
                <a:cs typeface="Arial" pitchFamily="34" charset="-120"/>
              </a:rPr>
              <a:t>Aadhaar or identity verification</a:t>
            </a:r>
            <a:endParaRPr lang="en-US" sz="1050" dirty="0"/>
          </a:p>
        </p:txBody>
      </p:sp>
      <p:sp>
        <p:nvSpPr>
          <p:cNvPr id="29" name="Shape 25"/>
          <p:cNvSpPr/>
          <p:nvPr/>
        </p:nvSpPr>
        <p:spPr>
          <a:xfrm>
            <a:off x="914400" y="4919472"/>
            <a:ext cx="118872" cy="118872"/>
          </a:xfrm>
          <a:prstGeom prst="ellipse">
            <a:avLst/>
          </a:prstGeom>
          <a:solidFill>
            <a:srgbClr val="E8694A"/>
          </a:solidFill>
          <a:ln/>
        </p:spPr>
      </p:sp>
      <p:sp>
        <p:nvSpPr>
          <p:cNvPr id="30" name="Text 26"/>
          <p:cNvSpPr txBox="1"/>
          <p:nvPr/>
        </p:nvSpPr>
        <p:spPr>
          <a:xfrm>
            <a:off x="1170432" y="4873752"/>
            <a:ext cx="4526280" cy="237744"/>
          </a:xfrm>
          <a:prstGeom prst="rect">
            <a:avLst/>
          </a:prstGeom>
          <a:noFill/>
          <a:ln/>
        </p:spPr>
        <p:txBody>
          <a:bodyPr wrap="square" lIns="0" tIns="0" rIns="0" bIns="0" rtlCol="0" anchor="t">
            <a:normAutofit/>
          </a:bodyPr>
          <a:lstStyle/>
          <a:p>
            <a:pPr indent="0" marL="0">
              <a:buNone/>
            </a:pPr>
            <a:r>
              <a:rPr lang="en-US" sz="1050" b="1" dirty="0">
                <a:solidFill>
                  <a:srgbClr val="1B3149"/>
                </a:solidFill>
                <a:latin typeface="Arial" pitchFamily="34" charset="0"/>
                <a:ea typeface="Arial" pitchFamily="34" charset="-122"/>
                <a:cs typeface="Arial" pitchFamily="34" charset="-120"/>
              </a:rPr>
              <a:t>Automated sanction or budget release</a:t>
            </a:r>
            <a:endParaRPr lang="en-US" sz="1050" dirty="0"/>
          </a:p>
        </p:txBody>
      </p:sp>
      <p:sp>
        <p:nvSpPr>
          <p:cNvPr id="31" name="Shape 27"/>
          <p:cNvSpPr/>
          <p:nvPr/>
        </p:nvSpPr>
        <p:spPr>
          <a:xfrm>
            <a:off x="914400" y="5221224"/>
            <a:ext cx="118872" cy="118872"/>
          </a:xfrm>
          <a:prstGeom prst="ellipse">
            <a:avLst/>
          </a:prstGeom>
          <a:solidFill>
            <a:srgbClr val="E8694A"/>
          </a:solidFill>
          <a:ln/>
        </p:spPr>
      </p:sp>
      <p:sp>
        <p:nvSpPr>
          <p:cNvPr id="32" name="Text 28"/>
          <p:cNvSpPr txBox="1"/>
          <p:nvPr/>
        </p:nvSpPr>
        <p:spPr>
          <a:xfrm>
            <a:off x="1170432" y="5175504"/>
            <a:ext cx="4526280" cy="237744"/>
          </a:xfrm>
          <a:prstGeom prst="rect">
            <a:avLst/>
          </a:prstGeom>
          <a:noFill/>
          <a:ln/>
        </p:spPr>
        <p:txBody>
          <a:bodyPr wrap="square" lIns="0" tIns="0" rIns="0" bIns="0" rtlCol="0" anchor="t">
            <a:normAutofit/>
          </a:bodyPr>
          <a:lstStyle/>
          <a:p>
            <a:pPr indent="0" marL="0">
              <a:buNone/>
            </a:pPr>
            <a:r>
              <a:rPr lang="en-US" sz="1050" b="1" dirty="0">
                <a:solidFill>
                  <a:srgbClr val="1B3149"/>
                </a:solidFill>
                <a:latin typeface="Arial" pitchFamily="34" charset="0"/>
                <a:ea typeface="Arial" pitchFamily="34" charset="-122"/>
                <a:cs typeface="Arial" pitchFamily="34" charset="-120"/>
              </a:rPr>
              <a:t>Numbers the citizen did not say (removed)</a:t>
            </a:r>
            <a:endParaRPr lang="en-US" sz="1050" dirty="0"/>
          </a:p>
        </p:txBody>
      </p:sp>
      <p:sp>
        <p:nvSpPr>
          <p:cNvPr id="33" name="Shape 29"/>
          <p:cNvSpPr/>
          <p:nvPr/>
        </p:nvSpPr>
        <p:spPr>
          <a:xfrm>
            <a:off x="6153912" y="1700784"/>
            <a:ext cx="5422392" cy="3849624"/>
          </a:xfrm>
          <a:prstGeom prst="roundRect">
            <a:avLst>
              <a:gd name="adj" fmla="val 1900"/>
            </a:avLst>
          </a:prstGeom>
          <a:solidFill>
            <a:srgbClr val="1B3149"/>
          </a:solidFill>
          <a:ln/>
        </p:spPr>
      </p:sp>
      <p:sp>
        <p:nvSpPr>
          <p:cNvPr id="34" name="Text 30"/>
          <p:cNvSpPr txBox="1"/>
          <p:nvPr/>
        </p:nvSpPr>
        <p:spPr>
          <a:xfrm>
            <a:off x="6464808" y="1938528"/>
            <a:ext cx="4572000" cy="274320"/>
          </a:xfrm>
          <a:prstGeom prst="rect">
            <a:avLst/>
          </a:prstGeom>
          <a:noFill/>
          <a:ln/>
        </p:spPr>
        <p:txBody>
          <a:bodyPr wrap="square" lIns="0" tIns="0" rIns="0" bIns="0" rtlCol="0" anchor="t">
            <a:normAutofit/>
          </a:bodyPr>
          <a:lstStyle/>
          <a:p>
            <a:pPr indent="0" marL="0">
              <a:buNone/>
            </a:pPr>
            <a:r>
              <a:rPr lang="en-US" sz="1500" b="1" dirty="0">
                <a:solidFill>
                  <a:srgbClr val="FFFFFF"/>
                </a:solidFill>
                <a:latin typeface="Arial" pitchFamily="34" charset="0"/>
                <a:ea typeface="Arial" pitchFamily="34" charset="-122"/>
                <a:cs typeface="Arial" pitchFamily="34" charset="-120"/>
              </a:rPr>
              <a:t>SAFETY BY DESIGN</a:t>
            </a:r>
            <a:endParaRPr lang="en-US" sz="1500" dirty="0"/>
          </a:p>
        </p:txBody>
      </p:sp>
      <p:sp>
        <p:nvSpPr>
          <p:cNvPr id="35" name="Text 31"/>
          <p:cNvSpPr txBox="1"/>
          <p:nvPr/>
        </p:nvSpPr>
        <p:spPr>
          <a:xfrm>
            <a:off x="6464808" y="2514600"/>
            <a:ext cx="1463040" cy="274320"/>
          </a:xfrm>
          <a:prstGeom prst="rect">
            <a:avLst/>
          </a:prstGeom>
          <a:noFill/>
          <a:ln/>
        </p:spPr>
        <p:txBody>
          <a:bodyPr wrap="square" lIns="0" tIns="0" rIns="0" bIns="0" rtlCol="0" anchor="t">
            <a:normAutofit/>
          </a:bodyPr>
          <a:lstStyle/>
          <a:p>
            <a:pPr indent="0" marL="0">
              <a:buNone/>
            </a:pPr>
            <a:r>
              <a:rPr lang="en-US" sz="750" b="1" dirty="0">
                <a:solidFill>
                  <a:srgbClr val="F3CB7A"/>
                </a:solidFill>
                <a:latin typeface="Arial" pitchFamily="34" charset="0"/>
                <a:ea typeface="Arial" pitchFamily="34" charset="-122"/>
                <a:cs typeface="Arial" pitchFamily="34" charset="-120"/>
              </a:rPr>
              <a:t>NO INVENTED FACTS</a:t>
            </a:r>
            <a:endParaRPr lang="en-US" sz="750" dirty="0"/>
          </a:p>
        </p:txBody>
      </p:sp>
      <p:sp>
        <p:nvSpPr>
          <p:cNvPr id="36" name="Text 32"/>
          <p:cNvSpPr txBox="1"/>
          <p:nvPr/>
        </p:nvSpPr>
        <p:spPr>
          <a:xfrm>
            <a:off x="7918704" y="2487168"/>
            <a:ext cx="3474720" cy="42062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Every brief number is checked against the input data.</a:t>
            </a:r>
            <a:endParaRPr lang="en-US" sz="950" dirty="0"/>
          </a:p>
        </p:txBody>
      </p:sp>
      <p:sp>
        <p:nvSpPr>
          <p:cNvPr id="37" name="Text 33"/>
          <p:cNvSpPr txBox="1"/>
          <p:nvPr/>
        </p:nvSpPr>
        <p:spPr>
          <a:xfrm>
            <a:off x="6464808" y="3008376"/>
            <a:ext cx="1463040" cy="274320"/>
          </a:xfrm>
          <a:prstGeom prst="rect">
            <a:avLst/>
          </a:prstGeom>
          <a:noFill/>
          <a:ln/>
        </p:spPr>
        <p:txBody>
          <a:bodyPr wrap="square" lIns="0" tIns="0" rIns="0" bIns="0" rtlCol="0" anchor="t">
            <a:normAutofit/>
          </a:bodyPr>
          <a:lstStyle/>
          <a:p>
            <a:pPr indent="0" marL="0">
              <a:buNone/>
            </a:pPr>
            <a:r>
              <a:rPr lang="en-US" sz="750" b="1" dirty="0">
                <a:solidFill>
                  <a:srgbClr val="F3CB7A"/>
                </a:solidFill>
                <a:latin typeface="Arial" pitchFamily="34" charset="0"/>
                <a:ea typeface="Arial" pitchFamily="34" charset="-122"/>
                <a:cs typeface="Arial" pitchFamily="34" charset="-120"/>
              </a:rPr>
              <a:t>SCORE IS NOT AI</a:t>
            </a:r>
            <a:endParaRPr lang="en-US" sz="750" dirty="0"/>
          </a:p>
        </p:txBody>
      </p:sp>
      <p:sp>
        <p:nvSpPr>
          <p:cNvPr id="38" name="Text 34"/>
          <p:cNvSpPr txBox="1"/>
          <p:nvPr/>
        </p:nvSpPr>
        <p:spPr>
          <a:xfrm>
            <a:off x="7918704" y="2980944"/>
            <a:ext cx="3474720" cy="42062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Deterministic formula; AI text cannot change the rank.</a:t>
            </a:r>
            <a:endParaRPr lang="en-US" sz="950" dirty="0"/>
          </a:p>
        </p:txBody>
      </p:sp>
      <p:sp>
        <p:nvSpPr>
          <p:cNvPr id="39" name="Text 35"/>
          <p:cNvSpPr txBox="1"/>
          <p:nvPr/>
        </p:nvSpPr>
        <p:spPr>
          <a:xfrm>
            <a:off x="6464808" y="3502152"/>
            <a:ext cx="1463040" cy="274320"/>
          </a:xfrm>
          <a:prstGeom prst="rect">
            <a:avLst/>
          </a:prstGeom>
          <a:noFill/>
          <a:ln/>
        </p:spPr>
        <p:txBody>
          <a:bodyPr wrap="square" lIns="0" tIns="0" rIns="0" bIns="0" rtlCol="0" anchor="t">
            <a:normAutofit/>
          </a:bodyPr>
          <a:lstStyle/>
          <a:p>
            <a:pPr indent="0" marL="0">
              <a:buNone/>
            </a:pPr>
            <a:r>
              <a:rPr lang="en-US" sz="750" b="1" dirty="0">
                <a:solidFill>
                  <a:srgbClr val="F3CB7A"/>
                </a:solidFill>
                <a:latin typeface="Arial" pitchFamily="34" charset="0"/>
                <a:ea typeface="Arial" pitchFamily="34" charset="-122"/>
                <a:cs typeface="Arial" pitchFamily="34" charset="-120"/>
              </a:rPr>
              <a:t>HUMAN DECISION</a:t>
            </a:r>
            <a:endParaRPr lang="en-US" sz="750" dirty="0"/>
          </a:p>
        </p:txBody>
      </p:sp>
      <p:sp>
        <p:nvSpPr>
          <p:cNvPr id="40" name="Text 36"/>
          <p:cNvSpPr txBox="1"/>
          <p:nvPr/>
        </p:nvSpPr>
        <p:spPr>
          <a:xfrm>
            <a:off x="7918704" y="3474720"/>
            <a:ext cx="3474720" cy="42062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Approve, defer or reject; nothing is sanctioned automatically.</a:t>
            </a:r>
            <a:endParaRPr lang="en-US" sz="950" dirty="0"/>
          </a:p>
        </p:txBody>
      </p:sp>
      <p:sp>
        <p:nvSpPr>
          <p:cNvPr id="41" name="Text 37"/>
          <p:cNvSpPr txBox="1"/>
          <p:nvPr/>
        </p:nvSpPr>
        <p:spPr>
          <a:xfrm>
            <a:off x="6464808" y="3995928"/>
            <a:ext cx="1463040" cy="274320"/>
          </a:xfrm>
          <a:prstGeom prst="rect">
            <a:avLst/>
          </a:prstGeom>
          <a:noFill/>
          <a:ln/>
        </p:spPr>
        <p:txBody>
          <a:bodyPr wrap="square" lIns="0" tIns="0" rIns="0" bIns="0" rtlCol="0" anchor="t">
            <a:normAutofit/>
          </a:bodyPr>
          <a:lstStyle/>
          <a:p>
            <a:pPr indent="0" marL="0">
              <a:buNone/>
            </a:pPr>
            <a:r>
              <a:rPr lang="en-US" sz="750" b="1" dirty="0">
                <a:solidFill>
                  <a:srgbClr val="9ED8CC"/>
                </a:solidFill>
                <a:latin typeface="Arial" pitchFamily="34" charset="0"/>
                <a:ea typeface="Arial" pitchFamily="34" charset="-122"/>
                <a:cs typeface="Arial" pitchFamily="34" charset="-120"/>
              </a:rPr>
              <a:t>FAIRNESS</a:t>
            </a:r>
            <a:endParaRPr lang="en-US" sz="750" dirty="0"/>
          </a:p>
        </p:txBody>
      </p:sp>
      <p:sp>
        <p:nvSpPr>
          <p:cNvPr id="42" name="Text 38"/>
          <p:cNvSpPr txBox="1"/>
          <p:nvPr/>
        </p:nvSpPr>
        <p:spPr>
          <a:xfrm>
            <a:off x="7918704" y="3968496"/>
            <a:ext cx="3474720" cy="42062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Unique citizens per 10k people; repeats never inflate demand.</a:t>
            </a:r>
            <a:endParaRPr lang="en-US" sz="950" dirty="0"/>
          </a:p>
        </p:txBody>
      </p:sp>
      <p:sp>
        <p:nvSpPr>
          <p:cNvPr id="43" name="Text 39"/>
          <p:cNvSpPr txBox="1"/>
          <p:nvPr/>
        </p:nvSpPr>
        <p:spPr>
          <a:xfrm>
            <a:off x="6464808" y="4489704"/>
            <a:ext cx="1463040" cy="274320"/>
          </a:xfrm>
          <a:prstGeom prst="rect">
            <a:avLst/>
          </a:prstGeom>
          <a:noFill/>
          <a:ln/>
        </p:spPr>
        <p:txBody>
          <a:bodyPr wrap="square" lIns="0" tIns="0" rIns="0" bIns="0" rtlCol="0" anchor="t">
            <a:normAutofit/>
          </a:bodyPr>
          <a:lstStyle/>
          <a:p>
            <a:pPr indent="0" marL="0">
              <a:buNone/>
            </a:pPr>
            <a:r>
              <a:rPr lang="en-US" sz="750" b="1" dirty="0">
                <a:solidFill>
                  <a:srgbClr val="9ED8CC"/>
                </a:solidFill>
                <a:latin typeface="Arial" pitchFamily="34" charset="0"/>
                <a:ea typeface="Arial" pitchFamily="34" charset="-122"/>
                <a:cs typeface="Arial" pitchFamily="34" charset="-120"/>
              </a:rPr>
              <a:t>PROVENANCE</a:t>
            </a:r>
            <a:endParaRPr lang="en-US" sz="750" dirty="0"/>
          </a:p>
        </p:txBody>
      </p:sp>
      <p:sp>
        <p:nvSpPr>
          <p:cNvPr id="44" name="Text 40"/>
          <p:cNvSpPr txBox="1"/>
          <p:nvPr/>
        </p:nvSpPr>
        <p:spPr>
          <a:xfrm>
            <a:off x="7918704" y="4462272"/>
            <a:ext cx="3474720" cy="42062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model_name, model_version, prompt_version on every AI record.</a:t>
            </a:r>
            <a:endParaRPr lang="en-US" sz="950" dirty="0"/>
          </a:p>
        </p:txBody>
      </p:sp>
      <p:sp>
        <p:nvSpPr>
          <p:cNvPr id="45" name="Text 41"/>
          <p:cNvSpPr txBox="1"/>
          <p:nvPr/>
        </p:nvSpPr>
        <p:spPr>
          <a:xfrm>
            <a:off x="6464808" y="4983480"/>
            <a:ext cx="1463040" cy="274320"/>
          </a:xfrm>
          <a:prstGeom prst="rect">
            <a:avLst/>
          </a:prstGeom>
          <a:noFill/>
          <a:ln/>
        </p:spPr>
        <p:txBody>
          <a:bodyPr wrap="square" lIns="0" tIns="0" rIns="0" bIns="0" rtlCol="0" anchor="t">
            <a:normAutofit/>
          </a:bodyPr>
          <a:lstStyle/>
          <a:p>
            <a:pPr indent="0" marL="0">
              <a:buNone/>
            </a:pPr>
            <a:r>
              <a:rPr lang="en-US" sz="750" b="1" dirty="0">
                <a:solidFill>
                  <a:srgbClr val="9ED8CC"/>
                </a:solidFill>
                <a:latin typeface="Arial" pitchFamily="34" charset="0"/>
                <a:ea typeface="Arial" pitchFamily="34" charset="-122"/>
                <a:cs typeface="Arial" pitchFamily="34" charset="-120"/>
              </a:rPr>
              <a:t>CONSENT</a:t>
            </a:r>
            <a:endParaRPr lang="en-US" sz="750" dirty="0"/>
          </a:p>
        </p:txBody>
      </p:sp>
      <p:sp>
        <p:nvSpPr>
          <p:cNvPr id="46" name="Text 42"/>
          <p:cNvSpPr txBox="1"/>
          <p:nvPr/>
        </p:nvSpPr>
        <p:spPr>
          <a:xfrm>
            <a:off x="7918704" y="4956048"/>
            <a:ext cx="3474720" cy="420624"/>
          </a:xfrm>
          <a:prstGeom prst="rect">
            <a:avLst/>
          </a:prstGeom>
          <a:noFill/>
          <a:ln/>
        </p:spPr>
        <p:txBody>
          <a:bodyPr wrap="square" lIns="0" tIns="0" rIns="0" bIns="0" rtlCol="0" anchor="t">
            <a:normAutofit/>
          </a:bodyPr>
          <a:lstStyle/>
          <a:p>
            <a:pPr indent="0" marL="0">
              <a:buNone/>
            </a:pPr>
            <a:r>
              <a:rPr lang="en-US" sz="950" dirty="0">
                <a:solidFill>
                  <a:srgbClr val="FFFFFF"/>
                </a:solidFill>
                <a:latin typeface="Arial" pitchFamily="34" charset="0"/>
                <a:ea typeface="Arial" pitchFamily="34" charset="-122"/>
                <a:cs typeface="Arial" pitchFamily="34" charset="-120"/>
              </a:rPr>
              <a:t>Record consent at first contact (DPDP Act 2023): pilot requirement.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09 — OUTCOMES, VALIDATION &amp; SCALE</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civic-demand-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Prove adoption in one district before scaling.</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The first proof is not app usage; it is recommendations that officers adopt into real plans.</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Current evidence: 100% category accuracy on 39 live Gemini calls (EN/HI/TE, synthetic text), a sanity check, not a field result [1]. [6] NITI Aayog ADP.</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JANVAANI</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10</a:t>
            </a:r>
            <a:endParaRPr lang="en-US" sz="650" dirty="0"/>
          </a:p>
        </p:txBody>
      </p:sp>
      <p:sp>
        <p:nvSpPr>
          <p:cNvPr id="15" name="Shape 11"/>
          <p:cNvSpPr/>
          <p:nvPr/>
        </p:nvSpPr>
        <p:spPr>
          <a:xfrm>
            <a:off x="621792" y="1737360"/>
            <a:ext cx="1673352" cy="1463040"/>
          </a:xfrm>
          <a:prstGeom prst="roundRect">
            <a:avLst>
              <a:gd name="adj" fmla="val 6250"/>
            </a:avLst>
          </a:prstGeom>
          <a:solidFill>
            <a:srgbClr val="FFFDF7"/>
          </a:solidFill>
          <a:ln w="9525">
            <a:solidFill>
              <a:srgbClr val="DCD5C5"/>
            </a:solidFill>
            <a:prstDash val="solid"/>
          </a:ln>
        </p:spPr>
      </p:sp>
      <p:sp>
        <p:nvSpPr>
          <p:cNvPr id="16" name="Text 12"/>
          <p:cNvSpPr txBox="1"/>
          <p:nvPr/>
        </p:nvSpPr>
        <p:spPr>
          <a:xfrm>
            <a:off x="758952" y="1956816"/>
            <a:ext cx="457200" cy="137160"/>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01</a:t>
            </a:r>
            <a:endParaRPr lang="en-US" sz="750" dirty="0"/>
          </a:p>
        </p:txBody>
      </p:sp>
      <p:sp>
        <p:nvSpPr>
          <p:cNvPr id="17" name="Text 13"/>
          <p:cNvSpPr txBox="1"/>
          <p:nvPr/>
        </p:nvSpPr>
        <p:spPr>
          <a:xfrm>
            <a:off x="694944" y="2313432"/>
            <a:ext cx="1527048" cy="228600"/>
          </a:xfrm>
          <a:prstGeom prst="rect">
            <a:avLst/>
          </a:prstGeom>
          <a:noFill/>
          <a:ln/>
        </p:spPr>
        <p:txBody>
          <a:bodyPr wrap="square" lIns="0" tIns="0" rIns="0" bIns="0" rtlCol="0" anchor="t">
            <a:normAutofit/>
          </a:bodyPr>
          <a:lstStyle/>
          <a:p>
            <a:pPr algn="ctr" indent="0" marL="0">
              <a:buNone/>
            </a:pPr>
            <a:r>
              <a:rPr lang="en-US" sz="1050" b="1" dirty="0">
                <a:solidFill>
                  <a:srgbClr val="1B3149"/>
                </a:solidFill>
                <a:latin typeface="Arial" pitchFamily="34" charset="0"/>
                <a:ea typeface="Arial" pitchFamily="34" charset="-122"/>
                <a:cs typeface="Arial" pitchFamily="34" charset="-120"/>
              </a:rPr>
              <a:t>HEARD</a:t>
            </a:r>
            <a:endParaRPr lang="en-US" sz="1050" dirty="0"/>
          </a:p>
        </p:txBody>
      </p:sp>
      <p:sp>
        <p:nvSpPr>
          <p:cNvPr id="18" name="Text 14"/>
          <p:cNvSpPr txBox="1"/>
          <p:nvPr/>
        </p:nvSpPr>
        <p:spPr>
          <a:xfrm>
            <a:off x="713232" y="2697480"/>
            <a:ext cx="1490472" cy="411480"/>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Requests captured in 3 languages</a:t>
            </a:r>
            <a:endParaRPr lang="en-US" sz="850" dirty="0"/>
          </a:p>
        </p:txBody>
      </p:sp>
      <p:sp>
        <p:nvSpPr>
          <p:cNvPr id="19" name="Text 15"/>
          <p:cNvSpPr txBox="1"/>
          <p:nvPr/>
        </p:nvSpPr>
        <p:spPr>
          <a:xfrm>
            <a:off x="2295144" y="2286000"/>
            <a:ext cx="246888" cy="274320"/>
          </a:xfrm>
          <a:prstGeom prst="rect">
            <a:avLst/>
          </a:prstGeom>
          <a:noFill/>
          <a:ln/>
        </p:spPr>
        <p:txBody>
          <a:bodyPr wrap="square" lIns="0" tIns="0" rIns="0" bIns="0" rtlCol="0" anchor="t"/>
          <a:lstStyle/>
          <a:p>
            <a:pPr algn="ctr" indent="0" marL="0">
              <a:buNone/>
            </a:pPr>
            <a:r>
              <a:rPr lang="en-US" sz="1400" b="1" dirty="0">
                <a:solidFill>
                  <a:srgbClr val="E8694A"/>
                </a:solidFill>
                <a:latin typeface="Arial" pitchFamily="34" charset="0"/>
                <a:ea typeface="Arial" pitchFamily="34" charset="-122"/>
                <a:cs typeface="Arial" pitchFamily="34" charset="-120"/>
              </a:rPr>
              <a:t>›</a:t>
            </a:r>
            <a:endParaRPr lang="en-US" sz="1400" dirty="0"/>
          </a:p>
        </p:txBody>
      </p:sp>
      <p:sp>
        <p:nvSpPr>
          <p:cNvPr id="20" name="Shape 16"/>
          <p:cNvSpPr/>
          <p:nvPr/>
        </p:nvSpPr>
        <p:spPr>
          <a:xfrm>
            <a:off x="2542032" y="1737360"/>
            <a:ext cx="1673352" cy="1463040"/>
          </a:xfrm>
          <a:prstGeom prst="roundRect">
            <a:avLst>
              <a:gd name="adj" fmla="val 6250"/>
            </a:avLst>
          </a:prstGeom>
          <a:solidFill>
            <a:srgbClr val="FFFDF7"/>
          </a:solidFill>
          <a:ln w="9525">
            <a:solidFill>
              <a:srgbClr val="DCD5C5"/>
            </a:solidFill>
            <a:prstDash val="solid"/>
          </a:ln>
        </p:spPr>
      </p:sp>
      <p:sp>
        <p:nvSpPr>
          <p:cNvPr id="21" name="Text 17"/>
          <p:cNvSpPr txBox="1"/>
          <p:nvPr/>
        </p:nvSpPr>
        <p:spPr>
          <a:xfrm>
            <a:off x="2679192" y="1956816"/>
            <a:ext cx="457200" cy="137160"/>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02</a:t>
            </a:r>
            <a:endParaRPr lang="en-US" sz="750" dirty="0"/>
          </a:p>
        </p:txBody>
      </p:sp>
      <p:sp>
        <p:nvSpPr>
          <p:cNvPr id="22" name="Text 18"/>
          <p:cNvSpPr txBox="1"/>
          <p:nvPr/>
        </p:nvSpPr>
        <p:spPr>
          <a:xfrm>
            <a:off x="2615184" y="2313432"/>
            <a:ext cx="1527048" cy="228600"/>
          </a:xfrm>
          <a:prstGeom prst="rect">
            <a:avLst/>
          </a:prstGeom>
          <a:noFill/>
          <a:ln/>
        </p:spPr>
        <p:txBody>
          <a:bodyPr wrap="square" lIns="0" tIns="0" rIns="0" bIns="0" rtlCol="0" anchor="t">
            <a:normAutofit/>
          </a:bodyPr>
          <a:lstStyle/>
          <a:p>
            <a:pPr algn="ctr" indent="0" marL="0">
              <a:buNone/>
            </a:pPr>
            <a:r>
              <a:rPr lang="en-US" sz="1050" b="1" dirty="0">
                <a:solidFill>
                  <a:srgbClr val="1B3149"/>
                </a:solidFill>
                <a:latin typeface="Arial" pitchFamily="34" charset="0"/>
                <a:ea typeface="Arial" pitchFamily="34" charset="-122"/>
                <a:cs typeface="Arial" pitchFamily="34" charset="-120"/>
              </a:rPr>
              <a:t>AGGREGATED</a:t>
            </a:r>
            <a:endParaRPr lang="en-US" sz="1050" dirty="0"/>
          </a:p>
        </p:txBody>
      </p:sp>
      <p:sp>
        <p:nvSpPr>
          <p:cNvPr id="23" name="Text 19"/>
          <p:cNvSpPr txBox="1"/>
          <p:nvPr/>
        </p:nvSpPr>
        <p:spPr>
          <a:xfrm>
            <a:off x="2633472" y="2697480"/>
            <a:ext cx="1490472" cy="411480"/>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Unique-citizen clusters per LGD unit</a:t>
            </a:r>
            <a:endParaRPr lang="en-US" sz="850" dirty="0"/>
          </a:p>
        </p:txBody>
      </p:sp>
      <p:sp>
        <p:nvSpPr>
          <p:cNvPr id="24" name="Text 20"/>
          <p:cNvSpPr txBox="1"/>
          <p:nvPr/>
        </p:nvSpPr>
        <p:spPr>
          <a:xfrm>
            <a:off x="4215384" y="2286000"/>
            <a:ext cx="246888" cy="274320"/>
          </a:xfrm>
          <a:prstGeom prst="rect">
            <a:avLst/>
          </a:prstGeom>
          <a:noFill/>
          <a:ln/>
        </p:spPr>
        <p:txBody>
          <a:bodyPr wrap="square" lIns="0" tIns="0" rIns="0" bIns="0" rtlCol="0" anchor="t"/>
          <a:lstStyle/>
          <a:p>
            <a:pPr algn="ctr" indent="0" marL="0">
              <a:buNone/>
            </a:pPr>
            <a:r>
              <a:rPr lang="en-US" sz="1400" b="1" dirty="0">
                <a:solidFill>
                  <a:srgbClr val="E8694A"/>
                </a:solidFill>
                <a:latin typeface="Arial" pitchFamily="34" charset="0"/>
                <a:ea typeface="Arial" pitchFamily="34" charset="-122"/>
                <a:cs typeface="Arial" pitchFamily="34" charset="-120"/>
              </a:rPr>
              <a:t>›</a:t>
            </a:r>
            <a:endParaRPr lang="en-US" sz="1400" dirty="0"/>
          </a:p>
        </p:txBody>
      </p:sp>
      <p:sp>
        <p:nvSpPr>
          <p:cNvPr id="25" name="Shape 21"/>
          <p:cNvSpPr/>
          <p:nvPr/>
        </p:nvSpPr>
        <p:spPr>
          <a:xfrm>
            <a:off x="4462272" y="1737360"/>
            <a:ext cx="1673352" cy="1463040"/>
          </a:xfrm>
          <a:prstGeom prst="roundRect">
            <a:avLst>
              <a:gd name="adj" fmla="val 6250"/>
            </a:avLst>
          </a:prstGeom>
          <a:solidFill>
            <a:srgbClr val="DCEEE8"/>
          </a:solidFill>
          <a:ln w="9525">
            <a:solidFill>
              <a:srgbClr val="12796D"/>
            </a:solidFill>
            <a:prstDash val="solid"/>
          </a:ln>
        </p:spPr>
      </p:sp>
      <p:sp>
        <p:nvSpPr>
          <p:cNvPr id="26" name="Text 22"/>
          <p:cNvSpPr txBox="1"/>
          <p:nvPr/>
        </p:nvSpPr>
        <p:spPr>
          <a:xfrm>
            <a:off x="4599432" y="1956816"/>
            <a:ext cx="457200" cy="137160"/>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03</a:t>
            </a:r>
            <a:endParaRPr lang="en-US" sz="750" dirty="0"/>
          </a:p>
        </p:txBody>
      </p:sp>
      <p:sp>
        <p:nvSpPr>
          <p:cNvPr id="27" name="Text 23"/>
          <p:cNvSpPr txBox="1"/>
          <p:nvPr/>
        </p:nvSpPr>
        <p:spPr>
          <a:xfrm>
            <a:off x="4535424" y="2313432"/>
            <a:ext cx="1527048" cy="228600"/>
          </a:xfrm>
          <a:prstGeom prst="rect">
            <a:avLst/>
          </a:prstGeom>
          <a:noFill/>
          <a:ln/>
        </p:spPr>
        <p:txBody>
          <a:bodyPr wrap="square" lIns="0" tIns="0" rIns="0" bIns="0" rtlCol="0" anchor="t">
            <a:normAutofit/>
          </a:bodyPr>
          <a:lstStyle/>
          <a:p>
            <a:pPr algn="ctr" indent="0" marL="0">
              <a:buNone/>
            </a:pPr>
            <a:r>
              <a:rPr lang="en-US" sz="1050" b="1" dirty="0">
                <a:solidFill>
                  <a:srgbClr val="1B3149"/>
                </a:solidFill>
                <a:latin typeface="Arial" pitchFamily="34" charset="0"/>
                <a:ea typeface="Arial" pitchFamily="34" charset="-122"/>
                <a:cs typeface="Arial" pitchFamily="34" charset="-120"/>
              </a:rPr>
              <a:t>ADOPTED</a:t>
            </a:r>
            <a:endParaRPr lang="en-US" sz="1050" dirty="0"/>
          </a:p>
        </p:txBody>
      </p:sp>
      <p:sp>
        <p:nvSpPr>
          <p:cNvPr id="28" name="Text 24"/>
          <p:cNvSpPr txBox="1"/>
          <p:nvPr/>
        </p:nvSpPr>
        <p:spPr>
          <a:xfrm>
            <a:off x="4553712" y="2697480"/>
            <a:ext cx="1490472" cy="411480"/>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Recommendations enter district plans</a:t>
            </a:r>
            <a:endParaRPr lang="en-US" sz="850" dirty="0"/>
          </a:p>
        </p:txBody>
      </p:sp>
      <p:sp>
        <p:nvSpPr>
          <p:cNvPr id="29" name="Text 25"/>
          <p:cNvSpPr txBox="1"/>
          <p:nvPr/>
        </p:nvSpPr>
        <p:spPr>
          <a:xfrm>
            <a:off x="6135624" y="2286000"/>
            <a:ext cx="246888" cy="274320"/>
          </a:xfrm>
          <a:prstGeom prst="rect">
            <a:avLst/>
          </a:prstGeom>
          <a:noFill/>
          <a:ln/>
        </p:spPr>
        <p:txBody>
          <a:bodyPr wrap="square" lIns="0" tIns="0" rIns="0" bIns="0" rtlCol="0" anchor="t"/>
          <a:lstStyle/>
          <a:p>
            <a:pPr algn="ctr" indent="0" marL="0">
              <a:buNone/>
            </a:pPr>
            <a:r>
              <a:rPr lang="en-US" sz="1400" b="1" dirty="0">
                <a:solidFill>
                  <a:srgbClr val="E8694A"/>
                </a:solidFill>
                <a:latin typeface="Arial" pitchFamily="34" charset="0"/>
                <a:ea typeface="Arial" pitchFamily="34" charset="-122"/>
                <a:cs typeface="Arial" pitchFamily="34" charset="-120"/>
              </a:rPr>
              <a:t>›</a:t>
            </a:r>
            <a:endParaRPr lang="en-US" sz="1400" dirty="0"/>
          </a:p>
        </p:txBody>
      </p:sp>
      <p:sp>
        <p:nvSpPr>
          <p:cNvPr id="30" name="Shape 26"/>
          <p:cNvSpPr/>
          <p:nvPr/>
        </p:nvSpPr>
        <p:spPr>
          <a:xfrm>
            <a:off x="6382512" y="1737360"/>
            <a:ext cx="1673352" cy="1463040"/>
          </a:xfrm>
          <a:prstGeom prst="roundRect">
            <a:avLst>
              <a:gd name="adj" fmla="val 6250"/>
            </a:avLst>
          </a:prstGeom>
          <a:solidFill>
            <a:srgbClr val="FFFDF7"/>
          </a:solidFill>
          <a:ln w="9525">
            <a:solidFill>
              <a:srgbClr val="DCD5C5"/>
            </a:solidFill>
            <a:prstDash val="solid"/>
          </a:ln>
        </p:spPr>
      </p:sp>
      <p:sp>
        <p:nvSpPr>
          <p:cNvPr id="31" name="Text 27"/>
          <p:cNvSpPr txBox="1"/>
          <p:nvPr/>
        </p:nvSpPr>
        <p:spPr>
          <a:xfrm>
            <a:off x="6519672" y="1956816"/>
            <a:ext cx="457200" cy="137160"/>
          </a:xfrm>
          <a:prstGeom prst="rect">
            <a:avLst/>
          </a:prstGeom>
          <a:noFill/>
          <a:ln/>
        </p:spPr>
        <p:txBody>
          <a:bodyPr wrap="square" lIns="0" tIns="0" rIns="0" bIns="0" rtlCol="0" anchor="t"/>
          <a:lstStyle/>
          <a:p>
            <a:pPr indent="0" marL="0">
              <a:buNone/>
            </a:pPr>
            <a:r>
              <a:rPr lang="en-US" sz="750" b="1" dirty="0">
                <a:solidFill>
                  <a:srgbClr val="E8694A"/>
                </a:solidFill>
                <a:latin typeface="Arial" pitchFamily="34" charset="0"/>
                <a:ea typeface="Arial" pitchFamily="34" charset="-122"/>
                <a:cs typeface="Arial" pitchFamily="34" charset="-120"/>
              </a:rPr>
              <a:t>04</a:t>
            </a:r>
            <a:endParaRPr lang="en-US" sz="750" dirty="0"/>
          </a:p>
        </p:txBody>
      </p:sp>
      <p:sp>
        <p:nvSpPr>
          <p:cNvPr id="32" name="Text 28"/>
          <p:cNvSpPr txBox="1"/>
          <p:nvPr/>
        </p:nvSpPr>
        <p:spPr>
          <a:xfrm>
            <a:off x="6455664" y="2313432"/>
            <a:ext cx="1527048" cy="228600"/>
          </a:xfrm>
          <a:prstGeom prst="rect">
            <a:avLst/>
          </a:prstGeom>
          <a:noFill/>
          <a:ln/>
        </p:spPr>
        <p:txBody>
          <a:bodyPr wrap="square" lIns="0" tIns="0" rIns="0" bIns="0" rtlCol="0" anchor="t">
            <a:normAutofit/>
          </a:bodyPr>
          <a:lstStyle/>
          <a:p>
            <a:pPr algn="ctr" indent="0" marL="0">
              <a:buNone/>
            </a:pPr>
            <a:r>
              <a:rPr lang="en-US" sz="1050" b="1" dirty="0">
                <a:solidFill>
                  <a:srgbClr val="1B3149"/>
                </a:solidFill>
                <a:latin typeface="Arial" pitchFamily="34" charset="0"/>
                <a:ea typeface="Arial" pitchFamily="34" charset="-122"/>
                <a:cs typeface="Arial" pitchFamily="34" charset="-120"/>
              </a:rPr>
              <a:t>ALIGNED</a:t>
            </a:r>
            <a:endParaRPr lang="en-US" sz="1050" dirty="0"/>
          </a:p>
        </p:txBody>
      </p:sp>
      <p:sp>
        <p:nvSpPr>
          <p:cNvPr id="33" name="Text 29"/>
          <p:cNvSpPr txBox="1"/>
          <p:nvPr/>
        </p:nvSpPr>
        <p:spPr>
          <a:xfrm>
            <a:off x="6473952" y="2697480"/>
            <a:ext cx="1490472" cy="411480"/>
          </a:xfrm>
          <a:prstGeom prst="rect">
            <a:avLst/>
          </a:prstGeom>
          <a:noFill/>
          <a:ln/>
        </p:spPr>
        <p:txBody>
          <a:bodyPr wrap="square" lIns="0" tIns="0" rIns="0" bIns="0" rtlCol="0" anchor="t">
            <a:normAutofit/>
          </a:bodyPr>
          <a:lstStyle/>
          <a:p>
            <a:pPr algn="ctr" indent="0" marL="0">
              <a:buNone/>
            </a:pPr>
            <a:r>
              <a:rPr lang="en-US" sz="850" dirty="0">
                <a:solidFill>
                  <a:srgbClr val="6B6B6B"/>
                </a:solidFill>
                <a:latin typeface="Arial" pitchFamily="34" charset="0"/>
                <a:ea typeface="Arial" pitchFamily="34" charset="-122"/>
                <a:cs typeface="Arial" pitchFamily="34" charset="-120"/>
              </a:rPr>
              <a:t>Spending follows measured need</a:t>
            </a:r>
            <a:endParaRPr lang="en-US" sz="850" dirty="0"/>
          </a:p>
        </p:txBody>
      </p:sp>
      <p:sp>
        <p:nvSpPr>
          <p:cNvPr id="34" name="Shape 30"/>
          <p:cNvSpPr/>
          <p:nvPr/>
        </p:nvSpPr>
        <p:spPr>
          <a:xfrm>
            <a:off x="8366760" y="1737360"/>
            <a:ext cx="3227832" cy="1463040"/>
          </a:xfrm>
          <a:prstGeom prst="roundRect">
            <a:avLst>
              <a:gd name="adj" fmla="val 5000"/>
            </a:avLst>
          </a:prstGeom>
          <a:solidFill>
            <a:srgbClr val="1B3149"/>
          </a:solidFill>
          <a:ln/>
        </p:spPr>
      </p:sp>
      <p:sp>
        <p:nvSpPr>
          <p:cNvPr id="35" name="Text 31"/>
          <p:cNvSpPr txBox="1"/>
          <p:nvPr/>
        </p:nvSpPr>
        <p:spPr>
          <a:xfrm>
            <a:off x="8622792" y="1956816"/>
            <a:ext cx="2743200" cy="137160"/>
          </a:xfrm>
          <a:prstGeom prst="rect">
            <a:avLst/>
          </a:prstGeom>
          <a:noFill/>
          <a:ln/>
        </p:spPr>
        <p:txBody>
          <a:bodyPr wrap="square" lIns="0" tIns="0" rIns="0" bIns="0" rtlCol="0" anchor="t"/>
          <a:lstStyle/>
          <a:p>
            <a:pPr indent="0" marL="0">
              <a:buNone/>
            </a:pPr>
            <a:r>
              <a:rPr lang="en-US" sz="750" b="1" dirty="0">
                <a:solidFill>
                  <a:srgbClr val="9ED8CC"/>
                </a:solidFill>
                <a:latin typeface="Arial" pitchFamily="34" charset="0"/>
                <a:ea typeface="Arial" pitchFamily="34" charset="-122"/>
                <a:cs typeface="Arial" pitchFamily="34" charset="-120"/>
              </a:rPr>
              <a:t>MEASURE WITH</a:t>
            </a:r>
            <a:endParaRPr lang="en-US" sz="750" dirty="0"/>
          </a:p>
        </p:txBody>
      </p:sp>
      <p:sp>
        <p:nvSpPr>
          <p:cNvPr id="36" name="Text 32"/>
          <p:cNvSpPr txBox="1"/>
          <p:nvPr/>
        </p:nvSpPr>
        <p:spPr>
          <a:xfrm>
            <a:off x="8622792" y="2240280"/>
            <a:ext cx="2788920" cy="868680"/>
          </a:xfrm>
          <a:prstGeom prst="rect">
            <a:avLst/>
          </a:prstGeom>
          <a:noFill/>
          <a:ln/>
        </p:spPr>
        <p:txBody>
          <a:bodyPr wrap="square" lIns="0" tIns="0" rIns="0" bIns="0" rtlCol="0" anchor="t">
            <a:normAutofit/>
          </a:bodyPr>
          <a:lstStyle/>
          <a:p>
            <a:pPr indent="0" marL="0">
              <a:buNone/>
            </a:pPr>
            <a:r>
              <a:rPr lang="en-US" sz="950" b="1" dirty="0">
                <a:solidFill>
                  <a:srgbClr val="FFFFFF"/>
                </a:solidFill>
                <a:latin typeface="Arial" pitchFamily="34" charset="0"/>
                <a:ea typeface="Arial" pitchFamily="34" charset="-122"/>
                <a:cs typeface="Arial" pitchFamily="34" charset="-120"/>
              </a:rPr>
              <a:t>Category accuracy (target ≥85%)</a:t>
            </a:r>
            <a:endParaRPr lang="en-US" sz="950" dirty="0"/>
          </a:p>
          <a:p>
            <a:pPr indent="0" marL="0">
              <a:buNone/>
            </a:pPr>
            <a:r>
              <a:rPr lang="en-US" sz="950" b="1" dirty="0">
                <a:solidFill>
                  <a:srgbClr val="FFFFFF"/>
                </a:solidFill>
                <a:latin typeface="Arial" pitchFamily="34" charset="0"/>
                <a:ea typeface="Arial" pitchFamily="34" charset="-122"/>
                <a:cs typeface="Arial" pitchFamily="34" charset="-120"/>
              </a:rPr>
              <a:t>LGD match rate (ambiguous names)</a:t>
            </a:r>
            <a:endParaRPr lang="en-US" sz="950" dirty="0"/>
          </a:p>
          <a:p>
            <a:pPr indent="0" marL="0">
              <a:buNone/>
            </a:pPr>
            <a:r>
              <a:rPr lang="en-US" sz="950" b="1" dirty="0">
                <a:solidFill>
                  <a:srgbClr val="FFFFFF"/>
                </a:solidFill>
                <a:latin typeface="Arial" pitchFamily="34" charset="0"/>
                <a:ea typeface="Arial" pitchFamily="34" charset="-122"/>
                <a:cs typeface="Arial" pitchFamily="34" charset="-120"/>
              </a:rPr>
              <a:t>Officer time per brief</a:t>
            </a:r>
            <a:endParaRPr lang="en-US" sz="950" dirty="0"/>
          </a:p>
          <a:p>
            <a:pPr indent="0" marL="0">
              <a:buNone/>
            </a:pPr>
            <a:r>
              <a:rPr lang="en-US" sz="950" b="1" dirty="0">
                <a:solidFill>
                  <a:srgbClr val="FFFFFF"/>
                </a:solidFill>
                <a:latin typeface="Arial" pitchFamily="34" charset="0"/>
                <a:ea typeface="Arial" pitchFamily="34" charset="-122"/>
                <a:cs typeface="Arial" pitchFamily="34" charset="-120"/>
              </a:rPr>
              <a:t>Citizens getting status updates</a:t>
            </a:r>
            <a:endParaRPr lang="en-US" sz="950" dirty="0"/>
          </a:p>
        </p:txBody>
      </p:sp>
      <p:sp>
        <p:nvSpPr>
          <p:cNvPr id="37" name="Text 33"/>
          <p:cNvSpPr txBox="1"/>
          <p:nvPr/>
        </p:nvSpPr>
        <p:spPr>
          <a:xfrm>
            <a:off x="640080" y="3675888"/>
            <a:ext cx="3657600" cy="146304"/>
          </a:xfrm>
          <a:prstGeom prst="rect">
            <a:avLst/>
          </a:prstGeom>
          <a:noFill/>
          <a:ln/>
        </p:spPr>
        <p:txBody>
          <a:bodyPr wrap="square" lIns="0" tIns="0" rIns="0" bIns="0" rtlCol="0" anchor="t"/>
          <a:lstStyle/>
          <a:p>
            <a:pPr indent="0" marL="0">
              <a:buNone/>
            </a:pPr>
            <a:r>
              <a:rPr lang="en-US" sz="800" b="1" dirty="0">
                <a:solidFill>
                  <a:srgbClr val="12796D"/>
                </a:solidFill>
                <a:latin typeface="Arial" pitchFamily="34" charset="0"/>
                <a:ea typeface="Arial" pitchFamily="34" charset="-122"/>
                <a:cs typeface="Arial" pitchFamily="34" charset="-120"/>
              </a:rPr>
              <a:t>VALIDATION GATES</a:t>
            </a:r>
            <a:endParaRPr lang="en-US" sz="800" dirty="0"/>
          </a:p>
        </p:txBody>
      </p:sp>
      <p:sp>
        <p:nvSpPr>
          <p:cNvPr id="38" name="Shape 34"/>
          <p:cNvSpPr/>
          <p:nvPr/>
        </p:nvSpPr>
        <p:spPr>
          <a:xfrm>
            <a:off x="640080" y="4005072"/>
            <a:ext cx="2286000" cy="1051560"/>
          </a:xfrm>
          <a:prstGeom prst="roundRect">
            <a:avLst>
              <a:gd name="adj" fmla="val 6957"/>
            </a:avLst>
          </a:prstGeom>
          <a:solidFill>
            <a:srgbClr val="FFFDF7"/>
          </a:solidFill>
          <a:ln w="9525">
            <a:solidFill>
              <a:srgbClr val="DCD5C5"/>
            </a:solidFill>
            <a:prstDash val="solid"/>
          </a:ln>
        </p:spPr>
      </p:sp>
      <p:sp>
        <p:nvSpPr>
          <p:cNvPr id="39" name="Shape 35"/>
          <p:cNvSpPr/>
          <p:nvPr/>
        </p:nvSpPr>
        <p:spPr>
          <a:xfrm>
            <a:off x="768096" y="4160520"/>
            <a:ext cx="393192" cy="393192"/>
          </a:xfrm>
          <a:prstGeom prst="ellipse">
            <a:avLst/>
          </a:prstGeom>
          <a:solidFill>
            <a:srgbClr val="12796D"/>
          </a:solidFill>
          <a:ln/>
        </p:spPr>
      </p:sp>
      <p:sp>
        <p:nvSpPr>
          <p:cNvPr id="40" name="Text 36"/>
          <p:cNvSpPr txBox="1"/>
          <p:nvPr/>
        </p:nvSpPr>
        <p:spPr>
          <a:xfrm>
            <a:off x="768096" y="416052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41" name="Text 37"/>
          <p:cNvSpPr txBox="1"/>
          <p:nvPr/>
        </p:nvSpPr>
        <p:spPr>
          <a:xfrm>
            <a:off x="1280160" y="4178808"/>
            <a:ext cx="1572768" cy="182880"/>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DISTRICT PILOT</a:t>
            </a:r>
            <a:endParaRPr lang="en-US" sz="850" dirty="0"/>
          </a:p>
        </p:txBody>
      </p:sp>
      <p:sp>
        <p:nvSpPr>
          <p:cNvPr id="42" name="Text 38"/>
          <p:cNvSpPr txBox="1"/>
          <p:nvPr/>
        </p:nvSpPr>
        <p:spPr>
          <a:xfrm>
            <a:off x="1280160" y="4434840"/>
            <a:ext cx="1572768" cy="548640"/>
          </a:xfrm>
          <a:prstGeom prst="rect">
            <a:avLst/>
          </a:prstGeom>
          <a:noFill/>
          <a:ln/>
        </p:spPr>
        <p:txBody>
          <a:bodyPr wrap="square" lIns="0" tIns="0" rIns="0" bIns="0" rtlCol="0" anchor="t">
            <a:normAutofit/>
          </a:bodyPr>
          <a:lstStyle/>
          <a:p>
            <a:pPr indent="0" marL="0">
              <a:buNone/>
            </a:pPr>
            <a:r>
              <a:rPr lang="en-US" sz="800" dirty="0">
                <a:solidFill>
                  <a:srgbClr val="1B3149"/>
                </a:solidFill>
                <a:latin typeface="Arial" pitchFamily="34" charset="0"/>
                <a:ea typeface="Arial" pitchFamily="34" charset="-122"/>
                <a:cs typeface="Arial" pitchFamily="34" charset="-120"/>
              </a:rPr>
              <a:t>1 aspirational district • WhatsApp • CSC-assisted capture • weekly review</a:t>
            </a:r>
            <a:endParaRPr lang="en-US" sz="800" dirty="0"/>
          </a:p>
        </p:txBody>
      </p:sp>
      <p:sp>
        <p:nvSpPr>
          <p:cNvPr id="43" name="Shape 39"/>
          <p:cNvSpPr/>
          <p:nvPr/>
        </p:nvSpPr>
        <p:spPr>
          <a:xfrm>
            <a:off x="3154680" y="4005072"/>
            <a:ext cx="2286000" cy="1051560"/>
          </a:xfrm>
          <a:prstGeom prst="roundRect">
            <a:avLst>
              <a:gd name="adj" fmla="val 6957"/>
            </a:avLst>
          </a:prstGeom>
          <a:solidFill>
            <a:srgbClr val="FFFDF7"/>
          </a:solidFill>
          <a:ln w="9525">
            <a:solidFill>
              <a:srgbClr val="DCD5C5"/>
            </a:solidFill>
            <a:prstDash val="solid"/>
          </a:ln>
        </p:spPr>
      </p:sp>
      <p:sp>
        <p:nvSpPr>
          <p:cNvPr id="44" name="Shape 40"/>
          <p:cNvSpPr/>
          <p:nvPr/>
        </p:nvSpPr>
        <p:spPr>
          <a:xfrm>
            <a:off x="3282696" y="4160520"/>
            <a:ext cx="393192" cy="393192"/>
          </a:xfrm>
          <a:prstGeom prst="ellipse">
            <a:avLst/>
          </a:prstGeom>
          <a:solidFill>
            <a:srgbClr val="12796D"/>
          </a:solidFill>
          <a:ln/>
        </p:spPr>
      </p:sp>
      <p:sp>
        <p:nvSpPr>
          <p:cNvPr id="45" name="Text 41"/>
          <p:cNvSpPr txBox="1"/>
          <p:nvPr/>
        </p:nvSpPr>
        <p:spPr>
          <a:xfrm>
            <a:off x="3282696" y="416052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46" name="Text 42"/>
          <p:cNvSpPr txBox="1"/>
          <p:nvPr/>
        </p:nvSpPr>
        <p:spPr>
          <a:xfrm>
            <a:off x="3794760" y="4178808"/>
            <a:ext cx="1572768" cy="182880"/>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VALIDATE AI</a:t>
            </a:r>
            <a:endParaRPr lang="en-US" sz="850" dirty="0"/>
          </a:p>
        </p:txBody>
      </p:sp>
      <p:sp>
        <p:nvSpPr>
          <p:cNvPr id="47" name="Text 43"/>
          <p:cNvSpPr txBox="1"/>
          <p:nvPr/>
        </p:nvSpPr>
        <p:spPr>
          <a:xfrm>
            <a:off x="3794760" y="4434840"/>
            <a:ext cx="1572768" cy="548640"/>
          </a:xfrm>
          <a:prstGeom prst="rect">
            <a:avLst/>
          </a:prstGeom>
          <a:noFill/>
          <a:ln/>
        </p:spPr>
        <p:txBody>
          <a:bodyPr wrap="square" lIns="0" tIns="0" rIns="0" bIns="0" rtlCol="0" anchor="t">
            <a:normAutofit/>
          </a:bodyPr>
          <a:lstStyle/>
          <a:p>
            <a:pPr indent="0" marL="0">
              <a:buNone/>
            </a:pPr>
            <a:r>
              <a:rPr lang="en-US" sz="800" dirty="0">
                <a:solidFill>
                  <a:srgbClr val="1B3149"/>
                </a:solidFill>
                <a:latin typeface="Arial" pitchFamily="34" charset="0"/>
                <a:ea typeface="Arial" pitchFamily="34" charset="-122"/>
                <a:cs typeface="Arial" pitchFamily="34" charset="-120"/>
              </a:rPr>
              <a:t>Field-labelled sample; audit cluster purity and LGD matches</a:t>
            </a:r>
            <a:endParaRPr lang="en-US" sz="800" dirty="0"/>
          </a:p>
        </p:txBody>
      </p:sp>
      <p:sp>
        <p:nvSpPr>
          <p:cNvPr id="48" name="Shape 44"/>
          <p:cNvSpPr/>
          <p:nvPr/>
        </p:nvSpPr>
        <p:spPr>
          <a:xfrm>
            <a:off x="5669280" y="4005072"/>
            <a:ext cx="2286000" cy="1051560"/>
          </a:xfrm>
          <a:prstGeom prst="roundRect">
            <a:avLst>
              <a:gd name="adj" fmla="val 6957"/>
            </a:avLst>
          </a:prstGeom>
          <a:solidFill>
            <a:srgbClr val="FFFDF7"/>
          </a:solidFill>
          <a:ln w="9525">
            <a:solidFill>
              <a:srgbClr val="DCD5C5"/>
            </a:solidFill>
            <a:prstDash val="solid"/>
          </a:ln>
        </p:spPr>
      </p:sp>
      <p:sp>
        <p:nvSpPr>
          <p:cNvPr id="49" name="Shape 45"/>
          <p:cNvSpPr/>
          <p:nvPr/>
        </p:nvSpPr>
        <p:spPr>
          <a:xfrm>
            <a:off x="5797296" y="4160520"/>
            <a:ext cx="393192" cy="393192"/>
          </a:xfrm>
          <a:prstGeom prst="ellipse">
            <a:avLst/>
          </a:prstGeom>
          <a:solidFill>
            <a:srgbClr val="E8694A"/>
          </a:solidFill>
          <a:ln/>
        </p:spPr>
      </p:sp>
      <p:sp>
        <p:nvSpPr>
          <p:cNvPr id="50" name="Text 46"/>
          <p:cNvSpPr txBox="1"/>
          <p:nvPr/>
        </p:nvSpPr>
        <p:spPr>
          <a:xfrm>
            <a:off x="5797296" y="4160520"/>
            <a:ext cx="393192" cy="39319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51" name="Text 47"/>
          <p:cNvSpPr txBox="1"/>
          <p:nvPr/>
        </p:nvSpPr>
        <p:spPr>
          <a:xfrm>
            <a:off x="6309360" y="4178808"/>
            <a:ext cx="1572768" cy="182880"/>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CLAIM CAREFULLY</a:t>
            </a:r>
            <a:endParaRPr lang="en-US" sz="850" dirty="0"/>
          </a:p>
        </p:txBody>
      </p:sp>
      <p:sp>
        <p:nvSpPr>
          <p:cNvPr id="52" name="Text 48"/>
          <p:cNvSpPr txBox="1"/>
          <p:nvPr/>
        </p:nvSpPr>
        <p:spPr>
          <a:xfrm>
            <a:off x="6309360" y="4434840"/>
            <a:ext cx="1572768" cy="548640"/>
          </a:xfrm>
          <a:prstGeom prst="rect">
            <a:avLst/>
          </a:prstGeom>
          <a:noFill/>
          <a:ln/>
        </p:spPr>
        <p:txBody>
          <a:bodyPr wrap="square" lIns="0" tIns="0" rIns="0" bIns="0" rtlCol="0" anchor="t">
            <a:normAutofit/>
          </a:bodyPr>
          <a:lstStyle/>
          <a:p>
            <a:pPr indent="0" marL="0">
              <a:buNone/>
            </a:pPr>
            <a:r>
              <a:rPr lang="en-US" sz="800" dirty="0">
                <a:solidFill>
                  <a:srgbClr val="1B3149"/>
                </a:solidFill>
                <a:latin typeface="Arial" pitchFamily="34" charset="0"/>
                <a:ea typeface="Arial" pitchFamily="34" charset="-122"/>
                <a:cs typeface="Arial" pitchFamily="34" charset="-120"/>
              </a:rPr>
              <a:t>Adoption is not impact; before/after comparisons are associational</a:t>
            </a:r>
            <a:endParaRPr lang="en-US" sz="800" dirty="0"/>
          </a:p>
        </p:txBody>
      </p:sp>
      <p:sp>
        <p:nvSpPr>
          <p:cNvPr id="53" name="Shape 49"/>
          <p:cNvSpPr/>
          <p:nvPr/>
        </p:nvSpPr>
        <p:spPr>
          <a:xfrm>
            <a:off x="658368" y="5431536"/>
            <a:ext cx="1078992" cy="310896"/>
          </a:xfrm>
          <a:prstGeom prst="roundRect">
            <a:avLst>
              <a:gd name="adj" fmla="val 23529"/>
            </a:avLst>
          </a:prstGeom>
          <a:solidFill>
            <a:srgbClr val="E8694A"/>
          </a:solidFill>
          <a:ln/>
        </p:spPr>
      </p:sp>
      <p:sp>
        <p:nvSpPr>
          <p:cNvPr id="54" name="Text 50"/>
          <p:cNvSpPr txBox="1"/>
          <p:nvPr/>
        </p:nvSpPr>
        <p:spPr>
          <a:xfrm>
            <a:off x="658368" y="5431536"/>
            <a:ext cx="1078992" cy="310896"/>
          </a:xfrm>
          <a:prstGeom prst="rect">
            <a:avLst/>
          </a:prstGeom>
          <a:noFill/>
          <a:ln/>
        </p:spPr>
        <p:txBody>
          <a:bodyPr wrap="square" lIns="0" tIns="0" rIns="0" bIns="0" rtlCol="0" anchor="ctr"/>
          <a:lstStyle/>
          <a:p>
            <a:pPr algn="ctr" indent="0" marL="0">
              <a:buNone/>
            </a:pPr>
            <a:r>
              <a:rPr lang="en-US" sz="700" b="1" spc="50" kern="0" dirty="0">
                <a:solidFill>
                  <a:srgbClr val="FFFFFF"/>
                </a:solidFill>
                <a:latin typeface="Arial" pitchFamily="34" charset="0"/>
                <a:ea typeface="Arial" pitchFamily="34" charset="-122"/>
                <a:cs typeface="Arial" pitchFamily="34" charset="-120"/>
              </a:rPr>
              <a:t>BUDGET ROUTE</a:t>
            </a:r>
            <a:endParaRPr lang="en-US" sz="700" dirty="0"/>
          </a:p>
        </p:txBody>
      </p:sp>
      <p:sp>
        <p:nvSpPr>
          <p:cNvPr id="55" name="Text 51"/>
          <p:cNvSpPr txBox="1"/>
          <p:nvPr/>
        </p:nvSpPr>
        <p:spPr>
          <a:xfrm>
            <a:off x="1901952" y="5358384"/>
            <a:ext cx="6035040" cy="457200"/>
          </a:xfrm>
          <a:prstGeom prst="rect">
            <a:avLst/>
          </a:prstGeom>
          <a:noFill/>
          <a:ln/>
        </p:spPr>
        <p:txBody>
          <a:bodyPr wrap="square" lIns="0" tIns="0" rIns="0" bIns="0" rtlCol="0" anchor="ctr">
            <a:normAutofit/>
          </a:bodyPr>
          <a:lstStyle/>
          <a:p>
            <a:pPr indent="0" marL="0">
              <a:buNone/>
            </a:pPr>
            <a:r>
              <a:rPr lang="en-US" sz="1100" b="1" dirty="0">
                <a:solidFill>
                  <a:srgbClr val="1B3149"/>
                </a:solidFill>
                <a:latin typeface="Arial" pitchFamily="34" charset="0"/>
                <a:ea typeface="Arial" pitchFamily="34" charset="-122"/>
                <a:cs typeface="Arial" pitchFamily="34" charset="-120"/>
              </a:rPr>
              <a:t>Works via existing GPDP and scheme budgets (e.g. PMGSY); pilot platform cost from state e-governance funds, to confirm. [4]</a:t>
            </a:r>
            <a:endParaRPr lang="en-US" sz="1100" dirty="0"/>
          </a:p>
        </p:txBody>
      </p:sp>
      <p:sp>
        <p:nvSpPr>
          <p:cNvPr id="56" name="Shape 52"/>
          <p:cNvSpPr/>
          <p:nvPr/>
        </p:nvSpPr>
        <p:spPr>
          <a:xfrm>
            <a:off x="8366760" y="3657600"/>
            <a:ext cx="3227832" cy="1993392"/>
          </a:xfrm>
          <a:prstGeom prst="roundRect">
            <a:avLst>
              <a:gd name="adj" fmla="val 3670"/>
            </a:avLst>
          </a:prstGeom>
          <a:solidFill>
            <a:srgbClr val="DCEEE8"/>
          </a:solidFill>
          <a:ln w="9525">
            <a:solidFill>
              <a:srgbClr val="12796D"/>
            </a:solidFill>
            <a:prstDash val="solid"/>
          </a:ln>
        </p:spPr>
      </p:sp>
      <p:sp>
        <p:nvSpPr>
          <p:cNvPr id="57" name="Text 53"/>
          <p:cNvSpPr txBox="1"/>
          <p:nvPr/>
        </p:nvSpPr>
        <p:spPr>
          <a:xfrm>
            <a:off x="8622792" y="3867912"/>
            <a:ext cx="2743200" cy="228600"/>
          </a:xfrm>
          <a:prstGeom prst="rect">
            <a:avLst/>
          </a:prstGeom>
          <a:noFill/>
          <a:ln/>
        </p:spPr>
        <p:txBody>
          <a:bodyPr wrap="square" lIns="0" tIns="0" rIns="0" bIns="0" rtlCol="0" anchor="t">
            <a:normAutofit/>
          </a:bodyPr>
          <a:lstStyle/>
          <a:p>
            <a:pPr indent="0" marL="0">
              <a:buNone/>
            </a:pPr>
            <a:r>
              <a:rPr lang="en-US" sz="1200" b="1" dirty="0">
                <a:solidFill>
                  <a:srgbClr val="12796D"/>
                </a:solidFill>
                <a:latin typeface="Arial" pitchFamily="34" charset="0"/>
                <a:ea typeface="Arial" pitchFamily="34" charset="-122"/>
                <a:cs typeface="Arial" pitchFamily="34" charset="-120"/>
              </a:rPr>
              <a:t>OWNERSHIP + SCALE</a:t>
            </a:r>
            <a:endParaRPr lang="en-US" sz="1200" dirty="0"/>
          </a:p>
        </p:txBody>
      </p:sp>
      <p:sp>
        <p:nvSpPr>
          <p:cNvPr id="58" name="Text 54"/>
          <p:cNvSpPr txBox="1"/>
          <p:nvPr/>
        </p:nvSpPr>
        <p:spPr>
          <a:xfrm>
            <a:off x="8622792" y="4343400"/>
            <a:ext cx="777240" cy="182880"/>
          </a:xfrm>
          <a:prstGeom prst="rect">
            <a:avLst/>
          </a:prstGeom>
          <a:noFill/>
          <a:ln/>
        </p:spPr>
        <p:txBody>
          <a:bodyPr wrap="square" lIns="0" tIns="0" rIns="0" bIns="0" rtlCol="0" anchor="t"/>
          <a:lstStyle/>
          <a:p>
            <a:pPr indent="0" marL="0">
              <a:buNone/>
            </a:pPr>
            <a:r>
              <a:rPr lang="en-US" sz="850" b="1" dirty="0">
                <a:solidFill>
                  <a:srgbClr val="1B3149"/>
                </a:solidFill>
                <a:latin typeface="Arial" pitchFamily="34" charset="0"/>
                <a:ea typeface="Arial" pitchFamily="34" charset="-122"/>
                <a:cs typeface="Arial" pitchFamily="34" charset="-120"/>
              </a:rPr>
              <a:t>Owner</a:t>
            </a:r>
            <a:endParaRPr lang="en-US" sz="850" dirty="0"/>
          </a:p>
        </p:txBody>
      </p:sp>
      <p:sp>
        <p:nvSpPr>
          <p:cNvPr id="59" name="Text 55"/>
          <p:cNvSpPr txBox="1"/>
          <p:nvPr/>
        </p:nvSpPr>
        <p:spPr>
          <a:xfrm>
            <a:off x="9418320" y="4315968"/>
            <a:ext cx="2057400" cy="384048"/>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District Collector / District Planning Officer</a:t>
            </a:r>
            <a:endParaRPr lang="en-US" sz="850" dirty="0"/>
          </a:p>
        </p:txBody>
      </p:sp>
      <p:sp>
        <p:nvSpPr>
          <p:cNvPr id="60" name="Text 56"/>
          <p:cNvSpPr txBox="1"/>
          <p:nvPr/>
        </p:nvSpPr>
        <p:spPr>
          <a:xfrm>
            <a:off x="8622792" y="4773168"/>
            <a:ext cx="777240" cy="182880"/>
          </a:xfrm>
          <a:prstGeom prst="rect">
            <a:avLst/>
          </a:prstGeom>
          <a:noFill/>
          <a:ln/>
        </p:spPr>
        <p:txBody>
          <a:bodyPr wrap="square" lIns="0" tIns="0" rIns="0" bIns="0" rtlCol="0" anchor="t"/>
          <a:lstStyle/>
          <a:p>
            <a:pPr indent="0" marL="0">
              <a:buNone/>
            </a:pPr>
            <a:r>
              <a:rPr lang="en-US" sz="850" b="1" dirty="0">
                <a:solidFill>
                  <a:srgbClr val="1B3149"/>
                </a:solidFill>
                <a:latin typeface="Arial" pitchFamily="34" charset="0"/>
                <a:ea typeface="Arial" pitchFamily="34" charset="-122"/>
                <a:cs typeface="Arial" pitchFamily="34" charset="-120"/>
              </a:rPr>
              <a:t>Channel</a:t>
            </a:r>
            <a:endParaRPr lang="en-US" sz="850" dirty="0"/>
          </a:p>
        </p:txBody>
      </p:sp>
      <p:sp>
        <p:nvSpPr>
          <p:cNvPr id="61" name="Text 57"/>
          <p:cNvSpPr txBox="1"/>
          <p:nvPr/>
        </p:nvSpPr>
        <p:spPr>
          <a:xfrm>
            <a:off x="9418320" y="4745736"/>
            <a:ext cx="2057400" cy="384048"/>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State Planning Dept. → District Planning Committee</a:t>
            </a:r>
            <a:endParaRPr lang="en-US" sz="850" dirty="0"/>
          </a:p>
        </p:txBody>
      </p:sp>
      <p:sp>
        <p:nvSpPr>
          <p:cNvPr id="62" name="Text 58"/>
          <p:cNvSpPr txBox="1"/>
          <p:nvPr/>
        </p:nvSpPr>
        <p:spPr>
          <a:xfrm>
            <a:off x="8622792" y="5202936"/>
            <a:ext cx="777240" cy="182880"/>
          </a:xfrm>
          <a:prstGeom prst="rect">
            <a:avLst/>
          </a:prstGeom>
          <a:noFill/>
          <a:ln/>
        </p:spPr>
        <p:txBody>
          <a:bodyPr wrap="square" lIns="0" tIns="0" rIns="0" bIns="0" rtlCol="0" anchor="t"/>
          <a:lstStyle/>
          <a:p>
            <a:pPr indent="0" marL="0">
              <a:buNone/>
            </a:pPr>
            <a:r>
              <a:rPr lang="en-US" sz="850" b="1" dirty="0">
                <a:solidFill>
                  <a:srgbClr val="1B3149"/>
                </a:solidFill>
                <a:latin typeface="Arial" pitchFamily="34" charset="0"/>
                <a:ea typeface="Arial" pitchFamily="34" charset="-122"/>
                <a:cs typeface="Arial" pitchFamily="34" charset="-120"/>
              </a:rPr>
              <a:t>Gate</a:t>
            </a:r>
            <a:endParaRPr lang="en-US" sz="850" dirty="0"/>
          </a:p>
        </p:txBody>
      </p:sp>
      <p:sp>
        <p:nvSpPr>
          <p:cNvPr id="63" name="Text 59"/>
          <p:cNvSpPr txBox="1"/>
          <p:nvPr/>
        </p:nvSpPr>
        <p:spPr>
          <a:xfrm>
            <a:off x="9418320" y="5175504"/>
            <a:ext cx="2057400" cy="384048"/>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DPDP consent • real LGD/Census feeds • language QA</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10 — LIVE PROTOTYPE</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civic-demand-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Working today, end to end.</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Two apps and one API on Google Cloud; three states, three languages, three channels.</a:t>
            </a:r>
            <a:endParaRPr lang="en-US" sz="1200" dirty="0"/>
          </a:p>
        </p:txBody>
      </p:sp>
      <p:sp>
        <p:nvSpPr>
          <p:cNvPr id="9" name="Text 6"/>
          <p:cNvSpPr txBox="1"/>
          <p:nvPr/>
        </p:nvSpPr>
        <p:spPr>
          <a:xfrm>
            <a:off x="603504" y="6272784"/>
            <a:ext cx="10881360" cy="164592"/>
          </a:xfrm>
          <a:prstGeom prst="rect">
            <a:avLst/>
          </a:prstGeom>
          <a:noFill/>
          <a:ln/>
        </p:spPr>
        <p:txBody>
          <a:bodyPr wrap="square" lIns="0" tIns="0" rIns="0" bIns="0" rtlCol="0" anchor="t"/>
          <a:lstStyle/>
          <a:p>
            <a:pPr indent="0" marL="0">
              <a:buNone/>
            </a:pPr>
            <a:r>
              <a:rPr lang="en-US" sz="750" i="1" dirty="0">
                <a:solidFill>
                  <a:srgbClr val="6B6B6B"/>
                </a:solidFill>
                <a:latin typeface="Arial" pitchFamily="34" charset="0"/>
                <a:ea typeface="Arial" pitchFamily="34" charset="-122"/>
                <a:cs typeface="Arial" pitchFamily="34" charset="-120"/>
              </a:rPr>
              <a:t>Screenshots: local run, 30 Sep 2026, synthetic sample data. Weights from the Track 1 evaluation criteria (PRD §55).</a:t>
            </a:r>
            <a:endParaRPr lang="en-US" sz="750" dirty="0"/>
          </a:p>
        </p:txBody>
      </p:sp>
      <p:sp>
        <p:nvSpPr>
          <p:cNvPr id="10" name="Shape 7"/>
          <p:cNvSpPr/>
          <p:nvPr/>
        </p:nvSpPr>
        <p:spPr>
          <a:xfrm>
            <a:off x="585216" y="6528816"/>
            <a:ext cx="11021263" cy="0"/>
          </a:xfrm>
          <a:prstGeom prst="line">
            <a:avLst/>
          </a:prstGeom>
          <a:noFill/>
          <a:ln w="9525">
            <a:solidFill>
              <a:srgbClr val="DCD5C5"/>
            </a:solidFill>
            <a:prstDash val="solid"/>
          </a:ln>
        </p:spPr>
      </p:sp>
      <p:sp>
        <p:nvSpPr>
          <p:cNvPr id="11" name="Text 8"/>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JANVAANI</a:t>
            </a:r>
            <a:endParaRPr lang="en-US" sz="650" dirty="0"/>
          </a:p>
        </p:txBody>
      </p:sp>
      <p:sp>
        <p:nvSpPr>
          <p:cNvPr id="12" name="Text 9"/>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3" name="Text 10"/>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11</a:t>
            </a:r>
            <a:endParaRPr lang="en-US" sz="650" dirty="0"/>
          </a:p>
        </p:txBody>
      </p:sp>
      <p:sp>
        <p:nvSpPr>
          <p:cNvPr id="15" name="Shape 11"/>
          <p:cNvSpPr/>
          <p:nvPr/>
        </p:nvSpPr>
        <p:spPr>
          <a:xfrm>
            <a:off x="621792" y="1700784"/>
            <a:ext cx="2788920" cy="2331720"/>
          </a:xfrm>
          <a:prstGeom prst="roundRect">
            <a:avLst>
              <a:gd name="adj" fmla="val 2353"/>
            </a:avLst>
          </a:prstGeom>
          <a:solidFill>
            <a:srgbClr val="FFFFFF"/>
          </a:solidFill>
          <a:ln w="9525">
            <a:solidFill>
              <a:srgbClr val="DCD5C5"/>
            </a:solidFill>
            <a:prstDash val="solid"/>
          </a:ln>
        </p:spPr>
      </p:sp>
      <p:pic>
        <p:nvPicPr>
          <p:cNvPr id="16" name="Image 1" descr="/Users/pavan/Documents/Code/Build_with_AI/civic-demand-network/docs/pitch/assets/screen-citizen-app.png">    </p:cNvPr>
          <p:cNvPicPr>
            <a:picLocks noChangeAspect="1"/>
          </p:cNvPicPr>
          <p:nvPr/>
        </p:nvPicPr>
        <p:blipFill>
          <a:blip r:embed="rId2"/>
          <a:srcRect l="0" r="0" t="0" b="0"/>
          <a:stretch/>
        </p:blipFill>
        <p:spPr>
          <a:xfrm>
            <a:off x="676656" y="1755648"/>
            <a:ext cx="2679192" cy="1920240"/>
          </a:xfrm>
          <a:prstGeom prst="rect">
            <a:avLst/>
          </a:prstGeom>
        </p:spPr>
      </p:pic>
      <p:sp>
        <p:nvSpPr>
          <p:cNvPr id="17" name="Text 12"/>
          <p:cNvSpPr txBox="1"/>
          <p:nvPr/>
        </p:nvSpPr>
        <p:spPr>
          <a:xfrm>
            <a:off x="731520" y="3721608"/>
            <a:ext cx="2560320" cy="256032"/>
          </a:xfrm>
          <a:prstGeom prst="rect">
            <a:avLst/>
          </a:prstGeom>
          <a:noFill/>
          <a:ln/>
        </p:spPr>
        <p:txBody>
          <a:bodyPr wrap="square" lIns="0" tIns="0" rIns="0" bIns="0" rtlCol="0" anchor="t">
            <a:normAutofit/>
          </a:bodyPr>
          <a:lstStyle/>
          <a:p>
            <a:pPr algn="ctr" indent="0" marL="0">
              <a:buNone/>
            </a:pPr>
            <a:r>
              <a:rPr lang="en-US" sz="900" b="1" dirty="0">
                <a:solidFill>
                  <a:srgbClr val="1B3149"/>
                </a:solidFill>
                <a:latin typeface="Arial" pitchFamily="34" charset="0"/>
                <a:ea typeface="Arial" pitchFamily="34" charset="-122"/>
                <a:cs typeface="Arial" pitchFamily="34" charset="-120"/>
              </a:rPr>
              <a:t>Citizen app: Hindi request understood</a:t>
            </a:r>
            <a:endParaRPr lang="en-US" sz="900" dirty="0"/>
          </a:p>
        </p:txBody>
      </p:sp>
      <p:sp>
        <p:nvSpPr>
          <p:cNvPr id="18" name="Shape 13"/>
          <p:cNvSpPr/>
          <p:nvPr/>
        </p:nvSpPr>
        <p:spPr>
          <a:xfrm>
            <a:off x="3593592" y="1700784"/>
            <a:ext cx="2788920" cy="2331720"/>
          </a:xfrm>
          <a:prstGeom prst="roundRect">
            <a:avLst>
              <a:gd name="adj" fmla="val 2353"/>
            </a:avLst>
          </a:prstGeom>
          <a:solidFill>
            <a:srgbClr val="FFFFFF"/>
          </a:solidFill>
          <a:ln w="9525">
            <a:solidFill>
              <a:srgbClr val="DCD5C5"/>
            </a:solidFill>
            <a:prstDash val="solid"/>
          </a:ln>
        </p:spPr>
      </p:sp>
      <p:pic>
        <p:nvPicPr>
          <p:cNvPr id="19" name="Image 2" descr="/Users/pavan/Documents/Code/Build_with_AI/civic-demand-network/docs/pitch/assets/screen-officer-dashboard.png">    </p:cNvPr>
          <p:cNvPicPr>
            <a:picLocks noChangeAspect="1"/>
          </p:cNvPicPr>
          <p:nvPr/>
        </p:nvPicPr>
        <p:blipFill>
          <a:blip r:embed="rId3"/>
          <a:srcRect l="0" r="0" t="0" b="0"/>
          <a:stretch/>
        </p:blipFill>
        <p:spPr>
          <a:xfrm>
            <a:off x="3648456" y="1755648"/>
            <a:ext cx="2679192" cy="1920240"/>
          </a:xfrm>
          <a:prstGeom prst="rect">
            <a:avLst/>
          </a:prstGeom>
        </p:spPr>
      </p:pic>
      <p:sp>
        <p:nvSpPr>
          <p:cNvPr id="20" name="Text 14"/>
          <p:cNvSpPr txBox="1"/>
          <p:nvPr/>
        </p:nvSpPr>
        <p:spPr>
          <a:xfrm>
            <a:off x="3703320" y="3721608"/>
            <a:ext cx="2560320" cy="256032"/>
          </a:xfrm>
          <a:prstGeom prst="rect">
            <a:avLst/>
          </a:prstGeom>
          <a:noFill/>
          <a:ln/>
        </p:spPr>
        <p:txBody>
          <a:bodyPr wrap="square" lIns="0" tIns="0" rIns="0" bIns="0" rtlCol="0" anchor="t">
            <a:normAutofit/>
          </a:bodyPr>
          <a:lstStyle/>
          <a:p>
            <a:pPr algn="ctr" indent="0" marL="0">
              <a:buNone/>
            </a:pPr>
            <a:r>
              <a:rPr lang="en-US" sz="900" b="1" dirty="0">
                <a:solidFill>
                  <a:srgbClr val="1B3149"/>
                </a:solidFill>
                <a:latin typeface="Arial" pitchFamily="34" charset="0"/>
                <a:ea typeface="Arial" pitchFamily="34" charset="-122"/>
                <a:cs typeface="Arial" pitchFamily="34" charset="-120"/>
              </a:rPr>
              <a:t>Officer dashboard: ranking + breakdown</a:t>
            </a:r>
            <a:endParaRPr lang="en-US" sz="900" dirty="0"/>
          </a:p>
        </p:txBody>
      </p:sp>
      <p:sp>
        <p:nvSpPr>
          <p:cNvPr id="21" name="Shape 15"/>
          <p:cNvSpPr/>
          <p:nvPr/>
        </p:nvSpPr>
        <p:spPr>
          <a:xfrm>
            <a:off x="621792" y="4297680"/>
            <a:ext cx="5760720" cy="1755648"/>
          </a:xfrm>
          <a:prstGeom prst="roundRect">
            <a:avLst>
              <a:gd name="adj" fmla="val 4167"/>
            </a:avLst>
          </a:prstGeom>
          <a:solidFill>
            <a:srgbClr val="1B3149"/>
          </a:solidFill>
          <a:ln/>
        </p:spPr>
      </p:sp>
      <p:sp>
        <p:nvSpPr>
          <p:cNvPr id="22" name="Text 16"/>
          <p:cNvSpPr txBox="1"/>
          <p:nvPr/>
        </p:nvSpPr>
        <p:spPr>
          <a:xfrm>
            <a:off x="896112" y="4480560"/>
            <a:ext cx="4572000" cy="182880"/>
          </a:xfrm>
          <a:prstGeom prst="rect">
            <a:avLst/>
          </a:prstGeom>
          <a:noFill/>
          <a:ln/>
        </p:spPr>
        <p:txBody>
          <a:bodyPr wrap="square" lIns="0" tIns="0" rIns="0" bIns="0" rtlCol="0" anchor="t"/>
          <a:lstStyle/>
          <a:p>
            <a:pPr indent="0" marL="0">
              <a:buNone/>
            </a:pPr>
            <a:r>
              <a:rPr lang="en-US" sz="850" b="1" spc="200" kern="0" dirty="0">
                <a:solidFill>
                  <a:srgbClr val="9ED8CC"/>
                </a:solidFill>
                <a:latin typeface="Arial" pitchFamily="34" charset="0"/>
                <a:ea typeface="Arial" pitchFamily="34" charset="-122"/>
                <a:cs typeface="Arial" pitchFamily="34" charset="-120"/>
              </a:rPr>
              <a:t>TRY IT</a:t>
            </a:r>
            <a:endParaRPr lang="en-US" sz="850" dirty="0"/>
          </a:p>
        </p:txBody>
      </p:sp>
      <p:sp>
        <p:nvSpPr>
          <p:cNvPr id="23" name="Text 17"/>
          <p:cNvSpPr txBox="1"/>
          <p:nvPr/>
        </p:nvSpPr>
        <p:spPr>
          <a:xfrm>
            <a:off x="896112" y="4773168"/>
            <a:ext cx="1463040" cy="237744"/>
          </a:xfrm>
          <a:prstGeom prst="rect">
            <a:avLst/>
          </a:prstGeom>
          <a:noFill/>
          <a:ln/>
        </p:spPr>
        <p:txBody>
          <a:bodyPr wrap="square" lIns="0" tIns="0" rIns="0" bIns="0" rtlCol="0" anchor="t">
            <a:normAutofit/>
          </a:bodyPr>
          <a:lstStyle/>
          <a:p>
            <a:pPr indent="0" marL="0">
              <a:buNone/>
            </a:pPr>
            <a:r>
              <a:rPr lang="en-US" sz="850" b="1" dirty="0">
                <a:solidFill>
                  <a:srgbClr val="F3CB7A"/>
                </a:solidFill>
                <a:latin typeface="Arial" pitchFamily="34" charset="0"/>
                <a:ea typeface="Arial" pitchFamily="34" charset="-122"/>
                <a:cs typeface="Arial" pitchFamily="34" charset="-120"/>
              </a:rPr>
              <a:t>Citizen app</a:t>
            </a:r>
            <a:endParaRPr lang="en-US" sz="850" dirty="0"/>
          </a:p>
        </p:txBody>
      </p:sp>
      <p:sp>
        <p:nvSpPr>
          <p:cNvPr id="24" name="Text 18">
            <a:hlinkClick r:id="rId4" tooltip=""/>
          </p:cNvPr>
          <p:cNvSpPr txBox="1"/>
          <p:nvPr/>
        </p:nvSpPr>
        <p:spPr>
          <a:xfrm>
            <a:off x="2377440" y="4773168"/>
            <a:ext cx="3886200" cy="237744"/>
          </a:xfrm>
          <a:prstGeom prst="rect">
            <a:avLst/>
          </a:prstGeom>
          <a:noFill/>
          <a:ln/>
        </p:spPr>
        <p:txBody>
          <a:bodyPr wrap="square" lIns="0" tIns="0" rIns="0" bIns="0" rtlCol="0" anchor="t">
            <a:normAutofit/>
          </a:bodyPr>
          <a:lstStyle/>
          <a:p>
            <a:pPr indent="0" marL="0">
              <a:buNone/>
            </a:pPr>
            <a:r>
              <a:rPr lang="en-US" sz="850" u="sng" dirty="0">
                <a:solidFill>
                  <a:srgbClr val="FFFFFF"/>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civic-demand-network-citizen-web-847963771142.asia-south1.run.app</a:t>
            </a:r>
            <a:endParaRPr lang="en-US" sz="850" dirty="0"/>
          </a:p>
        </p:txBody>
      </p:sp>
      <p:sp>
        <p:nvSpPr>
          <p:cNvPr id="25" name="Text 19"/>
          <p:cNvSpPr txBox="1"/>
          <p:nvPr/>
        </p:nvSpPr>
        <p:spPr>
          <a:xfrm>
            <a:off x="896112" y="5065776"/>
            <a:ext cx="1463040" cy="237744"/>
          </a:xfrm>
          <a:prstGeom prst="rect">
            <a:avLst/>
          </a:prstGeom>
          <a:noFill/>
          <a:ln/>
        </p:spPr>
        <p:txBody>
          <a:bodyPr wrap="square" lIns="0" tIns="0" rIns="0" bIns="0" rtlCol="0" anchor="t">
            <a:normAutofit/>
          </a:bodyPr>
          <a:lstStyle/>
          <a:p>
            <a:pPr indent="0" marL="0">
              <a:buNone/>
            </a:pPr>
            <a:r>
              <a:rPr lang="en-US" sz="850" b="1" dirty="0">
                <a:solidFill>
                  <a:srgbClr val="F3CB7A"/>
                </a:solidFill>
                <a:latin typeface="Arial" pitchFamily="34" charset="0"/>
                <a:ea typeface="Arial" pitchFamily="34" charset="-122"/>
                <a:cs typeface="Arial" pitchFamily="34" charset="-120"/>
              </a:rPr>
              <a:t>Officer dashboard</a:t>
            </a:r>
            <a:endParaRPr lang="en-US" sz="850" dirty="0"/>
          </a:p>
        </p:txBody>
      </p:sp>
      <p:sp>
        <p:nvSpPr>
          <p:cNvPr id="26" name="Text 20">
            <a:hlinkClick r:id="rId5" tooltip=""/>
          </p:cNvPr>
          <p:cNvSpPr txBox="1"/>
          <p:nvPr/>
        </p:nvSpPr>
        <p:spPr>
          <a:xfrm>
            <a:off x="2377440" y="5065776"/>
            <a:ext cx="3886200" cy="237744"/>
          </a:xfrm>
          <a:prstGeom prst="rect">
            <a:avLst/>
          </a:prstGeom>
          <a:noFill/>
          <a:ln/>
        </p:spPr>
        <p:txBody>
          <a:bodyPr wrap="square" lIns="0" tIns="0" rIns="0" bIns="0" rtlCol="0" anchor="t">
            <a:normAutofit/>
          </a:bodyPr>
          <a:lstStyle/>
          <a:p>
            <a:pPr indent="0" marL="0">
              <a:buNone/>
            </a:pPr>
            <a:r>
              <a:rPr lang="en-US" sz="850" u="sng" dirty="0">
                <a:solidFill>
                  <a:srgbClr val="FFFFFF"/>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civic-demand-network-officer-dashboard-847963771142.asia-south1.run.app</a:t>
            </a:r>
            <a:endParaRPr lang="en-US" sz="850" dirty="0"/>
          </a:p>
        </p:txBody>
      </p:sp>
      <p:sp>
        <p:nvSpPr>
          <p:cNvPr id="27" name="Text 21"/>
          <p:cNvSpPr txBox="1"/>
          <p:nvPr/>
        </p:nvSpPr>
        <p:spPr>
          <a:xfrm>
            <a:off x="896112" y="5358384"/>
            <a:ext cx="1463040" cy="237744"/>
          </a:xfrm>
          <a:prstGeom prst="rect">
            <a:avLst/>
          </a:prstGeom>
          <a:noFill/>
          <a:ln/>
        </p:spPr>
        <p:txBody>
          <a:bodyPr wrap="square" lIns="0" tIns="0" rIns="0" bIns="0" rtlCol="0" anchor="t">
            <a:normAutofit/>
          </a:bodyPr>
          <a:lstStyle/>
          <a:p>
            <a:pPr indent="0" marL="0">
              <a:buNone/>
            </a:pPr>
            <a:r>
              <a:rPr lang="en-US" sz="850" b="1" dirty="0">
                <a:solidFill>
                  <a:srgbClr val="F3CB7A"/>
                </a:solidFill>
                <a:latin typeface="Arial" pitchFamily="34" charset="0"/>
                <a:ea typeface="Arial" pitchFamily="34" charset="-122"/>
                <a:cs typeface="Arial" pitchFamily="34" charset="-120"/>
              </a:rPr>
              <a:t>API (OpenAPI)</a:t>
            </a:r>
            <a:endParaRPr lang="en-US" sz="850" dirty="0"/>
          </a:p>
        </p:txBody>
      </p:sp>
      <p:sp>
        <p:nvSpPr>
          <p:cNvPr id="28" name="Text 22">
            <a:hlinkClick r:id="rId6" tooltip=""/>
          </p:cNvPr>
          <p:cNvSpPr txBox="1"/>
          <p:nvPr/>
        </p:nvSpPr>
        <p:spPr>
          <a:xfrm>
            <a:off x="2377440" y="5358384"/>
            <a:ext cx="3886200" cy="237744"/>
          </a:xfrm>
          <a:prstGeom prst="rect">
            <a:avLst/>
          </a:prstGeom>
          <a:noFill/>
          <a:ln/>
        </p:spPr>
        <p:txBody>
          <a:bodyPr wrap="square" lIns="0" tIns="0" rIns="0" bIns="0" rtlCol="0" anchor="t">
            <a:normAutofit/>
          </a:bodyPr>
          <a:lstStyle/>
          <a:p>
            <a:pPr indent="0" marL="0">
              <a:buNone/>
            </a:pPr>
            <a:r>
              <a:rPr lang="en-US" sz="850" u="sng" dirty="0">
                <a:solidFill>
                  <a:srgbClr val="FFFFFF"/>
                </a:solidFill>
                <a:latin typeface="Arial" pitchFamily="34" charset="0"/>
                <a:ea typeface="Arial" pitchFamily="34" charset="-122"/>
                <a:cs typeface="Arial" pitchFamily="34" charset="-120"/>
                <a:hlinkClick r:id="rId6" invalidUrl="" action="" tgtFrame="" tooltip="" history="1" highlightClick="0" endSnd="0">
                  <a:extLst>
                    <a:ext uri="{A12FA001-AC4F-418D-AE19-62706E023703}">
                      <ahyp:hlinkClr xmlns:ahyp="http://schemas.microsoft.com/office/drawing/2018/hyperlinkcolor" val="tx"/>
                    </a:ext>
                  </a:extLst>
                </a:hlinkClick>
              </a:rPr>
              <a:t>civic-demand-network-api-847963771142.asia-south1.run.app/docs</a:t>
            </a:r>
            <a:endParaRPr lang="en-US" sz="850" dirty="0"/>
          </a:p>
        </p:txBody>
      </p:sp>
      <p:sp>
        <p:nvSpPr>
          <p:cNvPr id="29" name="Text 23"/>
          <p:cNvSpPr txBox="1"/>
          <p:nvPr/>
        </p:nvSpPr>
        <p:spPr>
          <a:xfrm>
            <a:off x="896112" y="5650992"/>
            <a:ext cx="1463040" cy="237744"/>
          </a:xfrm>
          <a:prstGeom prst="rect">
            <a:avLst/>
          </a:prstGeom>
          <a:noFill/>
          <a:ln/>
        </p:spPr>
        <p:txBody>
          <a:bodyPr wrap="square" lIns="0" tIns="0" rIns="0" bIns="0" rtlCol="0" anchor="t">
            <a:normAutofit/>
          </a:bodyPr>
          <a:lstStyle/>
          <a:p>
            <a:pPr indent="0" marL="0">
              <a:buNone/>
            </a:pPr>
            <a:r>
              <a:rPr lang="en-US" sz="850" b="1" dirty="0">
                <a:solidFill>
                  <a:srgbClr val="F3CB7A"/>
                </a:solidFill>
                <a:latin typeface="Arial" pitchFamily="34" charset="0"/>
                <a:ea typeface="Arial" pitchFamily="34" charset="-122"/>
                <a:cs typeface="Arial" pitchFamily="34" charset="-120"/>
              </a:rPr>
              <a:t>Source</a:t>
            </a:r>
            <a:endParaRPr lang="en-US" sz="850" dirty="0"/>
          </a:p>
        </p:txBody>
      </p:sp>
      <p:sp>
        <p:nvSpPr>
          <p:cNvPr id="30" name="Text 24">
            <a:hlinkClick r:id="rId7" tooltip=""/>
          </p:cNvPr>
          <p:cNvSpPr txBox="1"/>
          <p:nvPr/>
        </p:nvSpPr>
        <p:spPr>
          <a:xfrm>
            <a:off x="2377440" y="5650992"/>
            <a:ext cx="3886200" cy="237744"/>
          </a:xfrm>
          <a:prstGeom prst="rect">
            <a:avLst/>
          </a:prstGeom>
          <a:noFill/>
          <a:ln/>
        </p:spPr>
        <p:txBody>
          <a:bodyPr wrap="square" lIns="0" tIns="0" rIns="0" bIns="0" rtlCol="0" anchor="t">
            <a:normAutofit/>
          </a:bodyPr>
          <a:lstStyle/>
          <a:p>
            <a:pPr indent="0" marL="0">
              <a:buNone/>
            </a:pPr>
            <a:r>
              <a:rPr lang="en-US" sz="850" u="sng" dirty="0">
                <a:solidFill>
                  <a:srgbClr val="FFFFFF"/>
                </a:solidFill>
                <a:latin typeface="Arial" pitchFamily="34" charset="0"/>
                <a:ea typeface="Arial" pitchFamily="34" charset="-122"/>
                <a:cs typeface="Arial" pitchFamily="34" charset="-120"/>
                <a:hlinkClick r:id="rId7" invalidUrl="" action="" tgtFrame="" tooltip="" history="1" highlightClick="0" endSnd="0">
                  <a:extLst>
                    <a:ext uri="{A12FA001-AC4F-418D-AE19-62706E023703}">
                      <ahyp:hlinkClr xmlns:ahyp="http://schemas.microsoft.com/office/drawing/2018/hyperlinkcolor" val="tx"/>
                    </a:ext>
                  </a:extLst>
                </a:hlinkClick>
              </a:rPr>
              <a:t>github.com/ipavanreddy/civic-demand-network</a:t>
            </a:r>
            <a:endParaRPr lang="en-US" sz="850" dirty="0"/>
          </a:p>
        </p:txBody>
      </p:sp>
      <p:sp>
        <p:nvSpPr>
          <p:cNvPr id="31" name="Text 25"/>
          <p:cNvSpPr txBox="1"/>
          <p:nvPr/>
        </p:nvSpPr>
        <p:spPr>
          <a:xfrm>
            <a:off x="6720840" y="1700784"/>
            <a:ext cx="4572000" cy="182880"/>
          </a:xfrm>
          <a:prstGeom prst="rect">
            <a:avLst/>
          </a:prstGeom>
          <a:noFill/>
          <a:ln/>
        </p:spPr>
        <p:txBody>
          <a:bodyPr wrap="square" lIns="0" tIns="0" rIns="0" bIns="0" rtlCol="0" anchor="t"/>
          <a:lstStyle/>
          <a:p>
            <a:pPr indent="0" marL="0">
              <a:buNone/>
            </a:pPr>
            <a:r>
              <a:rPr lang="en-US" sz="850" b="1" spc="200" kern="0" dirty="0">
                <a:solidFill>
                  <a:srgbClr val="12796D"/>
                </a:solidFill>
                <a:latin typeface="Arial" pitchFamily="34" charset="0"/>
                <a:ea typeface="Arial" pitchFamily="34" charset="-122"/>
                <a:cs typeface="Arial" pitchFamily="34" charset="-120"/>
              </a:rPr>
              <a:t>EVALUATION ALIGNMENT</a:t>
            </a:r>
            <a:endParaRPr lang="en-US" sz="850" dirty="0"/>
          </a:p>
        </p:txBody>
      </p:sp>
      <p:sp>
        <p:nvSpPr>
          <p:cNvPr id="32" name="Shape 26"/>
          <p:cNvSpPr/>
          <p:nvPr/>
        </p:nvSpPr>
        <p:spPr>
          <a:xfrm>
            <a:off x="6702552" y="2011680"/>
            <a:ext cx="4892040" cy="676656"/>
          </a:xfrm>
          <a:prstGeom prst="roundRect">
            <a:avLst>
              <a:gd name="adj" fmla="val 10811"/>
            </a:avLst>
          </a:prstGeom>
          <a:solidFill>
            <a:srgbClr val="DCEEE8"/>
          </a:solidFill>
          <a:ln w="9525">
            <a:solidFill>
              <a:srgbClr val="12796D"/>
            </a:solidFill>
            <a:prstDash val="solid"/>
          </a:ln>
        </p:spPr>
      </p:sp>
      <p:sp>
        <p:nvSpPr>
          <p:cNvPr id="33" name="Text 27"/>
          <p:cNvSpPr txBox="1"/>
          <p:nvPr/>
        </p:nvSpPr>
        <p:spPr>
          <a:xfrm>
            <a:off x="6839712" y="2121408"/>
            <a:ext cx="731520" cy="457200"/>
          </a:xfrm>
          <a:prstGeom prst="rect">
            <a:avLst/>
          </a:prstGeom>
          <a:noFill/>
          <a:ln/>
        </p:spPr>
        <p:txBody>
          <a:bodyPr wrap="square" lIns="0" tIns="0" rIns="0" bIns="0" rtlCol="0" anchor="ctr">
            <a:normAutofit/>
          </a:bodyPr>
          <a:lstStyle/>
          <a:p>
            <a:pPr algn="ctr" indent="0" marL="0">
              <a:buNone/>
            </a:pPr>
            <a:r>
              <a:rPr lang="en-US" sz="1700" b="1" dirty="0">
                <a:solidFill>
                  <a:srgbClr val="E8694A"/>
                </a:solidFill>
                <a:latin typeface="Arial" pitchFamily="34" charset="0"/>
                <a:ea typeface="Arial" pitchFamily="34" charset="-122"/>
                <a:cs typeface="Arial" pitchFamily="34" charset="-120"/>
              </a:rPr>
              <a:t>25%</a:t>
            </a:r>
            <a:endParaRPr lang="en-US" sz="1700" dirty="0"/>
          </a:p>
        </p:txBody>
      </p:sp>
      <p:sp>
        <p:nvSpPr>
          <p:cNvPr id="34" name="Text 28"/>
          <p:cNvSpPr txBox="1"/>
          <p:nvPr/>
        </p:nvSpPr>
        <p:spPr>
          <a:xfrm>
            <a:off x="7680960" y="2103120"/>
            <a:ext cx="3749040" cy="182880"/>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AI / TECHNICAL EXECUTION</a:t>
            </a:r>
            <a:endParaRPr lang="en-US" sz="850" dirty="0"/>
          </a:p>
        </p:txBody>
      </p:sp>
      <p:sp>
        <p:nvSpPr>
          <p:cNvPr id="35" name="Text 29"/>
          <p:cNvSpPr txBox="1"/>
          <p:nvPr/>
        </p:nvSpPr>
        <p:spPr>
          <a:xfrm>
            <a:off x="7680960" y="2304288"/>
            <a:ext cx="3794760" cy="329184"/>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Gemini JSON + embeddings, Speech/Translation/TTS, number check</a:t>
            </a:r>
            <a:endParaRPr lang="en-US" sz="850" dirty="0"/>
          </a:p>
        </p:txBody>
      </p:sp>
      <p:sp>
        <p:nvSpPr>
          <p:cNvPr id="36" name="Shape 30"/>
          <p:cNvSpPr/>
          <p:nvPr/>
        </p:nvSpPr>
        <p:spPr>
          <a:xfrm>
            <a:off x="6702552" y="2816352"/>
            <a:ext cx="4892040" cy="676656"/>
          </a:xfrm>
          <a:prstGeom prst="roundRect">
            <a:avLst>
              <a:gd name="adj" fmla="val 10811"/>
            </a:avLst>
          </a:prstGeom>
          <a:solidFill>
            <a:srgbClr val="FFFDF7"/>
          </a:solidFill>
          <a:ln w="9525">
            <a:solidFill>
              <a:srgbClr val="DCD5C5"/>
            </a:solidFill>
            <a:prstDash val="solid"/>
          </a:ln>
        </p:spPr>
      </p:sp>
      <p:sp>
        <p:nvSpPr>
          <p:cNvPr id="37" name="Text 31"/>
          <p:cNvSpPr txBox="1"/>
          <p:nvPr/>
        </p:nvSpPr>
        <p:spPr>
          <a:xfrm>
            <a:off x="6839712" y="2926080"/>
            <a:ext cx="731520" cy="457200"/>
          </a:xfrm>
          <a:prstGeom prst="rect">
            <a:avLst/>
          </a:prstGeom>
          <a:noFill/>
          <a:ln/>
        </p:spPr>
        <p:txBody>
          <a:bodyPr wrap="square" lIns="0" tIns="0" rIns="0" bIns="0" rtlCol="0" anchor="ctr">
            <a:normAutofit/>
          </a:bodyPr>
          <a:lstStyle/>
          <a:p>
            <a:pPr algn="ctr" indent="0" marL="0">
              <a:buNone/>
            </a:pPr>
            <a:r>
              <a:rPr lang="en-US" sz="1700" b="1" dirty="0">
                <a:solidFill>
                  <a:srgbClr val="E8694A"/>
                </a:solidFill>
                <a:latin typeface="Arial" pitchFamily="34" charset="0"/>
                <a:ea typeface="Arial" pitchFamily="34" charset="-122"/>
                <a:cs typeface="Arial" pitchFamily="34" charset="-120"/>
              </a:rPr>
              <a:t>20%</a:t>
            </a:r>
            <a:endParaRPr lang="en-US" sz="1700" dirty="0"/>
          </a:p>
        </p:txBody>
      </p:sp>
      <p:sp>
        <p:nvSpPr>
          <p:cNvPr id="38" name="Text 32"/>
          <p:cNvSpPr txBox="1"/>
          <p:nvPr/>
        </p:nvSpPr>
        <p:spPr>
          <a:xfrm>
            <a:off x="7680960" y="2907792"/>
            <a:ext cx="3749040" cy="182880"/>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PROBLEM-SOLUTION FIT</a:t>
            </a:r>
            <a:endParaRPr lang="en-US" sz="850" dirty="0"/>
          </a:p>
        </p:txBody>
      </p:sp>
      <p:sp>
        <p:nvSpPr>
          <p:cNvPr id="39" name="Text 33"/>
          <p:cNvSpPr txBox="1"/>
          <p:nvPr/>
        </p:nvSpPr>
        <p:spPr>
          <a:xfrm>
            <a:off x="7680960" y="3108960"/>
            <a:ext cx="3794760" cy="329184"/>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One journey: voice note → officer decision → citizen status</a:t>
            </a:r>
            <a:endParaRPr lang="en-US" sz="850" dirty="0"/>
          </a:p>
        </p:txBody>
      </p:sp>
      <p:sp>
        <p:nvSpPr>
          <p:cNvPr id="40" name="Shape 34"/>
          <p:cNvSpPr/>
          <p:nvPr/>
        </p:nvSpPr>
        <p:spPr>
          <a:xfrm>
            <a:off x="6702552" y="3621024"/>
            <a:ext cx="4892040" cy="676656"/>
          </a:xfrm>
          <a:prstGeom prst="roundRect">
            <a:avLst>
              <a:gd name="adj" fmla="val 10811"/>
            </a:avLst>
          </a:prstGeom>
          <a:solidFill>
            <a:srgbClr val="FFFDF7"/>
          </a:solidFill>
          <a:ln w="9525">
            <a:solidFill>
              <a:srgbClr val="DCD5C5"/>
            </a:solidFill>
            <a:prstDash val="solid"/>
          </a:ln>
        </p:spPr>
      </p:sp>
      <p:sp>
        <p:nvSpPr>
          <p:cNvPr id="41" name="Text 35"/>
          <p:cNvSpPr txBox="1"/>
          <p:nvPr/>
        </p:nvSpPr>
        <p:spPr>
          <a:xfrm>
            <a:off x="6839712" y="3730752"/>
            <a:ext cx="731520" cy="457200"/>
          </a:xfrm>
          <a:prstGeom prst="rect">
            <a:avLst/>
          </a:prstGeom>
          <a:noFill/>
          <a:ln/>
        </p:spPr>
        <p:txBody>
          <a:bodyPr wrap="square" lIns="0" tIns="0" rIns="0" bIns="0" rtlCol="0" anchor="ctr">
            <a:normAutofit/>
          </a:bodyPr>
          <a:lstStyle/>
          <a:p>
            <a:pPr algn="ctr" indent="0" marL="0">
              <a:buNone/>
            </a:pPr>
            <a:r>
              <a:rPr lang="en-US" sz="1700" b="1" dirty="0">
                <a:solidFill>
                  <a:srgbClr val="E8694A"/>
                </a:solidFill>
                <a:latin typeface="Arial" pitchFamily="34" charset="0"/>
                <a:ea typeface="Arial" pitchFamily="34" charset="-122"/>
                <a:cs typeface="Arial" pitchFamily="34" charset="-120"/>
              </a:rPr>
              <a:t>20%</a:t>
            </a:r>
            <a:endParaRPr lang="en-US" sz="1700" dirty="0"/>
          </a:p>
        </p:txBody>
      </p:sp>
      <p:sp>
        <p:nvSpPr>
          <p:cNvPr id="42" name="Text 36"/>
          <p:cNvSpPr txBox="1"/>
          <p:nvPr/>
        </p:nvSpPr>
        <p:spPr>
          <a:xfrm>
            <a:off x="7680960" y="3712464"/>
            <a:ext cx="3749040" cy="182880"/>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DEPTH &amp; REACH ACROSS INDIA</a:t>
            </a:r>
            <a:endParaRPr lang="en-US" sz="850" dirty="0"/>
          </a:p>
        </p:txBody>
      </p:sp>
      <p:sp>
        <p:nvSpPr>
          <p:cNvPr id="43" name="Text 37"/>
          <p:cNvSpPr txBox="1"/>
          <p:nvPr/>
        </p:nvSpPr>
        <p:spPr>
          <a:xfrm>
            <a:off x="7680960" y="3913632"/>
            <a:ext cx="3794760" cy="329184"/>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HI/TE/EN • web, voice, chat • Bihar, AP, Maharashtra adapters</a:t>
            </a:r>
            <a:endParaRPr lang="en-US" sz="850" dirty="0"/>
          </a:p>
        </p:txBody>
      </p:sp>
      <p:sp>
        <p:nvSpPr>
          <p:cNvPr id="44" name="Shape 38"/>
          <p:cNvSpPr/>
          <p:nvPr/>
        </p:nvSpPr>
        <p:spPr>
          <a:xfrm>
            <a:off x="6702552" y="4425696"/>
            <a:ext cx="4892040" cy="676656"/>
          </a:xfrm>
          <a:prstGeom prst="roundRect">
            <a:avLst>
              <a:gd name="adj" fmla="val 10811"/>
            </a:avLst>
          </a:prstGeom>
          <a:solidFill>
            <a:srgbClr val="FFFDF7"/>
          </a:solidFill>
          <a:ln w="9525">
            <a:solidFill>
              <a:srgbClr val="DCD5C5"/>
            </a:solidFill>
            <a:prstDash val="solid"/>
          </a:ln>
        </p:spPr>
      </p:sp>
      <p:sp>
        <p:nvSpPr>
          <p:cNvPr id="45" name="Text 39"/>
          <p:cNvSpPr txBox="1"/>
          <p:nvPr/>
        </p:nvSpPr>
        <p:spPr>
          <a:xfrm>
            <a:off x="6839712" y="4535424"/>
            <a:ext cx="731520" cy="457200"/>
          </a:xfrm>
          <a:prstGeom prst="rect">
            <a:avLst/>
          </a:prstGeom>
          <a:noFill/>
          <a:ln/>
        </p:spPr>
        <p:txBody>
          <a:bodyPr wrap="square" lIns="0" tIns="0" rIns="0" bIns="0" rtlCol="0" anchor="ctr">
            <a:normAutofit/>
          </a:bodyPr>
          <a:lstStyle/>
          <a:p>
            <a:pPr algn="ctr" indent="0" marL="0">
              <a:buNone/>
            </a:pPr>
            <a:r>
              <a:rPr lang="en-US" sz="1700" b="1" dirty="0">
                <a:solidFill>
                  <a:srgbClr val="E8694A"/>
                </a:solidFill>
                <a:latin typeface="Arial" pitchFamily="34" charset="0"/>
                <a:ea typeface="Arial" pitchFamily="34" charset="-122"/>
                <a:cs typeface="Arial" pitchFamily="34" charset="-120"/>
              </a:rPr>
              <a:t>20%</a:t>
            </a:r>
            <a:endParaRPr lang="en-US" sz="1700" dirty="0"/>
          </a:p>
        </p:txBody>
      </p:sp>
      <p:sp>
        <p:nvSpPr>
          <p:cNvPr id="46" name="Text 40"/>
          <p:cNvSpPr txBox="1"/>
          <p:nvPr/>
        </p:nvSpPr>
        <p:spPr>
          <a:xfrm>
            <a:off x="7680960" y="4517136"/>
            <a:ext cx="3749040" cy="182880"/>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DEPLOYABILITY &amp; SCALABILITY</a:t>
            </a:r>
            <a:endParaRPr lang="en-US" sz="850" dirty="0"/>
          </a:p>
        </p:txBody>
      </p:sp>
      <p:sp>
        <p:nvSpPr>
          <p:cNvPr id="47" name="Text 41"/>
          <p:cNvSpPr txBox="1"/>
          <p:nvPr/>
        </p:nvSpPr>
        <p:spPr>
          <a:xfrm>
            <a:off x="7680960" y="4718304"/>
            <a:ext cx="3794760" cy="329184"/>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Cloud Run, Secret Manager, BigQuery sink; state = config</a:t>
            </a:r>
            <a:endParaRPr lang="en-US" sz="850" dirty="0"/>
          </a:p>
        </p:txBody>
      </p:sp>
      <p:sp>
        <p:nvSpPr>
          <p:cNvPr id="48" name="Shape 42"/>
          <p:cNvSpPr/>
          <p:nvPr/>
        </p:nvSpPr>
        <p:spPr>
          <a:xfrm>
            <a:off x="6702552" y="5230368"/>
            <a:ext cx="4892040" cy="676656"/>
          </a:xfrm>
          <a:prstGeom prst="roundRect">
            <a:avLst>
              <a:gd name="adj" fmla="val 10811"/>
            </a:avLst>
          </a:prstGeom>
          <a:solidFill>
            <a:srgbClr val="FFFDF7"/>
          </a:solidFill>
          <a:ln w="9525">
            <a:solidFill>
              <a:srgbClr val="DCD5C5"/>
            </a:solidFill>
            <a:prstDash val="solid"/>
          </a:ln>
        </p:spPr>
      </p:sp>
      <p:sp>
        <p:nvSpPr>
          <p:cNvPr id="49" name="Text 43"/>
          <p:cNvSpPr txBox="1"/>
          <p:nvPr/>
        </p:nvSpPr>
        <p:spPr>
          <a:xfrm>
            <a:off x="6839712" y="5340096"/>
            <a:ext cx="731520" cy="457200"/>
          </a:xfrm>
          <a:prstGeom prst="rect">
            <a:avLst/>
          </a:prstGeom>
          <a:noFill/>
          <a:ln/>
        </p:spPr>
        <p:txBody>
          <a:bodyPr wrap="square" lIns="0" tIns="0" rIns="0" bIns="0" rtlCol="0" anchor="ctr">
            <a:normAutofit/>
          </a:bodyPr>
          <a:lstStyle/>
          <a:p>
            <a:pPr algn="ctr" indent="0" marL="0">
              <a:buNone/>
            </a:pPr>
            <a:r>
              <a:rPr lang="en-US" sz="1700" b="1" dirty="0">
                <a:solidFill>
                  <a:srgbClr val="E8694A"/>
                </a:solidFill>
                <a:latin typeface="Arial" pitchFamily="34" charset="0"/>
                <a:ea typeface="Arial" pitchFamily="34" charset="-122"/>
                <a:cs typeface="Arial" pitchFamily="34" charset="-120"/>
              </a:rPr>
              <a:t>15%</a:t>
            </a:r>
            <a:endParaRPr lang="en-US" sz="1700" dirty="0"/>
          </a:p>
        </p:txBody>
      </p:sp>
      <p:sp>
        <p:nvSpPr>
          <p:cNvPr id="50" name="Text 44"/>
          <p:cNvSpPr txBox="1"/>
          <p:nvPr/>
        </p:nvSpPr>
        <p:spPr>
          <a:xfrm>
            <a:off x="7680960" y="5321808"/>
            <a:ext cx="3749040" cy="182880"/>
          </a:xfrm>
          <a:prstGeom prst="rect">
            <a:avLst/>
          </a:prstGeom>
          <a:noFill/>
          <a:ln/>
        </p:spPr>
        <p:txBody>
          <a:bodyPr wrap="square" lIns="0" tIns="0" rIns="0" bIns="0" rtlCol="0" anchor="t">
            <a:normAutofit/>
          </a:bodyPr>
          <a:lstStyle/>
          <a:p>
            <a:pPr indent="0" marL="0">
              <a:buNone/>
            </a:pPr>
            <a:r>
              <a:rPr lang="en-US" sz="850" b="1" dirty="0">
                <a:solidFill>
                  <a:srgbClr val="1B3149"/>
                </a:solidFill>
                <a:latin typeface="Arial" pitchFamily="34" charset="0"/>
                <a:ea typeface="Arial" pitchFamily="34" charset="-122"/>
                <a:cs typeface="Arial" pitchFamily="34" charset="-120"/>
              </a:rPr>
              <a:t>IMPACT POTENTIAL</a:t>
            </a:r>
            <a:endParaRPr lang="en-US" sz="850" dirty="0"/>
          </a:p>
        </p:txBody>
      </p:sp>
      <p:sp>
        <p:nvSpPr>
          <p:cNvPr id="51" name="Text 45"/>
          <p:cNvSpPr txBox="1"/>
          <p:nvPr/>
        </p:nvSpPr>
        <p:spPr>
          <a:xfrm>
            <a:off x="7680960" y="5522976"/>
            <a:ext cx="3794760" cy="329184"/>
          </a:xfrm>
          <a:prstGeom prst="rect">
            <a:avLst/>
          </a:prstGeom>
          <a:noFill/>
          <a:ln/>
        </p:spPr>
        <p:txBody>
          <a:bodyPr wrap="square" lIns="0" tIns="0" rIns="0" bIns="0" rtlCol="0" anchor="t">
            <a:normAutofit/>
          </a:bodyPr>
          <a:lstStyle/>
          <a:p>
            <a:pPr indent="0" marL="0">
              <a:buNone/>
            </a:pPr>
            <a:r>
              <a:rPr lang="en-US" sz="850" dirty="0">
                <a:solidFill>
                  <a:srgbClr val="1B3149"/>
                </a:solidFill>
                <a:latin typeface="Arial" pitchFamily="34" charset="0"/>
                <a:ea typeface="Arial" pitchFamily="34" charset="-122"/>
                <a:cs typeface="Arial" pitchFamily="34" charset="-120"/>
              </a:rPr>
              <a:t>Per-capita demand, vulnerability weight, investment subtracted</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APPENDIX — REFERENCES</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civic-demand-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Challenge evidence &amp; government sources</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Numbered references correspond to citations in the core proposal.</a:t>
            </a:r>
            <a:endParaRPr lang="en-US" sz="1200" dirty="0"/>
          </a:p>
        </p:txBody>
      </p:sp>
      <p:sp>
        <p:nvSpPr>
          <p:cNvPr id="9" name="Shape 6"/>
          <p:cNvSpPr/>
          <p:nvPr/>
        </p:nvSpPr>
        <p:spPr>
          <a:xfrm>
            <a:off x="585216" y="6528816"/>
            <a:ext cx="11021263" cy="0"/>
          </a:xfrm>
          <a:prstGeom prst="line">
            <a:avLst/>
          </a:prstGeom>
          <a:noFill/>
          <a:ln w="9525">
            <a:solidFill>
              <a:srgbClr val="DCD5C5"/>
            </a:solidFill>
            <a:prstDash val="solid"/>
          </a:ln>
        </p:spPr>
      </p:sp>
      <p:sp>
        <p:nvSpPr>
          <p:cNvPr id="10" name="Text 7"/>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JANVAANI</a:t>
            </a:r>
            <a:endParaRPr lang="en-US" sz="650" dirty="0"/>
          </a:p>
        </p:txBody>
      </p:sp>
      <p:sp>
        <p:nvSpPr>
          <p:cNvPr id="11" name="Text 8"/>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2" name="Text 9"/>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12</a:t>
            </a:r>
            <a:endParaRPr lang="en-US" sz="650" dirty="0"/>
          </a:p>
        </p:txBody>
      </p:sp>
      <p:sp>
        <p:nvSpPr>
          <p:cNvPr id="14" name="Shape 10"/>
          <p:cNvSpPr/>
          <p:nvPr/>
        </p:nvSpPr>
        <p:spPr>
          <a:xfrm>
            <a:off x="640080" y="1700784"/>
            <a:ext cx="10972800" cy="932688"/>
          </a:xfrm>
          <a:prstGeom prst="roundRect">
            <a:avLst>
              <a:gd name="adj" fmla="val 7843"/>
            </a:avLst>
          </a:prstGeom>
          <a:solidFill>
            <a:srgbClr val="FFFDF7"/>
          </a:solidFill>
          <a:ln w="9525">
            <a:solidFill>
              <a:srgbClr val="DCD5C5"/>
            </a:solidFill>
            <a:prstDash val="solid"/>
          </a:ln>
        </p:spPr>
      </p:sp>
      <p:sp>
        <p:nvSpPr>
          <p:cNvPr id="15" name="Text 11"/>
          <p:cNvSpPr txBox="1"/>
          <p:nvPr/>
        </p:nvSpPr>
        <p:spPr>
          <a:xfrm>
            <a:off x="841248" y="1956816"/>
            <a:ext cx="502920" cy="228600"/>
          </a:xfrm>
          <a:prstGeom prst="rect">
            <a:avLst/>
          </a:prstGeom>
          <a:noFill/>
          <a:ln/>
        </p:spPr>
        <p:txBody>
          <a:bodyPr wrap="square" lIns="0" tIns="0" rIns="0" bIns="0" rtlCol="0" anchor="t"/>
          <a:lstStyle/>
          <a:p>
            <a:pPr indent="0" marL="0">
              <a:buNone/>
            </a:pPr>
            <a:r>
              <a:rPr lang="en-US" sz="1300" b="1" dirty="0">
                <a:solidFill>
                  <a:srgbClr val="E8694A"/>
                </a:solidFill>
                <a:latin typeface="Arial" pitchFamily="34" charset="0"/>
                <a:ea typeface="Arial" pitchFamily="34" charset="-122"/>
                <a:cs typeface="Arial" pitchFamily="34" charset="-120"/>
              </a:rPr>
              <a:t>[1]</a:t>
            </a:r>
            <a:endParaRPr lang="en-US" sz="1300" dirty="0"/>
          </a:p>
        </p:txBody>
      </p:sp>
      <p:sp>
        <p:nvSpPr>
          <p:cNvPr id="16" name="Text 12"/>
          <p:cNvSpPr txBox="1"/>
          <p:nvPr/>
        </p:nvSpPr>
        <p:spPr>
          <a:xfrm>
            <a:off x="1389888" y="1920240"/>
            <a:ext cx="2834640" cy="41148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JanVaani PRD &amp; submission pack</a:t>
            </a:r>
            <a:endParaRPr lang="en-US" sz="1300" dirty="0"/>
          </a:p>
        </p:txBody>
      </p:sp>
      <p:sp>
        <p:nvSpPr>
          <p:cNvPr id="17" name="Text 13"/>
          <p:cNvSpPr txBox="1"/>
          <p:nvPr/>
        </p:nvSpPr>
        <p:spPr>
          <a:xfrm>
            <a:off x="4297680" y="1901952"/>
            <a:ext cx="5852160" cy="45720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Track 1 challenge framing (PRD §2–3, §43–55) and the live extraction evaluation of 30 Sep 2026 (docs/SUBMISSION.md).</a:t>
            </a:r>
            <a:endParaRPr lang="en-US" sz="1000" dirty="0"/>
          </a:p>
        </p:txBody>
      </p:sp>
      <p:sp>
        <p:nvSpPr>
          <p:cNvPr id="18" name="Text 14"/>
          <p:cNvSpPr txBox="1"/>
          <p:nvPr/>
        </p:nvSpPr>
        <p:spPr>
          <a:xfrm>
            <a:off x="9509760" y="2359152"/>
            <a:ext cx="1920240" cy="164592"/>
          </a:xfrm>
          <a:prstGeom prst="rect">
            <a:avLst/>
          </a:prstGeom>
          <a:noFill/>
          <a:ln/>
        </p:spPr>
        <p:txBody>
          <a:bodyPr wrap="square" lIns="0" tIns="0" rIns="0" bIns="0" rtlCol="0" anchor="t"/>
          <a:lstStyle/>
          <a:p>
            <a:pPr algn="r" indent="0" marL="0">
              <a:buNone/>
            </a:pPr>
            <a:r>
              <a:rPr lang="en-US" sz="750" b="1" dirty="0">
                <a:solidFill>
                  <a:srgbClr val="E8694A"/>
                </a:solidFill>
                <a:latin typeface="Arial" pitchFamily="34" charset="0"/>
                <a:ea typeface="Arial" pitchFamily="34" charset="-122"/>
                <a:cs typeface="Arial" pitchFamily="34" charset="-120"/>
              </a:rPr>
              <a:t>LOCAL EVIDENCE</a:t>
            </a:r>
            <a:endParaRPr lang="en-US" sz="750" dirty="0"/>
          </a:p>
        </p:txBody>
      </p:sp>
      <p:sp>
        <p:nvSpPr>
          <p:cNvPr id="19" name="Shape 15"/>
          <p:cNvSpPr/>
          <p:nvPr/>
        </p:nvSpPr>
        <p:spPr>
          <a:xfrm>
            <a:off x="640080" y="2816352"/>
            <a:ext cx="10972800" cy="932688"/>
          </a:xfrm>
          <a:prstGeom prst="roundRect">
            <a:avLst>
              <a:gd name="adj" fmla="val 7843"/>
            </a:avLst>
          </a:prstGeom>
          <a:solidFill>
            <a:srgbClr val="FFFDF7"/>
          </a:solidFill>
          <a:ln w="9525">
            <a:solidFill>
              <a:srgbClr val="DCD5C5"/>
            </a:solidFill>
            <a:prstDash val="solid"/>
          </a:ln>
        </p:spPr>
      </p:sp>
      <p:sp>
        <p:nvSpPr>
          <p:cNvPr id="20" name="Text 16"/>
          <p:cNvSpPr txBox="1"/>
          <p:nvPr/>
        </p:nvSpPr>
        <p:spPr>
          <a:xfrm>
            <a:off x="841248" y="3072384"/>
            <a:ext cx="502920" cy="228600"/>
          </a:xfrm>
          <a:prstGeom prst="rect">
            <a:avLst/>
          </a:prstGeom>
          <a:noFill/>
          <a:ln/>
        </p:spPr>
        <p:txBody>
          <a:bodyPr wrap="square" lIns="0" tIns="0" rIns="0" bIns="0" rtlCol="0" anchor="t"/>
          <a:lstStyle/>
          <a:p>
            <a:pPr indent="0" marL="0">
              <a:buNone/>
            </a:pPr>
            <a:r>
              <a:rPr lang="en-US" sz="1300" b="1" dirty="0">
                <a:solidFill>
                  <a:srgbClr val="12796D"/>
                </a:solidFill>
                <a:latin typeface="Arial" pitchFamily="34" charset="0"/>
                <a:ea typeface="Arial" pitchFamily="34" charset="-122"/>
                <a:cs typeface="Arial" pitchFamily="34" charset="-120"/>
              </a:rPr>
              <a:t>[2]</a:t>
            </a:r>
            <a:endParaRPr lang="en-US" sz="1300" dirty="0"/>
          </a:p>
        </p:txBody>
      </p:sp>
      <p:sp>
        <p:nvSpPr>
          <p:cNvPr id="21" name="Text 17"/>
          <p:cNvSpPr txBox="1"/>
          <p:nvPr/>
        </p:nvSpPr>
        <p:spPr>
          <a:xfrm>
            <a:off x="1389888" y="3035808"/>
            <a:ext cx="2834640" cy="41148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CPGRAMS</a:t>
            </a:r>
            <a:endParaRPr lang="en-US" sz="1300" dirty="0"/>
          </a:p>
        </p:txBody>
      </p:sp>
      <p:sp>
        <p:nvSpPr>
          <p:cNvPr id="22" name="Text 18"/>
          <p:cNvSpPr txBox="1"/>
          <p:nvPr/>
        </p:nvSpPr>
        <p:spPr>
          <a:xfrm>
            <a:off x="4297680" y="3017520"/>
            <a:ext cx="5852160" cy="45720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Centralized Public Grievance Redress and Monitoring System, DARPG, Government of India.</a:t>
            </a:r>
            <a:endParaRPr lang="en-US" sz="1000" dirty="0"/>
          </a:p>
        </p:txBody>
      </p:sp>
      <p:sp>
        <p:nvSpPr>
          <p:cNvPr id="23" name="Text 19">
            <a:hlinkClick r:id="rId2" tooltip=""/>
          </p:cNvPr>
          <p:cNvSpPr txBox="1"/>
          <p:nvPr/>
        </p:nvSpPr>
        <p:spPr>
          <a:xfrm>
            <a:off x="9509760" y="3474720"/>
            <a:ext cx="1920240" cy="164592"/>
          </a:xfrm>
          <a:prstGeom prst="rect">
            <a:avLst/>
          </a:prstGeom>
          <a:noFill/>
          <a:ln/>
        </p:spPr>
        <p:txBody>
          <a:bodyPr wrap="square" lIns="0" tIns="0" rIns="0" bIns="0" rtlCol="0" anchor="t"/>
          <a:lstStyle/>
          <a:p>
            <a:pPr algn="r" indent="0" marL="0">
              <a:buNone/>
            </a:pPr>
            <a:r>
              <a:rPr lang="en-US" sz="750" b="1" u="sng" dirty="0">
                <a:solidFill>
                  <a:srgbClr val="1565C0"/>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OPEN SOURCE ↗</a:t>
            </a:r>
            <a:endParaRPr lang="en-US" sz="750" dirty="0"/>
          </a:p>
        </p:txBody>
      </p:sp>
      <p:sp>
        <p:nvSpPr>
          <p:cNvPr id="24" name="Shape 20"/>
          <p:cNvSpPr/>
          <p:nvPr/>
        </p:nvSpPr>
        <p:spPr>
          <a:xfrm>
            <a:off x="640080" y="3931920"/>
            <a:ext cx="10972800" cy="932688"/>
          </a:xfrm>
          <a:prstGeom prst="roundRect">
            <a:avLst>
              <a:gd name="adj" fmla="val 7843"/>
            </a:avLst>
          </a:prstGeom>
          <a:solidFill>
            <a:srgbClr val="FFFDF7"/>
          </a:solidFill>
          <a:ln w="9525">
            <a:solidFill>
              <a:srgbClr val="DCD5C5"/>
            </a:solidFill>
            <a:prstDash val="solid"/>
          </a:ln>
        </p:spPr>
      </p:sp>
      <p:sp>
        <p:nvSpPr>
          <p:cNvPr id="25" name="Text 21"/>
          <p:cNvSpPr txBox="1"/>
          <p:nvPr/>
        </p:nvSpPr>
        <p:spPr>
          <a:xfrm>
            <a:off x="841248" y="4187952"/>
            <a:ext cx="502920" cy="228600"/>
          </a:xfrm>
          <a:prstGeom prst="rect">
            <a:avLst/>
          </a:prstGeom>
          <a:noFill/>
          <a:ln/>
        </p:spPr>
        <p:txBody>
          <a:bodyPr wrap="square" lIns="0" tIns="0" rIns="0" bIns="0" rtlCol="0" anchor="t"/>
          <a:lstStyle/>
          <a:p>
            <a:pPr indent="0" marL="0">
              <a:buNone/>
            </a:pPr>
            <a:r>
              <a:rPr lang="en-US" sz="1300" b="1" dirty="0">
                <a:solidFill>
                  <a:srgbClr val="E8694A"/>
                </a:solidFill>
                <a:latin typeface="Arial" pitchFamily="34" charset="0"/>
                <a:ea typeface="Arial" pitchFamily="34" charset="-122"/>
                <a:cs typeface="Arial" pitchFamily="34" charset="-120"/>
              </a:rPr>
              <a:t>[3]</a:t>
            </a:r>
            <a:endParaRPr lang="en-US" sz="1300" dirty="0"/>
          </a:p>
        </p:txBody>
      </p:sp>
      <p:sp>
        <p:nvSpPr>
          <p:cNvPr id="26" name="Text 22"/>
          <p:cNvSpPr txBox="1"/>
          <p:nvPr/>
        </p:nvSpPr>
        <p:spPr>
          <a:xfrm>
            <a:off x="1389888" y="4151376"/>
            <a:ext cx="2834640" cy="41148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Mission Antyodaya</a:t>
            </a:r>
            <a:endParaRPr lang="en-US" sz="1300" dirty="0"/>
          </a:p>
        </p:txBody>
      </p:sp>
      <p:sp>
        <p:nvSpPr>
          <p:cNvPr id="27" name="Text 23"/>
          <p:cNvSpPr txBox="1"/>
          <p:nvPr/>
        </p:nvSpPr>
        <p:spPr>
          <a:xfrm>
            <a:off x="4297680" y="4133088"/>
            <a:ext cx="5852160" cy="45720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Village-level infrastructure-gap survey, Ministry of Rural Development.</a:t>
            </a:r>
            <a:endParaRPr lang="en-US" sz="1000" dirty="0"/>
          </a:p>
        </p:txBody>
      </p:sp>
      <p:sp>
        <p:nvSpPr>
          <p:cNvPr id="28" name="Text 24">
            <a:hlinkClick r:id="rId3" tooltip=""/>
          </p:cNvPr>
          <p:cNvSpPr txBox="1"/>
          <p:nvPr/>
        </p:nvSpPr>
        <p:spPr>
          <a:xfrm>
            <a:off x="9509760" y="4590288"/>
            <a:ext cx="1920240" cy="164592"/>
          </a:xfrm>
          <a:prstGeom prst="rect">
            <a:avLst/>
          </a:prstGeom>
          <a:noFill/>
          <a:ln/>
        </p:spPr>
        <p:txBody>
          <a:bodyPr wrap="square" lIns="0" tIns="0" rIns="0" bIns="0" rtlCol="0" anchor="t"/>
          <a:lstStyle/>
          <a:p>
            <a:pPr algn="r" indent="0" marL="0">
              <a:buNone/>
            </a:pPr>
            <a:r>
              <a:rPr lang="en-US" sz="750" b="1" u="sng" dirty="0">
                <a:solidFill>
                  <a:srgbClr val="1565C0"/>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OPEN SOURCE ↗</a:t>
            </a:r>
            <a:endParaRPr lang="en-US" sz="750" dirty="0"/>
          </a:p>
        </p:txBody>
      </p:sp>
      <p:sp>
        <p:nvSpPr>
          <p:cNvPr id="29" name="Shape 25"/>
          <p:cNvSpPr/>
          <p:nvPr/>
        </p:nvSpPr>
        <p:spPr>
          <a:xfrm>
            <a:off x="640080" y="5047488"/>
            <a:ext cx="10972800" cy="932688"/>
          </a:xfrm>
          <a:prstGeom prst="roundRect">
            <a:avLst>
              <a:gd name="adj" fmla="val 7843"/>
            </a:avLst>
          </a:prstGeom>
          <a:solidFill>
            <a:srgbClr val="FFFDF7"/>
          </a:solidFill>
          <a:ln w="9525">
            <a:solidFill>
              <a:srgbClr val="DCD5C5"/>
            </a:solidFill>
            <a:prstDash val="solid"/>
          </a:ln>
        </p:spPr>
      </p:sp>
      <p:sp>
        <p:nvSpPr>
          <p:cNvPr id="30" name="Text 26"/>
          <p:cNvSpPr txBox="1"/>
          <p:nvPr/>
        </p:nvSpPr>
        <p:spPr>
          <a:xfrm>
            <a:off x="841248" y="5303520"/>
            <a:ext cx="502920" cy="228600"/>
          </a:xfrm>
          <a:prstGeom prst="rect">
            <a:avLst/>
          </a:prstGeom>
          <a:noFill/>
          <a:ln/>
        </p:spPr>
        <p:txBody>
          <a:bodyPr wrap="square" lIns="0" tIns="0" rIns="0" bIns="0" rtlCol="0" anchor="t"/>
          <a:lstStyle/>
          <a:p>
            <a:pPr indent="0" marL="0">
              <a:buNone/>
            </a:pPr>
            <a:r>
              <a:rPr lang="en-US" sz="1300" b="1" dirty="0">
                <a:solidFill>
                  <a:srgbClr val="12796D"/>
                </a:solidFill>
                <a:latin typeface="Arial" pitchFamily="34" charset="0"/>
                <a:ea typeface="Arial" pitchFamily="34" charset="-122"/>
                <a:cs typeface="Arial" pitchFamily="34" charset="-120"/>
              </a:rPr>
              <a:t>[4]</a:t>
            </a:r>
            <a:endParaRPr lang="en-US" sz="1300" dirty="0"/>
          </a:p>
        </p:txBody>
      </p:sp>
      <p:sp>
        <p:nvSpPr>
          <p:cNvPr id="31" name="Text 27"/>
          <p:cNvSpPr txBox="1"/>
          <p:nvPr/>
        </p:nvSpPr>
        <p:spPr>
          <a:xfrm>
            <a:off x="1389888" y="5266944"/>
            <a:ext cx="2834640" cy="41148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e-GramSwaraj (GPDP)</a:t>
            </a:r>
            <a:endParaRPr lang="en-US" sz="1300" dirty="0"/>
          </a:p>
        </p:txBody>
      </p:sp>
      <p:sp>
        <p:nvSpPr>
          <p:cNvPr id="32" name="Text 28"/>
          <p:cNvSpPr txBox="1"/>
          <p:nvPr/>
        </p:nvSpPr>
        <p:spPr>
          <a:xfrm>
            <a:off x="4297680" y="5248656"/>
            <a:ext cx="5852160" cy="45720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Gram Panchayat Development Plan planning and reporting, Ministry of Panchayati Raj.</a:t>
            </a:r>
            <a:endParaRPr lang="en-US" sz="1000" dirty="0"/>
          </a:p>
        </p:txBody>
      </p:sp>
      <p:sp>
        <p:nvSpPr>
          <p:cNvPr id="33" name="Text 29">
            <a:hlinkClick r:id="rId4" tooltip=""/>
          </p:cNvPr>
          <p:cNvSpPr txBox="1"/>
          <p:nvPr/>
        </p:nvSpPr>
        <p:spPr>
          <a:xfrm>
            <a:off x="9509760" y="5705856"/>
            <a:ext cx="1920240" cy="164592"/>
          </a:xfrm>
          <a:prstGeom prst="rect">
            <a:avLst/>
          </a:prstGeom>
          <a:noFill/>
          <a:ln/>
        </p:spPr>
        <p:txBody>
          <a:bodyPr wrap="square" lIns="0" tIns="0" rIns="0" bIns="0" rtlCol="0" anchor="t"/>
          <a:lstStyle/>
          <a:p>
            <a:pPr algn="r" indent="0" marL="0">
              <a:buNone/>
            </a:pPr>
            <a:r>
              <a:rPr lang="en-US" sz="750" b="1" u="sng" dirty="0">
                <a:solidFill>
                  <a:srgbClr val="1565C0"/>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OPEN SOURCE ↗</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1E7"/>
        </a:solidFill>
      </p:bgPr>
    </p:bg>
    <p:spTree>
      <p:nvGrpSpPr>
        <p:cNvPr id="1" name=""/>
        <p:cNvGrpSpPr/>
        <p:nvPr/>
      </p:nvGrpSpPr>
      <p:grpSpPr>
        <a:xfrm>
          <a:off x="0" y="0"/>
          <a:ext cx="0" cy="0"/>
          <a:chOff x="0" y="0"/>
          <a:chExt cx="0" cy="0"/>
        </a:xfrm>
      </p:grpSpPr>
      <p:sp>
        <p:nvSpPr>
          <p:cNvPr id="2" name="Text 0"/>
          <p:cNvSpPr txBox="1"/>
          <p:nvPr/>
        </p:nvSpPr>
        <p:spPr>
          <a:xfrm>
            <a:off x="603504" y="384048"/>
            <a:ext cx="7315200" cy="182880"/>
          </a:xfrm>
          <a:prstGeom prst="rect">
            <a:avLst/>
          </a:prstGeom>
          <a:noFill/>
          <a:ln/>
        </p:spPr>
        <p:txBody>
          <a:bodyPr wrap="square" lIns="0" tIns="0" rIns="0" bIns="0" rtlCol="0" anchor="t"/>
          <a:lstStyle/>
          <a:p>
            <a:pPr indent="0" marL="0">
              <a:buNone/>
            </a:pPr>
            <a:r>
              <a:rPr lang="en-US" sz="900" b="1" spc="200" kern="0" dirty="0">
                <a:solidFill>
                  <a:srgbClr val="12796D"/>
                </a:solidFill>
                <a:latin typeface="Arial" pitchFamily="34" charset="0"/>
                <a:ea typeface="Arial" pitchFamily="34" charset="-122"/>
                <a:cs typeface="Arial" pitchFamily="34" charset="-120"/>
              </a:rPr>
              <a:t>APPENDIX — REFERENCES</a:t>
            </a:r>
            <a:endParaRPr lang="en-US" sz="900" dirty="0"/>
          </a:p>
        </p:txBody>
      </p:sp>
      <p:sp>
        <p:nvSpPr>
          <p:cNvPr id="3" name="Shape 1"/>
          <p:cNvSpPr/>
          <p:nvPr/>
        </p:nvSpPr>
        <p:spPr>
          <a:xfrm>
            <a:off x="9793224" y="201168"/>
            <a:ext cx="1773936" cy="448056"/>
          </a:xfrm>
          <a:prstGeom prst="rect">
            <a:avLst/>
          </a:prstGeom>
          <a:solidFill>
            <a:srgbClr val="2E7D3A"/>
          </a:solidFill>
          <a:ln/>
        </p:spPr>
      </p:sp>
      <p:pic>
        <p:nvPicPr>
          <p:cNvPr id="4" name="Image 0" descr="/Users/pavan/Documents/Code/Build_with_AI/civic-demand-network/docs/pitch/assets/spontom-mark.png">    </p:cNvPr>
          <p:cNvPicPr>
            <a:picLocks noChangeAspect="1"/>
          </p:cNvPicPr>
          <p:nvPr/>
        </p:nvPicPr>
        <p:blipFill>
          <a:blip r:embed="rId1"/>
          <a:stretch>
            <a:fillRect/>
          </a:stretch>
        </p:blipFill>
        <p:spPr>
          <a:xfrm>
            <a:off x="9884664" y="265176"/>
            <a:ext cx="344043" cy="320040"/>
          </a:xfrm>
          <a:prstGeom prst="rect">
            <a:avLst/>
          </a:prstGeom>
        </p:spPr>
      </p:pic>
      <p:sp>
        <p:nvSpPr>
          <p:cNvPr id="5" name="Text 2"/>
          <p:cNvSpPr txBox="1"/>
          <p:nvPr/>
        </p:nvSpPr>
        <p:spPr>
          <a:xfrm>
            <a:off x="10360152" y="310896"/>
            <a:ext cx="1133856" cy="146304"/>
          </a:xfrm>
          <a:prstGeom prst="rect">
            <a:avLst/>
          </a:prstGeom>
          <a:noFill/>
          <a:ln/>
        </p:spPr>
        <p:txBody>
          <a:bodyPr wrap="square" lIns="0" tIns="0" rIns="0" bIns="0" rtlCol="0" anchor="t"/>
          <a:lstStyle/>
          <a:p>
            <a:pPr indent="0" marL="0">
              <a:buNone/>
            </a:pPr>
            <a:r>
              <a:rPr lang="en-US" sz="800" b="1" spc="150" kern="0" dirty="0">
                <a:solidFill>
                  <a:srgbClr val="FFFFFF"/>
                </a:solidFill>
                <a:latin typeface="Arial" pitchFamily="34" charset="0"/>
                <a:ea typeface="Arial" pitchFamily="34" charset="-122"/>
                <a:cs typeface="Arial" pitchFamily="34" charset="-120"/>
              </a:rPr>
              <a:t>SPONTOM</a:t>
            </a:r>
            <a:endParaRPr lang="en-US" sz="800" dirty="0"/>
          </a:p>
        </p:txBody>
      </p:sp>
      <p:sp>
        <p:nvSpPr>
          <p:cNvPr id="6" name="Text 3"/>
          <p:cNvSpPr txBox="1"/>
          <p:nvPr/>
        </p:nvSpPr>
        <p:spPr>
          <a:xfrm>
            <a:off x="10360152" y="466344"/>
            <a:ext cx="1133856" cy="109728"/>
          </a:xfrm>
          <a:prstGeom prst="rect">
            <a:avLst/>
          </a:prstGeom>
          <a:noFill/>
          <a:ln/>
        </p:spPr>
        <p:txBody>
          <a:bodyPr wrap="square" lIns="0" tIns="0" rIns="0" bIns="0" rtlCol="0" anchor="t"/>
          <a:lstStyle/>
          <a:p>
            <a:pPr indent="0" marL="0">
              <a:buNone/>
            </a:pPr>
            <a:r>
              <a:rPr lang="en-US" sz="450" spc="50" kern="0" dirty="0">
                <a:solidFill>
                  <a:srgbClr val="FFFFFF"/>
                </a:solidFill>
                <a:latin typeface="Arial" pitchFamily="34" charset="0"/>
                <a:ea typeface="Arial" pitchFamily="34" charset="-122"/>
                <a:cs typeface="Arial" pitchFamily="34" charset="-120"/>
              </a:rPr>
              <a:t>ENTERPRISE PRIVATE LIMITED</a:t>
            </a:r>
            <a:endParaRPr lang="en-US" sz="450" dirty="0"/>
          </a:p>
        </p:txBody>
      </p:sp>
      <p:sp>
        <p:nvSpPr>
          <p:cNvPr id="7" name="Text 4"/>
          <p:cNvSpPr txBox="1"/>
          <p:nvPr/>
        </p:nvSpPr>
        <p:spPr>
          <a:xfrm>
            <a:off x="603504" y="731520"/>
            <a:ext cx="10881360" cy="502920"/>
          </a:xfrm>
          <a:prstGeom prst="rect">
            <a:avLst/>
          </a:prstGeom>
          <a:noFill/>
          <a:ln/>
        </p:spPr>
        <p:txBody>
          <a:bodyPr wrap="square" lIns="0" tIns="0" rIns="0" bIns="0" rtlCol="0" anchor="t">
            <a:normAutofit/>
          </a:bodyPr>
          <a:lstStyle/>
          <a:p>
            <a:pPr indent="0" marL="0">
              <a:buNone/>
            </a:pPr>
            <a:r>
              <a:rPr lang="en-US" sz="3000" b="1" dirty="0">
                <a:solidFill>
                  <a:srgbClr val="1B3149"/>
                </a:solidFill>
                <a:latin typeface="Arial" pitchFamily="34" charset="0"/>
                <a:ea typeface="Arial" pitchFamily="34" charset="-122"/>
                <a:cs typeface="Arial" pitchFamily="34" charset="-120"/>
              </a:rPr>
              <a:t>Data, AI &amp; governance sources</a:t>
            </a:r>
            <a:endParaRPr lang="en-US" sz="3000" dirty="0"/>
          </a:p>
        </p:txBody>
      </p:sp>
      <p:sp>
        <p:nvSpPr>
          <p:cNvPr id="8" name="Text 5"/>
          <p:cNvSpPr txBox="1"/>
          <p:nvPr/>
        </p:nvSpPr>
        <p:spPr>
          <a:xfrm>
            <a:off x="603504" y="1298448"/>
            <a:ext cx="10881360" cy="22860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Sample data is modelled on these sources; no values are copied (see THIRD_PARTY.md).</a:t>
            </a:r>
            <a:endParaRPr lang="en-US" sz="1200" dirty="0"/>
          </a:p>
        </p:txBody>
      </p:sp>
      <p:sp>
        <p:nvSpPr>
          <p:cNvPr id="9" name="Shape 6"/>
          <p:cNvSpPr/>
          <p:nvPr/>
        </p:nvSpPr>
        <p:spPr>
          <a:xfrm>
            <a:off x="585216" y="6528816"/>
            <a:ext cx="11021263" cy="0"/>
          </a:xfrm>
          <a:prstGeom prst="line">
            <a:avLst/>
          </a:prstGeom>
          <a:noFill/>
          <a:ln w="9525">
            <a:solidFill>
              <a:srgbClr val="DCD5C5"/>
            </a:solidFill>
            <a:prstDash val="solid"/>
          </a:ln>
        </p:spPr>
      </p:sp>
      <p:sp>
        <p:nvSpPr>
          <p:cNvPr id="10" name="Text 7"/>
          <p:cNvSpPr txBox="1"/>
          <p:nvPr/>
        </p:nvSpPr>
        <p:spPr>
          <a:xfrm>
            <a:off x="603504" y="6601968"/>
            <a:ext cx="5486400" cy="128016"/>
          </a:xfrm>
          <a:prstGeom prst="rect">
            <a:avLst/>
          </a:prstGeom>
          <a:noFill/>
          <a:ln/>
        </p:spPr>
        <p:txBody>
          <a:bodyPr wrap="square" lIns="0" tIns="0" rIns="0" bIns="0" rtlCol="0" anchor="t"/>
          <a:lstStyle/>
          <a:p>
            <a:pPr indent="0" marL="0">
              <a:buNone/>
            </a:pPr>
            <a:r>
              <a:rPr lang="en-US" sz="650" spc="150" kern="0" dirty="0">
                <a:solidFill>
                  <a:srgbClr val="8A8A8A"/>
                </a:solidFill>
                <a:latin typeface="Arial" pitchFamily="34" charset="0"/>
                <a:ea typeface="Arial" pitchFamily="34" charset="-122"/>
                <a:cs typeface="Arial" pitchFamily="34" charset="-120"/>
              </a:rPr>
              <a:t>SPONTOM ENTERPRISE PRIVATE LIMITED  •  JANVAANI</a:t>
            </a:r>
            <a:endParaRPr lang="en-US" sz="650" dirty="0"/>
          </a:p>
        </p:txBody>
      </p:sp>
      <p:sp>
        <p:nvSpPr>
          <p:cNvPr id="11" name="Text 8"/>
          <p:cNvSpPr txBox="1"/>
          <p:nvPr/>
        </p:nvSpPr>
        <p:spPr>
          <a:xfrm>
            <a:off x="6858000" y="6601968"/>
            <a:ext cx="4297680" cy="128016"/>
          </a:xfrm>
          <a:prstGeom prst="rect">
            <a:avLst/>
          </a:prstGeom>
          <a:noFill/>
          <a:ln/>
        </p:spPr>
        <p:txBody>
          <a:bodyPr wrap="square" lIns="0" tIns="0" rIns="0" bIns="0" rtlCol="0" anchor="t"/>
          <a:lstStyle/>
          <a:p>
            <a:pPr algn="r" indent="0" marL="0">
              <a:buNone/>
            </a:pPr>
            <a:r>
              <a:rPr lang="en-US" sz="650" spc="150" kern="0" dirty="0">
                <a:solidFill>
                  <a:srgbClr val="8A8A8A"/>
                </a:solidFill>
                <a:latin typeface="Arial" pitchFamily="34" charset="0"/>
                <a:ea typeface="Arial" pitchFamily="34" charset="-122"/>
                <a:cs typeface="Arial" pitchFamily="34" charset="-120"/>
              </a:rPr>
              <a:t>DPIIT RECOGNISED  •  VISAKHAPATNAM</a:t>
            </a:r>
            <a:endParaRPr lang="en-US" sz="650" dirty="0"/>
          </a:p>
        </p:txBody>
      </p:sp>
      <p:sp>
        <p:nvSpPr>
          <p:cNvPr id="12" name="Text 9"/>
          <p:cNvSpPr txBox="1"/>
          <p:nvPr/>
        </p:nvSpPr>
        <p:spPr>
          <a:xfrm>
            <a:off x="11292840" y="6601968"/>
            <a:ext cx="292608" cy="128016"/>
          </a:xfrm>
          <a:prstGeom prst="rect">
            <a:avLst/>
          </a:prstGeom>
          <a:noFill/>
          <a:ln/>
        </p:spPr>
        <p:txBody>
          <a:bodyPr wrap="square" lIns="0" tIns="0" rIns="0" bIns="0" rtlCol="0" anchor="t"/>
          <a:lstStyle/>
          <a:p>
            <a:pPr algn="r" indent="0" marL="0">
              <a:buNone/>
            </a:pPr>
            <a:r>
              <a:rPr lang="en-US" sz="650" dirty="0">
                <a:solidFill>
                  <a:srgbClr val="8A8A8A"/>
                </a:solidFill>
                <a:latin typeface="Arial" pitchFamily="34" charset="0"/>
                <a:ea typeface="Arial" pitchFamily="34" charset="-122"/>
                <a:cs typeface="Arial" pitchFamily="34" charset="-120"/>
              </a:rPr>
              <a:t>13</a:t>
            </a:r>
            <a:endParaRPr lang="en-US" sz="650" dirty="0"/>
          </a:p>
        </p:txBody>
      </p:sp>
      <p:sp>
        <p:nvSpPr>
          <p:cNvPr id="14" name="Shape 10"/>
          <p:cNvSpPr/>
          <p:nvPr/>
        </p:nvSpPr>
        <p:spPr>
          <a:xfrm>
            <a:off x="640080" y="1700784"/>
            <a:ext cx="10972800" cy="932688"/>
          </a:xfrm>
          <a:prstGeom prst="roundRect">
            <a:avLst>
              <a:gd name="adj" fmla="val 7843"/>
            </a:avLst>
          </a:prstGeom>
          <a:solidFill>
            <a:srgbClr val="FFFDF7"/>
          </a:solidFill>
          <a:ln w="9525">
            <a:solidFill>
              <a:srgbClr val="DCD5C5"/>
            </a:solidFill>
            <a:prstDash val="solid"/>
          </a:ln>
        </p:spPr>
      </p:sp>
      <p:sp>
        <p:nvSpPr>
          <p:cNvPr id="15" name="Text 11"/>
          <p:cNvSpPr txBox="1"/>
          <p:nvPr/>
        </p:nvSpPr>
        <p:spPr>
          <a:xfrm>
            <a:off x="841248" y="1956816"/>
            <a:ext cx="502920" cy="228600"/>
          </a:xfrm>
          <a:prstGeom prst="rect">
            <a:avLst/>
          </a:prstGeom>
          <a:noFill/>
          <a:ln/>
        </p:spPr>
        <p:txBody>
          <a:bodyPr wrap="square" lIns="0" tIns="0" rIns="0" bIns="0" rtlCol="0" anchor="t"/>
          <a:lstStyle/>
          <a:p>
            <a:pPr indent="0" marL="0">
              <a:buNone/>
            </a:pPr>
            <a:r>
              <a:rPr lang="en-US" sz="1300" b="1" dirty="0">
                <a:solidFill>
                  <a:srgbClr val="E8694A"/>
                </a:solidFill>
                <a:latin typeface="Arial" pitchFamily="34" charset="0"/>
                <a:ea typeface="Arial" pitchFamily="34" charset="-122"/>
                <a:cs typeface="Arial" pitchFamily="34" charset="-120"/>
              </a:rPr>
              <a:t>[5]</a:t>
            </a:r>
            <a:endParaRPr lang="en-US" sz="1300" dirty="0"/>
          </a:p>
        </p:txBody>
      </p:sp>
      <p:sp>
        <p:nvSpPr>
          <p:cNvPr id="16" name="Text 12"/>
          <p:cNvSpPr txBox="1"/>
          <p:nvPr/>
        </p:nvSpPr>
        <p:spPr>
          <a:xfrm>
            <a:off x="1389888" y="1920240"/>
            <a:ext cx="2834640" cy="41148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Local Government Directory</a:t>
            </a:r>
            <a:endParaRPr lang="en-US" sz="1300" dirty="0"/>
          </a:p>
        </p:txBody>
      </p:sp>
      <p:sp>
        <p:nvSpPr>
          <p:cNvPr id="17" name="Text 13"/>
          <p:cNvSpPr txBox="1"/>
          <p:nvPr/>
        </p:nvSpPr>
        <p:spPr>
          <a:xfrm>
            <a:off x="4297680" y="1901952"/>
            <a:ext cx="5852160" cy="45720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LGD administrative codes, Ministry of Panchayati Raj. JanVaani uses LGD-style sample codes.</a:t>
            </a:r>
            <a:endParaRPr lang="en-US" sz="1000" dirty="0"/>
          </a:p>
        </p:txBody>
      </p:sp>
      <p:sp>
        <p:nvSpPr>
          <p:cNvPr id="18" name="Text 14">
            <a:hlinkClick r:id="rId2" tooltip=""/>
          </p:cNvPr>
          <p:cNvSpPr txBox="1"/>
          <p:nvPr/>
        </p:nvSpPr>
        <p:spPr>
          <a:xfrm>
            <a:off x="9509760" y="2359152"/>
            <a:ext cx="1920240" cy="164592"/>
          </a:xfrm>
          <a:prstGeom prst="rect">
            <a:avLst/>
          </a:prstGeom>
          <a:noFill/>
          <a:ln/>
        </p:spPr>
        <p:txBody>
          <a:bodyPr wrap="square" lIns="0" tIns="0" rIns="0" bIns="0" rtlCol="0" anchor="t"/>
          <a:lstStyle/>
          <a:p>
            <a:pPr algn="r" indent="0" marL="0">
              <a:buNone/>
            </a:pPr>
            <a:r>
              <a:rPr lang="en-US" sz="750" b="1" u="sng" dirty="0">
                <a:solidFill>
                  <a:srgbClr val="1565C0"/>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OPEN SOURCE ↗</a:t>
            </a:r>
            <a:endParaRPr lang="en-US" sz="750" dirty="0"/>
          </a:p>
        </p:txBody>
      </p:sp>
      <p:sp>
        <p:nvSpPr>
          <p:cNvPr id="19" name="Shape 15"/>
          <p:cNvSpPr/>
          <p:nvPr/>
        </p:nvSpPr>
        <p:spPr>
          <a:xfrm>
            <a:off x="640080" y="2816352"/>
            <a:ext cx="10972800" cy="932688"/>
          </a:xfrm>
          <a:prstGeom prst="roundRect">
            <a:avLst>
              <a:gd name="adj" fmla="val 7843"/>
            </a:avLst>
          </a:prstGeom>
          <a:solidFill>
            <a:srgbClr val="FFFDF7"/>
          </a:solidFill>
          <a:ln w="9525">
            <a:solidFill>
              <a:srgbClr val="DCD5C5"/>
            </a:solidFill>
            <a:prstDash val="solid"/>
          </a:ln>
        </p:spPr>
      </p:sp>
      <p:sp>
        <p:nvSpPr>
          <p:cNvPr id="20" name="Text 16"/>
          <p:cNvSpPr txBox="1"/>
          <p:nvPr/>
        </p:nvSpPr>
        <p:spPr>
          <a:xfrm>
            <a:off x="841248" y="3072384"/>
            <a:ext cx="502920" cy="228600"/>
          </a:xfrm>
          <a:prstGeom prst="rect">
            <a:avLst/>
          </a:prstGeom>
          <a:noFill/>
          <a:ln/>
        </p:spPr>
        <p:txBody>
          <a:bodyPr wrap="square" lIns="0" tIns="0" rIns="0" bIns="0" rtlCol="0" anchor="t"/>
          <a:lstStyle/>
          <a:p>
            <a:pPr indent="0" marL="0">
              <a:buNone/>
            </a:pPr>
            <a:r>
              <a:rPr lang="en-US" sz="1300" b="1" dirty="0">
                <a:solidFill>
                  <a:srgbClr val="12796D"/>
                </a:solidFill>
                <a:latin typeface="Arial" pitchFamily="34" charset="0"/>
                <a:ea typeface="Arial" pitchFamily="34" charset="-122"/>
                <a:cs typeface="Arial" pitchFamily="34" charset="-120"/>
              </a:rPr>
              <a:t>[6]</a:t>
            </a:r>
            <a:endParaRPr lang="en-US" sz="1300" dirty="0"/>
          </a:p>
        </p:txBody>
      </p:sp>
      <p:sp>
        <p:nvSpPr>
          <p:cNvPr id="21" name="Text 17"/>
          <p:cNvSpPr txBox="1"/>
          <p:nvPr/>
        </p:nvSpPr>
        <p:spPr>
          <a:xfrm>
            <a:off x="1389888" y="3035808"/>
            <a:ext cx="2834640" cy="41148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Aspirational Districts Programme</a:t>
            </a:r>
            <a:endParaRPr lang="en-US" sz="1300" dirty="0"/>
          </a:p>
        </p:txBody>
      </p:sp>
      <p:sp>
        <p:nvSpPr>
          <p:cNvPr id="22" name="Text 18"/>
          <p:cNvSpPr txBox="1"/>
          <p:nvPr/>
        </p:nvSpPr>
        <p:spPr>
          <a:xfrm>
            <a:off x="4297680" y="3017520"/>
            <a:ext cx="5852160" cy="45720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NITI Aayog district list; used as a vulnerability flag and for pilot selection.</a:t>
            </a:r>
            <a:endParaRPr lang="en-US" sz="1000" dirty="0"/>
          </a:p>
        </p:txBody>
      </p:sp>
      <p:sp>
        <p:nvSpPr>
          <p:cNvPr id="23" name="Text 19">
            <a:hlinkClick r:id="rId3" tooltip=""/>
          </p:cNvPr>
          <p:cNvSpPr txBox="1"/>
          <p:nvPr/>
        </p:nvSpPr>
        <p:spPr>
          <a:xfrm>
            <a:off x="9509760" y="3474720"/>
            <a:ext cx="1920240" cy="164592"/>
          </a:xfrm>
          <a:prstGeom prst="rect">
            <a:avLst/>
          </a:prstGeom>
          <a:noFill/>
          <a:ln/>
        </p:spPr>
        <p:txBody>
          <a:bodyPr wrap="square" lIns="0" tIns="0" rIns="0" bIns="0" rtlCol="0" anchor="t"/>
          <a:lstStyle/>
          <a:p>
            <a:pPr algn="r" indent="0" marL="0">
              <a:buNone/>
            </a:pPr>
            <a:r>
              <a:rPr lang="en-US" sz="750" b="1" u="sng" dirty="0">
                <a:solidFill>
                  <a:srgbClr val="1565C0"/>
                </a:solidFill>
                <a:latin typeface="Arial" pitchFamily="34" charset="0"/>
                <a:ea typeface="Arial" pitchFamily="34" charset="-122"/>
                <a:cs typeface="Arial" pitchFamily="34" charset="-120"/>
                <a:hlinkClick r:id="rId3" invalidUrl="" action="" tgtFrame="" tooltip="" history="1" highlightClick="0" endSnd="0">
                  <a:extLst>
                    <a:ext uri="{A12FA001-AC4F-418D-AE19-62706E023703}">
                      <ahyp:hlinkClr xmlns:ahyp="http://schemas.microsoft.com/office/drawing/2018/hyperlinkcolor" val="tx"/>
                    </a:ext>
                  </a:extLst>
                </a:hlinkClick>
              </a:rPr>
              <a:t>OPEN SOURCE ↗</a:t>
            </a:r>
            <a:endParaRPr lang="en-US" sz="750" dirty="0"/>
          </a:p>
        </p:txBody>
      </p:sp>
      <p:sp>
        <p:nvSpPr>
          <p:cNvPr id="24" name="Shape 20"/>
          <p:cNvSpPr/>
          <p:nvPr/>
        </p:nvSpPr>
        <p:spPr>
          <a:xfrm>
            <a:off x="640080" y="3931920"/>
            <a:ext cx="10972800" cy="932688"/>
          </a:xfrm>
          <a:prstGeom prst="roundRect">
            <a:avLst>
              <a:gd name="adj" fmla="val 7843"/>
            </a:avLst>
          </a:prstGeom>
          <a:solidFill>
            <a:srgbClr val="FFFDF7"/>
          </a:solidFill>
          <a:ln w="9525">
            <a:solidFill>
              <a:srgbClr val="DCD5C5"/>
            </a:solidFill>
            <a:prstDash val="solid"/>
          </a:ln>
        </p:spPr>
      </p:sp>
      <p:sp>
        <p:nvSpPr>
          <p:cNvPr id="25" name="Text 21"/>
          <p:cNvSpPr txBox="1"/>
          <p:nvPr/>
        </p:nvSpPr>
        <p:spPr>
          <a:xfrm>
            <a:off x="841248" y="4187952"/>
            <a:ext cx="502920" cy="228600"/>
          </a:xfrm>
          <a:prstGeom prst="rect">
            <a:avLst/>
          </a:prstGeom>
          <a:noFill/>
          <a:ln/>
        </p:spPr>
        <p:txBody>
          <a:bodyPr wrap="square" lIns="0" tIns="0" rIns="0" bIns="0" rtlCol="0" anchor="t"/>
          <a:lstStyle/>
          <a:p>
            <a:pPr indent="0" marL="0">
              <a:buNone/>
            </a:pPr>
            <a:r>
              <a:rPr lang="en-US" sz="1300" b="1" dirty="0">
                <a:solidFill>
                  <a:srgbClr val="E8694A"/>
                </a:solidFill>
                <a:latin typeface="Arial" pitchFamily="34" charset="0"/>
                <a:ea typeface="Arial" pitchFamily="34" charset="-122"/>
                <a:cs typeface="Arial" pitchFamily="34" charset="-120"/>
              </a:rPr>
              <a:t>[7]</a:t>
            </a:r>
            <a:endParaRPr lang="en-US" sz="1300" dirty="0"/>
          </a:p>
        </p:txBody>
      </p:sp>
      <p:sp>
        <p:nvSpPr>
          <p:cNvPr id="26" name="Text 22"/>
          <p:cNvSpPr txBox="1"/>
          <p:nvPr/>
        </p:nvSpPr>
        <p:spPr>
          <a:xfrm>
            <a:off x="1389888" y="4151376"/>
            <a:ext cx="2834640" cy="41148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Gemini 2.5 Flash on Vertex AI</a:t>
            </a:r>
            <a:endParaRPr lang="en-US" sz="1300" dirty="0"/>
          </a:p>
        </p:txBody>
      </p:sp>
      <p:sp>
        <p:nvSpPr>
          <p:cNvPr id="27" name="Text 23"/>
          <p:cNvSpPr txBox="1"/>
          <p:nvPr/>
        </p:nvSpPr>
        <p:spPr>
          <a:xfrm>
            <a:off x="4297680" y="4133088"/>
            <a:ext cx="5852160" cy="45720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Model documentation, Google Cloud. Used for extraction and evidence briefs.</a:t>
            </a:r>
            <a:endParaRPr lang="en-US" sz="1000" dirty="0"/>
          </a:p>
        </p:txBody>
      </p:sp>
      <p:sp>
        <p:nvSpPr>
          <p:cNvPr id="28" name="Text 24">
            <a:hlinkClick r:id="rId4" tooltip=""/>
          </p:cNvPr>
          <p:cNvSpPr txBox="1"/>
          <p:nvPr/>
        </p:nvSpPr>
        <p:spPr>
          <a:xfrm>
            <a:off x="9509760" y="4590288"/>
            <a:ext cx="1920240" cy="164592"/>
          </a:xfrm>
          <a:prstGeom prst="rect">
            <a:avLst/>
          </a:prstGeom>
          <a:noFill/>
          <a:ln/>
        </p:spPr>
        <p:txBody>
          <a:bodyPr wrap="square" lIns="0" tIns="0" rIns="0" bIns="0" rtlCol="0" anchor="t"/>
          <a:lstStyle/>
          <a:p>
            <a:pPr algn="r" indent="0" marL="0">
              <a:buNone/>
            </a:pPr>
            <a:r>
              <a:rPr lang="en-US" sz="750" b="1" u="sng" dirty="0">
                <a:solidFill>
                  <a:srgbClr val="1565C0"/>
                </a:solidFill>
                <a:latin typeface="Arial" pitchFamily="34" charset="0"/>
                <a:ea typeface="Arial" pitchFamily="34" charset="-122"/>
                <a:cs typeface="Arial" pitchFamily="34" charset="-120"/>
                <a:hlinkClick r:id="rId4" invalidUrl="" action="" tgtFrame="" tooltip="" history="1" highlightClick="0" endSnd="0">
                  <a:extLst>
                    <a:ext uri="{A12FA001-AC4F-418D-AE19-62706E023703}">
                      <ahyp:hlinkClr xmlns:ahyp="http://schemas.microsoft.com/office/drawing/2018/hyperlinkcolor" val="tx"/>
                    </a:ext>
                  </a:extLst>
                </a:hlinkClick>
              </a:rPr>
              <a:t>OPEN SOURCE ↗</a:t>
            </a:r>
            <a:endParaRPr lang="en-US" sz="750" dirty="0"/>
          </a:p>
        </p:txBody>
      </p:sp>
      <p:sp>
        <p:nvSpPr>
          <p:cNvPr id="29" name="Shape 25"/>
          <p:cNvSpPr/>
          <p:nvPr/>
        </p:nvSpPr>
        <p:spPr>
          <a:xfrm>
            <a:off x="640080" y="5047488"/>
            <a:ext cx="10972800" cy="932688"/>
          </a:xfrm>
          <a:prstGeom prst="roundRect">
            <a:avLst>
              <a:gd name="adj" fmla="val 7843"/>
            </a:avLst>
          </a:prstGeom>
          <a:solidFill>
            <a:srgbClr val="FFFDF7"/>
          </a:solidFill>
          <a:ln w="9525">
            <a:solidFill>
              <a:srgbClr val="DCD5C5"/>
            </a:solidFill>
            <a:prstDash val="solid"/>
          </a:ln>
        </p:spPr>
      </p:sp>
      <p:sp>
        <p:nvSpPr>
          <p:cNvPr id="30" name="Text 26"/>
          <p:cNvSpPr txBox="1"/>
          <p:nvPr/>
        </p:nvSpPr>
        <p:spPr>
          <a:xfrm>
            <a:off x="841248" y="5303520"/>
            <a:ext cx="502920" cy="228600"/>
          </a:xfrm>
          <a:prstGeom prst="rect">
            <a:avLst/>
          </a:prstGeom>
          <a:noFill/>
          <a:ln/>
        </p:spPr>
        <p:txBody>
          <a:bodyPr wrap="square" lIns="0" tIns="0" rIns="0" bIns="0" rtlCol="0" anchor="t"/>
          <a:lstStyle/>
          <a:p>
            <a:pPr indent="0" marL="0">
              <a:buNone/>
            </a:pPr>
            <a:r>
              <a:rPr lang="en-US" sz="1300" b="1" dirty="0">
                <a:solidFill>
                  <a:srgbClr val="12796D"/>
                </a:solidFill>
                <a:latin typeface="Arial" pitchFamily="34" charset="0"/>
                <a:ea typeface="Arial" pitchFamily="34" charset="-122"/>
                <a:cs typeface="Arial" pitchFamily="34" charset="-120"/>
              </a:rPr>
              <a:t>[8]</a:t>
            </a:r>
            <a:endParaRPr lang="en-US" sz="1300" dirty="0"/>
          </a:p>
        </p:txBody>
      </p:sp>
      <p:sp>
        <p:nvSpPr>
          <p:cNvPr id="31" name="Text 27"/>
          <p:cNvSpPr txBox="1"/>
          <p:nvPr/>
        </p:nvSpPr>
        <p:spPr>
          <a:xfrm>
            <a:off x="1389888" y="5266944"/>
            <a:ext cx="2834640" cy="411480"/>
          </a:xfrm>
          <a:prstGeom prst="rect">
            <a:avLst/>
          </a:prstGeom>
          <a:noFill/>
          <a:ln/>
        </p:spPr>
        <p:txBody>
          <a:bodyPr wrap="square" lIns="0" tIns="0" rIns="0" bIns="0" rtlCol="0" anchor="t">
            <a:normAutofit/>
          </a:bodyPr>
          <a:lstStyle/>
          <a:p>
            <a:pPr indent="0" marL="0">
              <a:buNone/>
            </a:pPr>
            <a:r>
              <a:rPr lang="en-US" sz="1300" b="1" dirty="0">
                <a:solidFill>
                  <a:srgbClr val="1B3149"/>
                </a:solidFill>
                <a:latin typeface="Arial" pitchFamily="34" charset="0"/>
                <a:ea typeface="Arial" pitchFamily="34" charset="-122"/>
                <a:cs typeface="Arial" pitchFamily="34" charset="-120"/>
              </a:rPr>
              <a:t>DPDP Act, 2023</a:t>
            </a:r>
            <a:endParaRPr lang="en-US" sz="1300" dirty="0"/>
          </a:p>
        </p:txBody>
      </p:sp>
      <p:sp>
        <p:nvSpPr>
          <p:cNvPr id="32" name="Text 28"/>
          <p:cNvSpPr txBox="1"/>
          <p:nvPr/>
        </p:nvSpPr>
        <p:spPr>
          <a:xfrm>
            <a:off x="4297680" y="5248656"/>
            <a:ext cx="5852160" cy="457200"/>
          </a:xfrm>
          <a:prstGeom prst="rect">
            <a:avLst/>
          </a:prstGeom>
          <a:noFill/>
          <a:ln/>
        </p:spPr>
        <p:txBody>
          <a:bodyPr wrap="square" lIns="0" tIns="0" rIns="0" bIns="0" rtlCol="0" anchor="t">
            <a:normAutofit/>
          </a:bodyPr>
          <a:lstStyle/>
          <a:p>
            <a:pPr indent="0" marL="0">
              <a:buNone/>
            </a:pPr>
            <a:r>
              <a:rPr lang="en-US" sz="1000" dirty="0">
                <a:solidFill>
                  <a:srgbClr val="1B3149"/>
                </a:solidFill>
                <a:latin typeface="Arial" pitchFamily="34" charset="0"/>
                <a:ea typeface="Arial" pitchFamily="34" charset="-122"/>
                <a:cs typeface="Arial" pitchFamily="34" charset="-120"/>
              </a:rPr>
              <a:t>Digital Personal Data Protection framework, Ministry of Electronics and IT.</a:t>
            </a:r>
            <a:endParaRPr lang="en-US" sz="1000" dirty="0"/>
          </a:p>
        </p:txBody>
      </p:sp>
      <p:sp>
        <p:nvSpPr>
          <p:cNvPr id="33" name="Text 29">
            <a:hlinkClick r:id="rId5" tooltip=""/>
          </p:cNvPr>
          <p:cNvSpPr txBox="1"/>
          <p:nvPr/>
        </p:nvSpPr>
        <p:spPr>
          <a:xfrm>
            <a:off x="9509760" y="5705856"/>
            <a:ext cx="1920240" cy="164592"/>
          </a:xfrm>
          <a:prstGeom prst="rect">
            <a:avLst/>
          </a:prstGeom>
          <a:noFill/>
          <a:ln/>
        </p:spPr>
        <p:txBody>
          <a:bodyPr wrap="square" lIns="0" tIns="0" rIns="0" bIns="0" rtlCol="0" anchor="t"/>
          <a:lstStyle/>
          <a:p>
            <a:pPr algn="r" indent="0" marL="0">
              <a:buNone/>
            </a:pPr>
            <a:r>
              <a:rPr lang="en-US" sz="750" b="1" u="sng" dirty="0">
                <a:solidFill>
                  <a:srgbClr val="1565C0"/>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OPEN SOURCE ↗</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Spontom Enterprise Private Limited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JanVaani: Build with AI (Google) • Track 1</dc:title>
  <dc:subject>PptxGenJS Presentation</dc:subject>
  <dc:creator>Spontom Enterprise Private Limited</dc:creator>
  <cp:lastModifiedBy>Spontom Enterprise Private Limited</cp:lastModifiedBy>
  <cp:revision>1</cp:revision>
  <dcterms:created xsi:type="dcterms:W3CDTF">2026-09-30T18:04:45Z</dcterms:created>
  <dcterms:modified xsi:type="dcterms:W3CDTF">2026-09-30T18:04:45Z</dcterms:modified>
</cp:coreProperties>
</file>